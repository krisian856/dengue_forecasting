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57" r:id="rId3"/>
    <p:sldId id="290" r:id="rId4"/>
    <p:sldId id="291" r:id="rId5"/>
    <p:sldId id="292" r:id="rId6"/>
    <p:sldId id="293" r:id="rId7"/>
    <p:sldId id="287" r:id="rId8"/>
    <p:sldId id="286" r:id="rId9"/>
    <p:sldId id="259" r:id="rId10"/>
    <p:sldId id="294" r:id="rId11"/>
    <p:sldId id="295" r:id="rId12"/>
    <p:sldId id="298" r:id="rId13"/>
    <p:sldId id="261" r:id="rId14"/>
    <p:sldId id="268" r:id="rId15"/>
    <p:sldId id="284" r:id="rId16"/>
    <p:sldId id="283" r:id="rId17"/>
    <p:sldId id="285" r:id="rId18"/>
    <p:sldId id="262" r:id="rId19"/>
    <p:sldId id="265" r:id="rId20"/>
    <p:sldId id="280" r:id="rId21"/>
    <p:sldId id="299" r:id="rId22"/>
    <p:sldId id="300" r:id="rId23"/>
    <p:sldId id="301" r:id="rId24"/>
    <p:sldId id="302" r:id="rId25"/>
    <p:sldId id="303" r:id="rId26"/>
    <p:sldId id="304" r:id="rId27"/>
    <p:sldId id="305" r:id="rId28"/>
    <p:sldId id="306" r:id="rId29"/>
    <p:sldId id="307" r:id="rId30"/>
    <p:sldId id="308" r:id="rId31"/>
    <p:sldId id="281" r:id="rId32"/>
    <p:sldId id="297" r:id="rId33"/>
    <p:sldId id="271" r:id="rId34"/>
    <p:sldId id="27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7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844" autoAdjust="0"/>
    <p:restoredTop sz="94660"/>
  </p:normalViewPr>
  <p:slideViewPr>
    <p:cSldViewPr snapToGrid="0" showGuides="1">
      <p:cViewPr varScale="1">
        <p:scale>
          <a:sx n="108" d="100"/>
          <a:sy n="108" d="100"/>
        </p:scale>
        <p:origin x="118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n Sulite" userId="24b8c4a758934524" providerId="LiveId" clId="{0606C8F9-E4B4-457E-BB0A-7A7919C014A0}"/>
    <pc:docChg chg="undo custSel addSld modSld">
      <pc:chgData name="Gen Sulite" userId="24b8c4a758934524" providerId="LiveId" clId="{0606C8F9-E4B4-457E-BB0A-7A7919C014A0}" dt="2026-10-06T09:06:52.282" v="81" actId="1076"/>
      <pc:docMkLst>
        <pc:docMk/>
      </pc:docMkLst>
      <pc:sldChg chg="addSp delSp modSp mod">
        <pc:chgData name="Gen Sulite" userId="24b8c4a758934524" providerId="LiveId" clId="{0606C8F9-E4B4-457E-BB0A-7A7919C014A0}" dt="2026-10-06T09:04:41.328" v="52" actId="1076"/>
        <pc:sldMkLst>
          <pc:docMk/>
          <pc:sldMk cId="924438999" sldId="264"/>
        </pc:sldMkLst>
        <pc:spChg chg="add del mod">
          <ac:chgData name="Gen Sulite" userId="24b8c4a758934524" providerId="LiveId" clId="{0606C8F9-E4B4-457E-BB0A-7A7919C014A0}" dt="2026-10-06T09:04:36.162" v="50" actId="478"/>
          <ac:spMkLst>
            <pc:docMk/>
            <pc:sldMk cId="924438999" sldId="264"/>
            <ac:spMk id="7" creationId="{258CE082-2326-492A-9CE3-03AD937E3704}"/>
          </ac:spMkLst>
        </pc:spChg>
        <pc:spChg chg="add del mod">
          <ac:chgData name="Gen Sulite" userId="24b8c4a758934524" providerId="LiveId" clId="{0606C8F9-E4B4-457E-BB0A-7A7919C014A0}" dt="2026-10-06T09:02:00.356" v="1"/>
          <ac:spMkLst>
            <pc:docMk/>
            <pc:sldMk cId="924438999" sldId="264"/>
            <ac:spMk id="8" creationId="{5E26B5B2-8458-4CF0-A384-913464B0C9B6}"/>
          </ac:spMkLst>
        </pc:spChg>
        <pc:spChg chg="add del mod">
          <ac:chgData name="Gen Sulite" userId="24b8c4a758934524" providerId="LiveId" clId="{0606C8F9-E4B4-457E-BB0A-7A7919C014A0}" dt="2026-10-06T09:02:39.119" v="7"/>
          <ac:spMkLst>
            <pc:docMk/>
            <pc:sldMk cId="924438999" sldId="264"/>
            <ac:spMk id="9" creationId="{2BB33095-A9C1-4AD9-B338-C2829602762E}"/>
          </ac:spMkLst>
        </pc:spChg>
        <pc:spChg chg="add del mod">
          <ac:chgData name="Gen Sulite" userId="24b8c4a758934524" providerId="LiveId" clId="{0606C8F9-E4B4-457E-BB0A-7A7919C014A0}" dt="2026-10-06T09:04:32.184" v="49" actId="478"/>
          <ac:spMkLst>
            <pc:docMk/>
            <pc:sldMk cId="924438999" sldId="264"/>
            <ac:spMk id="10" creationId="{2D5C8761-74FE-4D99-B3FE-B6A6489F987F}"/>
          </ac:spMkLst>
        </pc:spChg>
        <pc:spChg chg="add mod">
          <ac:chgData name="Gen Sulite" userId="24b8c4a758934524" providerId="LiveId" clId="{0606C8F9-E4B4-457E-BB0A-7A7919C014A0}" dt="2026-10-06T09:04:41.328" v="52" actId="1076"/>
          <ac:spMkLst>
            <pc:docMk/>
            <pc:sldMk cId="924438999" sldId="264"/>
            <ac:spMk id="11" creationId="{3909A970-5FB0-4CDB-94DB-6D93CB90FDAB}"/>
          </ac:spMkLst>
        </pc:spChg>
      </pc:sldChg>
      <pc:sldChg chg="addSp delSp modSp mod">
        <pc:chgData name="Gen Sulite" userId="24b8c4a758934524" providerId="LiveId" clId="{0606C8F9-E4B4-457E-BB0A-7A7919C014A0}" dt="2026-10-06T09:05:02.775" v="58" actId="1076"/>
        <pc:sldMkLst>
          <pc:docMk/>
          <pc:sldMk cId="1897307297" sldId="265"/>
        </pc:sldMkLst>
        <pc:spChg chg="del">
          <ac:chgData name="Gen Sulite" userId="24b8c4a758934524" providerId="LiveId" clId="{0606C8F9-E4B4-457E-BB0A-7A7919C014A0}" dt="2026-10-06T09:04:51.681" v="53" actId="478"/>
          <ac:spMkLst>
            <pc:docMk/>
            <pc:sldMk cId="1897307297" sldId="265"/>
            <ac:spMk id="4" creationId="{87A5254A-BB4E-4C48-A30C-29BA1668C761}"/>
          </ac:spMkLst>
        </pc:spChg>
        <pc:spChg chg="add mod">
          <ac:chgData name="Gen Sulite" userId="24b8c4a758934524" providerId="LiveId" clId="{0606C8F9-E4B4-457E-BB0A-7A7919C014A0}" dt="2026-10-06T09:05:02.775" v="58" actId="1076"/>
          <ac:spMkLst>
            <pc:docMk/>
            <pc:sldMk cId="1897307297" sldId="265"/>
            <ac:spMk id="6" creationId="{AB85FCC7-BCFB-4C6D-8368-320A17B27B6F}"/>
          </ac:spMkLst>
        </pc:spChg>
      </pc:sldChg>
      <pc:sldChg chg="addSp delSp modSp mod">
        <pc:chgData name="Gen Sulite" userId="24b8c4a758934524" providerId="LiveId" clId="{0606C8F9-E4B4-457E-BB0A-7A7919C014A0}" dt="2026-10-06T09:05:25.279" v="62" actId="1076"/>
        <pc:sldMkLst>
          <pc:docMk/>
          <pc:sldMk cId="2690262696" sldId="266"/>
        </pc:sldMkLst>
        <pc:spChg chg="del">
          <ac:chgData name="Gen Sulite" userId="24b8c4a758934524" providerId="LiveId" clId="{0606C8F9-E4B4-457E-BB0A-7A7919C014A0}" dt="2026-10-06T09:05:17.715" v="59" actId="478"/>
          <ac:spMkLst>
            <pc:docMk/>
            <pc:sldMk cId="2690262696" sldId="266"/>
            <ac:spMk id="6" creationId="{0F4F383D-4393-4819-BA8D-9C712A28CF8D}"/>
          </ac:spMkLst>
        </pc:spChg>
        <pc:spChg chg="add mod">
          <ac:chgData name="Gen Sulite" userId="24b8c4a758934524" providerId="LiveId" clId="{0606C8F9-E4B4-457E-BB0A-7A7919C014A0}" dt="2026-10-06T09:05:25.279" v="62" actId="1076"/>
          <ac:spMkLst>
            <pc:docMk/>
            <pc:sldMk cId="2690262696" sldId="266"/>
            <ac:spMk id="7" creationId="{F27BB519-FE26-4A2C-A511-FE93E076565D}"/>
          </ac:spMkLst>
        </pc:spChg>
      </pc:sldChg>
      <pc:sldChg chg="addSp delSp modSp mod">
        <pc:chgData name="Gen Sulite" userId="24b8c4a758934524" providerId="LiveId" clId="{0606C8F9-E4B4-457E-BB0A-7A7919C014A0}" dt="2026-10-06T09:05:42.815" v="66" actId="14100"/>
        <pc:sldMkLst>
          <pc:docMk/>
          <pc:sldMk cId="1342007531" sldId="267"/>
        </pc:sldMkLst>
        <pc:spChg chg="del">
          <ac:chgData name="Gen Sulite" userId="24b8c4a758934524" providerId="LiveId" clId="{0606C8F9-E4B4-457E-BB0A-7A7919C014A0}" dt="2026-10-06T09:05:36.786" v="63" actId="478"/>
          <ac:spMkLst>
            <pc:docMk/>
            <pc:sldMk cId="1342007531" sldId="267"/>
            <ac:spMk id="4" creationId="{5F6A0982-93C1-495F-91EB-6E0E3FD58808}"/>
          </ac:spMkLst>
        </pc:spChg>
        <pc:spChg chg="add mod">
          <ac:chgData name="Gen Sulite" userId="24b8c4a758934524" providerId="LiveId" clId="{0606C8F9-E4B4-457E-BB0A-7A7919C014A0}" dt="2026-10-06T09:05:42.815" v="66" actId="14100"/>
          <ac:spMkLst>
            <pc:docMk/>
            <pc:sldMk cId="1342007531" sldId="267"/>
            <ac:spMk id="7" creationId="{742FBD23-E0C3-4925-8B27-E859E9F09073}"/>
          </ac:spMkLst>
        </pc:spChg>
      </pc:sldChg>
      <pc:sldChg chg="addSp delSp modSp mod">
        <pc:chgData name="Gen Sulite" userId="24b8c4a758934524" providerId="LiveId" clId="{0606C8F9-E4B4-457E-BB0A-7A7919C014A0}" dt="2026-10-06T09:06:10.528" v="71" actId="14100"/>
        <pc:sldMkLst>
          <pc:docMk/>
          <pc:sldMk cId="1488586673" sldId="268"/>
        </pc:sldMkLst>
        <pc:spChg chg="del">
          <ac:chgData name="Gen Sulite" userId="24b8c4a758934524" providerId="LiveId" clId="{0606C8F9-E4B4-457E-BB0A-7A7919C014A0}" dt="2026-10-06T09:06:02.063" v="67" actId="478"/>
          <ac:spMkLst>
            <pc:docMk/>
            <pc:sldMk cId="1488586673" sldId="268"/>
            <ac:spMk id="6" creationId="{60952B3A-408A-47B7-B4C9-196F0BD8C6B1}"/>
          </ac:spMkLst>
        </pc:spChg>
        <pc:spChg chg="add mod">
          <ac:chgData name="Gen Sulite" userId="24b8c4a758934524" providerId="LiveId" clId="{0606C8F9-E4B4-457E-BB0A-7A7919C014A0}" dt="2026-10-06T09:06:10.528" v="71" actId="14100"/>
          <ac:spMkLst>
            <pc:docMk/>
            <pc:sldMk cId="1488586673" sldId="268"/>
            <ac:spMk id="7" creationId="{D3AE48FC-3347-45E8-9528-43B7467844C1}"/>
          </ac:spMkLst>
        </pc:spChg>
      </pc:sldChg>
      <pc:sldChg chg="addSp delSp modSp mod">
        <pc:chgData name="Gen Sulite" userId="24b8c4a758934524" providerId="LiveId" clId="{0606C8F9-E4B4-457E-BB0A-7A7919C014A0}" dt="2026-10-06T09:06:33.559" v="77" actId="1076"/>
        <pc:sldMkLst>
          <pc:docMk/>
          <pc:sldMk cId="2350859337" sldId="269"/>
        </pc:sldMkLst>
        <pc:spChg chg="del">
          <ac:chgData name="Gen Sulite" userId="24b8c4a758934524" providerId="LiveId" clId="{0606C8F9-E4B4-457E-BB0A-7A7919C014A0}" dt="2026-10-06T09:06:20.288" v="72" actId="478"/>
          <ac:spMkLst>
            <pc:docMk/>
            <pc:sldMk cId="2350859337" sldId="269"/>
            <ac:spMk id="4" creationId="{F569C705-3F74-44B9-AD74-F2816F5EE8B8}"/>
          </ac:spMkLst>
        </pc:spChg>
        <pc:spChg chg="add mod">
          <ac:chgData name="Gen Sulite" userId="24b8c4a758934524" providerId="LiveId" clId="{0606C8F9-E4B4-457E-BB0A-7A7919C014A0}" dt="2026-10-06T09:06:33.559" v="77" actId="1076"/>
          <ac:spMkLst>
            <pc:docMk/>
            <pc:sldMk cId="2350859337" sldId="269"/>
            <ac:spMk id="7" creationId="{BF4BAF3D-9DE7-42A4-B4F1-F36E4936911F}"/>
          </ac:spMkLst>
        </pc:spChg>
      </pc:sldChg>
      <pc:sldChg chg="addSp delSp modSp add mod">
        <pc:chgData name="Gen Sulite" userId="24b8c4a758934524" providerId="LiveId" clId="{0606C8F9-E4B4-457E-BB0A-7A7919C014A0}" dt="2026-10-06T09:06:52.282" v="81" actId="1076"/>
        <pc:sldMkLst>
          <pc:docMk/>
          <pc:sldMk cId="4127950044" sldId="273"/>
        </pc:sldMkLst>
        <pc:spChg chg="add mod">
          <ac:chgData name="Gen Sulite" userId="24b8c4a758934524" providerId="LiveId" clId="{0606C8F9-E4B4-457E-BB0A-7A7919C014A0}" dt="2026-10-06T09:06:52.282" v="81" actId="1076"/>
          <ac:spMkLst>
            <pc:docMk/>
            <pc:sldMk cId="4127950044" sldId="273"/>
            <ac:spMk id="4" creationId="{1A142B5A-9A7C-4935-8DA1-4ED8BAAF35D6}"/>
          </ac:spMkLst>
        </pc:spChg>
        <pc:spChg chg="del">
          <ac:chgData name="Gen Sulite" userId="24b8c4a758934524" providerId="LiveId" clId="{0606C8F9-E4B4-457E-BB0A-7A7919C014A0}" dt="2026-10-06T09:06:48.498" v="79" actId="478"/>
          <ac:spMkLst>
            <pc:docMk/>
            <pc:sldMk cId="4127950044" sldId="273"/>
            <ac:spMk id="7" creationId="{BF4BAF3D-9DE7-42A4-B4F1-F36E4936911F}"/>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MAE (cases/week)</c:v>
                </c:pt>
              </c:strCache>
            </c:strRef>
          </c:tx>
          <c:invertIfNegative val="1"/>
          <c:dPt>
            <c:idx val="0"/>
            <c:invertIfNegative val="1"/>
            <c:bubble3D val="0"/>
            <c:spPr>
              <a:solidFill>
                <a:srgbClr val="FFC000"/>
              </a:solidFill>
            </c:spPr>
            <c:extLst>
              <c:ext xmlns:c16="http://schemas.microsoft.com/office/drawing/2014/chart" uri="{C3380CC4-5D6E-409C-BE32-E72D297353CC}">
                <c16:uniqueId val="{00000001-B7B3-483D-A867-C5270DCBD641}"/>
              </c:ext>
            </c:extLst>
          </c:dPt>
          <c:dPt>
            <c:idx val="1"/>
            <c:invertIfNegative val="1"/>
            <c:bubble3D val="0"/>
            <c:spPr>
              <a:solidFill>
                <a:srgbClr val="2F5597"/>
              </a:solidFill>
            </c:spPr>
            <c:extLst>
              <c:ext xmlns:c16="http://schemas.microsoft.com/office/drawing/2014/chart" uri="{C3380CC4-5D6E-409C-BE32-E72D297353CC}">
                <c16:uniqueId val="{00000003-B7B3-483D-A867-C5270DCBD641}"/>
              </c:ext>
            </c:extLst>
          </c:dPt>
          <c:dPt>
            <c:idx val="2"/>
            <c:invertIfNegative val="1"/>
            <c:bubble3D val="0"/>
            <c:spPr>
              <a:solidFill>
                <a:srgbClr val="2E7D32"/>
              </a:solidFill>
            </c:spPr>
            <c:extLst>
              <c:ext xmlns:c16="http://schemas.microsoft.com/office/drawing/2014/chart" uri="{C3380CC4-5D6E-409C-BE32-E72D297353CC}">
                <c16:uniqueId val="{00000005-B7B3-483D-A867-C5270DCBD641}"/>
              </c:ext>
            </c:extLst>
          </c:dPt>
          <c:dLbls>
            <c:numFmt formatCode="0.00" sourceLinked="0"/>
            <c:spPr>
              <a:noFill/>
              <a:ln>
                <a:noFill/>
              </a:ln>
              <a:effectLst/>
            </c:spPr>
            <c:txPr>
              <a:bodyPr/>
              <a:lstStyle/>
              <a:p>
                <a:pPr>
                  <a:defRPr sz="1100">
                    <a:solidFill>
                      <a:srgbClr val="1A1A1A"/>
                    </a:solidFill>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Persistence</c:v>
                </c:pt>
                <c:pt idx="1">
                  <c:v>Case-only XGB</c:v>
                </c:pt>
                <c:pt idx="2">
                  <c:v>Full XGB</c:v>
                </c:pt>
              </c:strCache>
            </c:strRef>
          </c:cat>
          <c:val>
            <c:numRef>
              <c:f>Sheet1!$B$2:$B$4</c:f>
              <c:numCache>
                <c:formatCode>0.00</c:formatCode>
                <c:ptCount val="3"/>
                <c:pt idx="0">
                  <c:v>6.01</c:v>
                </c:pt>
                <c:pt idx="1">
                  <c:v>6</c:v>
                </c:pt>
                <c:pt idx="2">
                  <c:v>5.94</c:v>
                </c:pt>
              </c:numCache>
            </c:numRef>
          </c:val>
          <c:extLst>
            <c:ext xmlns:c16="http://schemas.microsoft.com/office/drawing/2014/chart" uri="{C3380CC4-5D6E-409C-BE32-E72D297353CC}">
              <c16:uniqueId val="{00000006-B7B3-483D-A867-C5270DCBD641}"/>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999999"/>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8"/>
          <c:min val="0"/>
        </c:scaling>
        <c:delete val="0"/>
        <c:axPos val="l"/>
        <c:majorGridlines>
          <c:spPr>
            <a:ln w="6350">
              <a:solidFill>
                <a:srgbClr val="D9D0BC"/>
              </a:solidFill>
            </a:ln>
          </c:spPr>
        </c:majorGridlines>
        <c:title>
          <c:tx>
            <c:rich>
              <a:bodyPr/>
              <a:lstStyle/>
              <a:p>
                <a:r>
                  <a:rPr lang="en-SG" sz="1100" b="0" i="0">
                    <a:solidFill>
                      <a:srgbClr val="4A4A4A"/>
                    </a:solidFill>
                    <a:latin typeface="Times New Roman"/>
                  </a:rPr>
                  <a:t>MAE (cases/week)</a:t>
                </a:r>
              </a:p>
            </c:rich>
          </c:tx>
          <c:overlay val="0"/>
        </c:title>
        <c:numFmt formatCode="0" sourceLinked="0"/>
        <c:majorTickMark val="out"/>
        <c:minorTickMark val="none"/>
        <c:tickLblPos val="nextTo"/>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solidFill>
            <a:srgbClr val="1A1A1A"/>
          </a:solidFill>
          <a:latin typeface="Times New Roman"/>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Case-only XGB</c:v>
                </c:pt>
              </c:strCache>
            </c:strRef>
          </c:tx>
          <c:spPr>
            <a:solidFill>
              <a:srgbClr val="2F5597"/>
            </a:solidFill>
          </c:spPr>
          <c:invertIfNegative val="1"/>
          <c:dLbls>
            <c:numFmt formatCode="0.00" sourceLinked="0"/>
            <c:spPr>
              <a:noFill/>
              <a:ln>
                <a:noFill/>
              </a:ln>
              <a:effectLst/>
            </c:spPr>
            <c:txPr>
              <a:bodyPr/>
              <a:lstStyle/>
              <a:p>
                <a:pPr>
                  <a:defRPr sz="1100">
                    <a:solidFill>
                      <a:srgbClr val="1A1A1A"/>
                    </a:solidFill>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MAE</c:v>
                </c:pt>
                <c:pt idx="1">
                  <c:v>RMSE</c:v>
                </c:pt>
              </c:strCache>
            </c:strRef>
          </c:cat>
          <c:val>
            <c:numRef>
              <c:f>Sheet1!$B$2:$B$3</c:f>
              <c:numCache>
                <c:formatCode>0.00</c:formatCode>
                <c:ptCount val="2"/>
                <c:pt idx="0">
                  <c:v>5.87</c:v>
                </c:pt>
                <c:pt idx="1">
                  <c:v>8.9700000000000006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397-441C-A4EB-094AD0FC4E38}"/>
            </c:ext>
          </c:extLst>
        </c:ser>
        <c:ser>
          <c:idx val="1"/>
          <c:order val="1"/>
          <c:tx>
            <c:strRef>
              <c:f>Sheet1!$C$1</c:f>
              <c:strCache>
                <c:ptCount val="1"/>
                <c:pt idx="0">
                  <c:v>Full XGB</c:v>
                </c:pt>
              </c:strCache>
            </c:strRef>
          </c:tx>
          <c:spPr>
            <a:solidFill>
              <a:srgbClr val="2E7D32"/>
            </a:solidFill>
          </c:spPr>
          <c:invertIfNegative val="1"/>
          <c:dLbls>
            <c:numFmt formatCode="0.00" sourceLinked="0"/>
            <c:spPr>
              <a:noFill/>
              <a:ln>
                <a:noFill/>
              </a:ln>
              <a:effectLst/>
            </c:spPr>
            <c:txPr>
              <a:bodyPr/>
              <a:lstStyle/>
              <a:p>
                <a:pPr>
                  <a:defRPr sz="1100">
                    <a:solidFill>
                      <a:srgbClr val="1A1A1A"/>
                    </a:solidFill>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MAE</c:v>
                </c:pt>
                <c:pt idx="1">
                  <c:v>RMSE</c:v>
                </c:pt>
              </c:strCache>
            </c:strRef>
          </c:cat>
          <c:val>
            <c:numRef>
              <c:f>Sheet1!$C$2:$C$3</c:f>
              <c:numCache>
                <c:formatCode>0.00</c:formatCode>
                <c:ptCount val="2"/>
                <c:pt idx="0">
                  <c:v>5.81</c:v>
                </c:pt>
                <c:pt idx="1">
                  <c:v>8.9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397-441C-A4EB-094AD0FC4E38}"/>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999999"/>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11"/>
          <c:min val="0"/>
        </c:scaling>
        <c:delete val="0"/>
        <c:axPos val="l"/>
        <c:majorGridlines>
          <c:spPr>
            <a:ln w="6350">
              <a:solidFill>
                <a:srgbClr val="D9D0BC"/>
              </a:solidFill>
            </a:ln>
          </c:spPr>
        </c:majorGridlines>
        <c:title>
          <c:tx>
            <c:rich>
              <a:bodyPr/>
              <a:lstStyle/>
              <a:p>
                <a:r>
                  <a:rPr lang="en-SG" sz="1100" b="0" i="0">
                    <a:solidFill>
                      <a:srgbClr val="4A4A4A"/>
                    </a:solidFill>
                    <a:latin typeface="Times New Roman"/>
                  </a:rPr>
                  <a:t>Cases/week</a:t>
                </a:r>
              </a:p>
            </c:rich>
          </c:tx>
          <c:overlay val="0"/>
        </c:title>
        <c:numFmt formatCode="0" sourceLinked="0"/>
        <c:majorTickMark val="out"/>
        <c:minorTickMark val="none"/>
        <c:tickLblPos val="nextTo"/>
        <c:spPr>
          <a:ln>
            <a:no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solidFill>
            <a:srgbClr val="1A1A1A"/>
          </a:solidFill>
          <a:latin typeface="Times New Roman"/>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Persistence</c:v>
                </c:pt>
              </c:strCache>
            </c:strRef>
          </c:tx>
          <c:spPr>
            <a:solidFill>
              <a:srgbClr val="FFC000"/>
            </a:solidFill>
          </c:spPr>
          <c:invertIfNegative val="1"/>
          <c:dLbls>
            <c:numFmt formatCode="0.00" sourceLinked="0"/>
            <c:spPr>
              <a:noFill/>
              <a:ln>
                <a:noFill/>
              </a:ln>
              <a:effectLst/>
            </c:spPr>
            <c:txPr>
              <a:bodyPr/>
              <a:lstStyle/>
              <a:p>
                <a:pPr>
                  <a:defRPr sz="1100">
                    <a:solidFill>
                      <a:srgbClr val="1A1A1A"/>
                    </a:solidFill>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Cagayan de Oro</c:v>
                </c:pt>
                <c:pt idx="1">
                  <c:v>Davao</c:v>
                </c:pt>
                <c:pt idx="2">
                  <c:v>Zamboanga</c:v>
                </c:pt>
              </c:strCache>
            </c:strRef>
          </c:cat>
          <c:val>
            <c:numRef>
              <c:f>Sheet1!$B$2:$B$4</c:f>
              <c:numCache>
                <c:formatCode>0.00</c:formatCode>
                <c:ptCount val="3"/>
                <c:pt idx="0">
                  <c:v>6.52</c:v>
                </c:pt>
                <c:pt idx="1">
                  <c:v>7.85</c:v>
                </c:pt>
                <c:pt idx="2">
                  <c:v>3.65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DE2-496F-A8DD-E8DA73F36FC1}"/>
            </c:ext>
          </c:extLst>
        </c:ser>
        <c:ser>
          <c:idx val="1"/>
          <c:order val="1"/>
          <c:tx>
            <c:strRef>
              <c:f>Sheet1!$C$1</c:f>
              <c:strCache>
                <c:ptCount val="1"/>
                <c:pt idx="0">
                  <c:v>Case-only XGB</c:v>
                </c:pt>
              </c:strCache>
            </c:strRef>
          </c:tx>
          <c:spPr>
            <a:solidFill>
              <a:srgbClr val="2F5597"/>
            </a:solidFill>
          </c:spPr>
          <c:invertIfNegative val="1"/>
          <c:dLbls>
            <c:numFmt formatCode="0.00" sourceLinked="0"/>
            <c:spPr>
              <a:noFill/>
              <a:ln>
                <a:noFill/>
              </a:ln>
              <a:effectLst/>
            </c:spPr>
            <c:txPr>
              <a:bodyPr/>
              <a:lstStyle/>
              <a:p>
                <a:pPr>
                  <a:defRPr sz="1100">
                    <a:solidFill>
                      <a:srgbClr val="1A1A1A"/>
                    </a:solidFill>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Cagayan de Oro</c:v>
                </c:pt>
                <c:pt idx="1">
                  <c:v>Davao</c:v>
                </c:pt>
                <c:pt idx="2">
                  <c:v>Zamboanga</c:v>
                </c:pt>
              </c:strCache>
            </c:strRef>
          </c:cat>
          <c:val>
            <c:numRef>
              <c:f>Sheet1!$C$2:$C$4</c:f>
              <c:numCache>
                <c:formatCode>0.00</c:formatCode>
                <c:ptCount val="3"/>
                <c:pt idx="0">
                  <c:v>6.42</c:v>
                </c:pt>
                <c:pt idx="1">
                  <c:v>7.51</c:v>
                </c:pt>
                <c:pt idx="2">
                  <c:v>3.68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DE2-496F-A8DD-E8DA73F36FC1}"/>
            </c:ext>
          </c:extLst>
        </c:ser>
        <c:ser>
          <c:idx val="2"/>
          <c:order val="2"/>
          <c:tx>
            <c:strRef>
              <c:f>Sheet1!$D$1</c:f>
              <c:strCache>
                <c:ptCount val="1"/>
                <c:pt idx="0">
                  <c:v>Full XGB</c:v>
                </c:pt>
              </c:strCache>
            </c:strRef>
          </c:tx>
          <c:spPr>
            <a:solidFill>
              <a:srgbClr val="2E7D32"/>
            </a:solidFill>
          </c:spPr>
          <c:invertIfNegative val="1"/>
          <c:dLbls>
            <c:numFmt formatCode="0.00" sourceLinked="0"/>
            <c:spPr>
              <a:noFill/>
              <a:ln>
                <a:noFill/>
              </a:ln>
              <a:effectLst/>
            </c:spPr>
            <c:txPr>
              <a:bodyPr/>
              <a:lstStyle/>
              <a:p>
                <a:pPr>
                  <a:defRPr sz="1100">
                    <a:solidFill>
                      <a:srgbClr val="1A1A1A"/>
                    </a:solidFill>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Cagayan de Oro</c:v>
                </c:pt>
                <c:pt idx="1">
                  <c:v>Davao</c:v>
                </c:pt>
                <c:pt idx="2">
                  <c:v>Zamboanga</c:v>
                </c:pt>
              </c:strCache>
            </c:strRef>
          </c:cat>
          <c:val>
            <c:numRef>
              <c:f>Sheet1!$D$2:$D$4</c:f>
              <c:numCache>
                <c:formatCode>0.00</c:formatCode>
                <c:ptCount val="3"/>
                <c:pt idx="0">
                  <c:v>6.29</c:v>
                </c:pt>
                <c:pt idx="1">
                  <c:v>7.39</c:v>
                </c:pt>
                <c:pt idx="2">
                  <c:v>3.76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FDE2-496F-A8DD-E8DA73F36FC1}"/>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999999"/>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10"/>
          <c:min val="0"/>
        </c:scaling>
        <c:delete val="0"/>
        <c:axPos val="l"/>
        <c:majorGridlines>
          <c:spPr>
            <a:ln w="6350">
              <a:solidFill>
                <a:srgbClr val="D9D0BC"/>
              </a:solidFill>
            </a:ln>
          </c:spPr>
        </c:majorGridlines>
        <c:title>
          <c:tx>
            <c:rich>
              <a:bodyPr/>
              <a:lstStyle/>
              <a:p>
                <a:r>
                  <a:rPr lang="en-SG" sz="1100" b="0" i="0">
                    <a:solidFill>
                      <a:srgbClr val="4A4A4A"/>
                    </a:solidFill>
                    <a:latin typeface="Times New Roman"/>
                  </a:rPr>
                  <a:t>MAE (cases/week)</a:t>
                </a:r>
              </a:p>
            </c:rich>
          </c:tx>
          <c:overlay val="0"/>
        </c:title>
        <c:numFmt formatCode="0" sourceLinked="0"/>
        <c:majorTickMark val="out"/>
        <c:minorTickMark val="none"/>
        <c:tickLblPos val="nextTo"/>
        <c:spPr>
          <a:ln>
            <a:no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solidFill>
            <a:srgbClr val="1A1A1A"/>
          </a:solidFill>
          <a:latin typeface="Times New Roman"/>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09198-B806-4361-88EC-C5E8368048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BBE59E-401B-4012-8233-EC3012B27E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A2E6B9-10FE-48C1-86D2-FF5191B6EB37}"/>
              </a:ext>
            </a:extLst>
          </p:cNvPr>
          <p:cNvSpPr>
            <a:spLocks noGrp="1"/>
          </p:cNvSpPr>
          <p:nvPr>
            <p:ph type="dt" sz="half" idx="10"/>
          </p:nvPr>
        </p:nvSpPr>
        <p:spPr/>
        <p:txBody>
          <a:bodyPr/>
          <a:lstStyle/>
          <a:p>
            <a:fld id="{CF6C70BF-2AB1-4BF4-A50A-9A2F9142FE2D}" type="datetimeFigureOut">
              <a:rPr lang="en-US" smtClean="0"/>
              <a:t>10/13/2026</a:t>
            </a:fld>
            <a:endParaRPr lang="en-US"/>
          </a:p>
        </p:txBody>
      </p:sp>
      <p:sp>
        <p:nvSpPr>
          <p:cNvPr id="5" name="Footer Placeholder 4">
            <a:extLst>
              <a:ext uri="{FF2B5EF4-FFF2-40B4-BE49-F238E27FC236}">
                <a16:creationId xmlns:a16="http://schemas.microsoft.com/office/drawing/2014/main" id="{F7AB006A-2A9D-42A0-AC73-2F3E86F14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C56649-B02E-4603-A48D-88F56CE16A53}"/>
              </a:ext>
            </a:extLst>
          </p:cNvPr>
          <p:cNvSpPr>
            <a:spLocks noGrp="1"/>
          </p:cNvSpPr>
          <p:nvPr>
            <p:ph type="sldNum" sz="quarter" idx="12"/>
          </p:nvPr>
        </p:nvSpPr>
        <p:spPr/>
        <p:txBody>
          <a:bodyPr/>
          <a:lstStyle/>
          <a:p>
            <a:fld id="{DB916CAA-54BB-4CBD-8406-65EBC8476606}" type="slidenum">
              <a:rPr lang="en-US" smtClean="0"/>
              <a:t>‹#›</a:t>
            </a:fld>
            <a:endParaRPr lang="en-US"/>
          </a:p>
        </p:txBody>
      </p:sp>
    </p:spTree>
    <p:extLst>
      <p:ext uri="{BB962C8B-B14F-4D97-AF65-F5344CB8AC3E}">
        <p14:creationId xmlns:p14="http://schemas.microsoft.com/office/powerpoint/2010/main" val="2921944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CC33C-DC7A-491E-8D96-7DDF2B94A6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CE72DF-2026-4132-A0FC-47FCB49418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C68A89-979A-4F00-85FF-444C00E0FD24}"/>
              </a:ext>
            </a:extLst>
          </p:cNvPr>
          <p:cNvSpPr>
            <a:spLocks noGrp="1"/>
          </p:cNvSpPr>
          <p:nvPr>
            <p:ph type="dt" sz="half" idx="10"/>
          </p:nvPr>
        </p:nvSpPr>
        <p:spPr/>
        <p:txBody>
          <a:bodyPr/>
          <a:lstStyle/>
          <a:p>
            <a:fld id="{CF6C70BF-2AB1-4BF4-A50A-9A2F9142FE2D}" type="datetimeFigureOut">
              <a:rPr lang="en-US" smtClean="0"/>
              <a:t>10/13/2026</a:t>
            </a:fld>
            <a:endParaRPr lang="en-US"/>
          </a:p>
        </p:txBody>
      </p:sp>
      <p:sp>
        <p:nvSpPr>
          <p:cNvPr id="5" name="Footer Placeholder 4">
            <a:extLst>
              <a:ext uri="{FF2B5EF4-FFF2-40B4-BE49-F238E27FC236}">
                <a16:creationId xmlns:a16="http://schemas.microsoft.com/office/drawing/2014/main" id="{4F0A5E4E-8826-4EEA-AF93-3CB095B86D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B96E2-A418-49BB-9312-EEA7B6963015}"/>
              </a:ext>
            </a:extLst>
          </p:cNvPr>
          <p:cNvSpPr>
            <a:spLocks noGrp="1"/>
          </p:cNvSpPr>
          <p:nvPr>
            <p:ph type="sldNum" sz="quarter" idx="12"/>
          </p:nvPr>
        </p:nvSpPr>
        <p:spPr/>
        <p:txBody>
          <a:bodyPr/>
          <a:lstStyle/>
          <a:p>
            <a:fld id="{DB916CAA-54BB-4CBD-8406-65EBC8476606}" type="slidenum">
              <a:rPr lang="en-US" smtClean="0"/>
              <a:t>‹#›</a:t>
            </a:fld>
            <a:endParaRPr lang="en-US"/>
          </a:p>
        </p:txBody>
      </p:sp>
    </p:spTree>
    <p:extLst>
      <p:ext uri="{BB962C8B-B14F-4D97-AF65-F5344CB8AC3E}">
        <p14:creationId xmlns:p14="http://schemas.microsoft.com/office/powerpoint/2010/main" val="177591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7E7FF-BE41-4B71-A85F-D15D4E09CE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AD2F5F1-8AF9-4A2A-A95C-C78F752E44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E2A171-05C0-4B36-99D1-BC1DC1CA95A4}"/>
              </a:ext>
            </a:extLst>
          </p:cNvPr>
          <p:cNvSpPr>
            <a:spLocks noGrp="1"/>
          </p:cNvSpPr>
          <p:nvPr>
            <p:ph type="dt" sz="half" idx="10"/>
          </p:nvPr>
        </p:nvSpPr>
        <p:spPr/>
        <p:txBody>
          <a:bodyPr/>
          <a:lstStyle/>
          <a:p>
            <a:fld id="{CF6C70BF-2AB1-4BF4-A50A-9A2F9142FE2D}" type="datetimeFigureOut">
              <a:rPr lang="en-US" smtClean="0"/>
              <a:t>10/13/2026</a:t>
            </a:fld>
            <a:endParaRPr lang="en-US"/>
          </a:p>
        </p:txBody>
      </p:sp>
      <p:sp>
        <p:nvSpPr>
          <p:cNvPr id="5" name="Footer Placeholder 4">
            <a:extLst>
              <a:ext uri="{FF2B5EF4-FFF2-40B4-BE49-F238E27FC236}">
                <a16:creationId xmlns:a16="http://schemas.microsoft.com/office/drawing/2014/main" id="{4B0219C1-9FB6-4BB1-97C0-E454B7134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35D098-BC71-4CB8-B33B-BC2CF1AD6842}"/>
              </a:ext>
            </a:extLst>
          </p:cNvPr>
          <p:cNvSpPr>
            <a:spLocks noGrp="1"/>
          </p:cNvSpPr>
          <p:nvPr>
            <p:ph type="sldNum" sz="quarter" idx="12"/>
          </p:nvPr>
        </p:nvSpPr>
        <p:spPr/>
        <p:txBody>
          <a:bodyPr/>
          <a:lstStyle/>
          <a:p>
            <a:fld id="{DB916CAA-54BB-4CBD-8406-65EBC8476606}" type="slidenum">
              <a:rPr lang="en-US" smtClean="0"/>
              <a:t>‹#›</a:t>
            </a:fld>
            <a:endParaRPr lang="en-US"/>
          </a:p>
        </p:txBody>
      </p:sp>
    </p:spTree>
    <p:extLst>
      <p:ext uri="{BB962C8B-B14F-4D97-AF65-F5344CB8AC3E}">
        <p14:creationId xmlns:p14="http://schemas.microsoft.com/office/powerpoint/2010/main" val="474161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FD5B-1894-4DF8-AC40-CAE26E35B3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4C7E0E-63FC-4D64-9518-FABFC207C3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AAD66D3-62C3-4668-B3BB-A220A9FCD3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195FCC-4CE4-40A3-A8AE-2F8A1006F073}"/>
              </a:ext>
            </a:extLst>
          </p:cNvPr>
          <p:cNvSpPr>
            <a:spLocks noGrp="1"/>
          </p:cNvSpPr>
          <p:nvPr>
            <p:ph type="dt" sz="half" idx="10"/>
          </p:nvPr>
        </p:nvSpPr>
        <p:spPr/>
        <p:txBody>
          <a:bodyPr/>
          <a:lstStyle/>
          <a:p>
            <a:fld id="{CF6C70BF-2AB1-4BF4-A50A-9A2F9142FE2D}" type="datetimeFigureOut">
              <a:rPr lang="en-US" smtClean="0"/>
              <a:t>10/13/2026</a:t>
            </a:fld>
            <a:endParaRPr lang="en-US"/>
          </a:p>
        </p:txBody>
      </p:sp>
      <p:sp>
        <p:nvSpPr>
          <p:cNvPr id="6" name="Footer Placeholder 5">
            <a:extLst>
              <a:ext uri="{FF2B5EF4-FFF2-40B4-BE49-F238E27FC236}">
                <a16:creationId xmlns:a16="http://schemas.microsoft.com/office/drawing/2014/main" id="{45366270-482C-474A-88EE-809441C54D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D70127-3484-4603-96A4-8096A3739919}"/>
              </a:ext>
            </a:extLst>
          </p:cNvPr>
          <p:cNvSpPr>
            <a:spLocks noGrp="1"/>
          </p:cNvSpPr>
          <p:nvPr>
            <p:ph type="sldNum" sz="quarter" idx="12"/>
          </p:nvPr>
        </p:nvSpPr>
        <p:spPr/>
        <p:txBody>
          <a:bodyPr/>
          <a:lstStyle/>
          <a:p>
            <a:fld id="{DB916CAA-54BB-4CBD-8406-65EBC8476606}" type="slidenum">
              <a:rPr lang="en-US" smtClean="0"/>
              <a:t>‹#›</a:t>
            </a:fld>
            <a:endParaRPr lang="en-US"/>
          </a:p>
        </p:txBody>
      </p:sp>
    </p:spTree>
    <p:extLst>
      <p:ext uri="{BB962C8B-B14F-4D97-AF65-F5344CB8AC3E}">
        <p14:creationId xmlns:p14="http://schemas.microsoft.com/office/powerpoint/2010/main" val="3749276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1D46C-3E53-4CB4-BD70-B6153B14680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A68E71-ED22-47D6-8EF0-8DDD2F5257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2A4615-7833-43C5-AD48-DA55F8F1E5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A7E0A14-03F7-4766-944B-FD958A5C4E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DCBABA-BA85-4372-A138-28D34FD87D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56FBA1-AFFC-49DE-87AD-5AF27FACC824}"/>
              </a:ext>
            </a:extLst>
          </p:cNvPr>
          <p:cNvSpPr>
            <a:spLocks noGrp="1"/>
          </p:cNvSpPr>
          <p:nvPr>
            <p:ph type="dt" sz="half" idx="10"/>
          </p:nvPr>
        </p:nvSpPr>
        <p:spPr/>
        <p:txBody>
          <a:bodyPr/>
          <a:lstStyle/>
          <a:p>
            <a:fld id="{CF6C70BF-2AB1-4BF4-A50A-9A2F9142FE2D}" type="datetimeFigureOut">
              <a:rPr lang="en-US" smtClean="0"/>
              <a:t>10/13/2026</a:t>
            </a:fld>
            <a:endParaRPr lang="en-US"/>
          </a:p>
        </p:txBody>
      </p:sp>
      <p:sp>
        <p:nvSpPr>
          <p:cNvPr id="8" name="Footer Placeholder 7">
            <a:extLst>
              <a:ext uri="{FF2B5EF4-FFF2-40B4-BE49-F238E27FC236}">
                <a16:creationId xmlns:a16="http://schemas.microsoft.com/office/drawing/2014/main" id="{64B7818C-7D4D-43AD-9E83-C9EEB7EE9AF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894263-7A7D-41D5-90C7-D42931CF83EB}"/>
              </a:ext>
            </a:extLst>
          </p:cNvPr>
          <p:cNvSpPr>
            <a:spLocks noGrp="1"/>
          </p:cNvSpPr>
          <p:nvPr>
            <p:ph type="sldNum" sz="quarter" idx="12"/>
          </p:nvPr>
        </p:nvSpPr>
        <p:spPr/>
        <p:txBody>
          <a:bodyPr/>
          <a:lstStyle/>
          <a:p>
            <a:fld id="{DB916CAA-54BB-4CBD-8406-65EBC8476606}" type="slidenum">
              <a:rPr lang="en-US" smtClean="0"/>
              <a:t>‹#›</a:t>
            </a:fld>
            <a:endParaRPr lang="en-US"/>
          </a:p>
        </p:txBody>
      </p:sp>
    </p:spTree>
    <p:extLst>
      <p:ext uri="{BB962C8B-B14F-4D97-AF65-F5344CB8AC3E}">
        <p14:creationId xmlns:p14="http://schemas.microsoft.com/office/powerpoint/2010/main" val="1401375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88AC3-8789-454F-8A64-49EC69869E6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8E538C-4881-429D-930A-98B9B975C476}"/>
              </a:ext>
            </a:extLst>
          </p:cNvPr>
          <p:cNvSpPr>
            <a:spLocks noGrp="1"/>
          </p:cNvSpPr>
          <p:nvPr>
            <p:ph type="dt" sz="half" idx="10"/>
          </p:nvPr>
        </p:nvSpPr>
        <p:spPr/>
        <p:txBody>
          <a:bodyPr/>
          <a:lstStyle/>
          <a:p>
            <a:fld id="{CF6C70BF-2AB1-4BF4-A50A-9A2F9142FE2D}" type="datetimeFigureOut">
              <a:rPr lang="en-US" smtClean="0"/>
              <a:t>10/13/2026</a:t>
            </a:fld>
            <a:endParaRPr lang="en-US"/>
          </a:p>
        </p:txBody>
      </p:sp>
      <p:sp>
        <p:nvSpPr>
          <p:cNvPr id="4" name="Footer Placeholder 3">
            <a:extLst>
              <a:ext uri="{FF2B5EF4-FFF2-40B4-BE49-F238E27FC236}">
                <a16:creationId xmlns:a16="http://schemas.microsoft.com/office/drawing/2014/main" id="{6B747FCD-07CF-4AC5-B980-C1D8E13E01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C1DE57-8B57-4A3A-B47D-09A3C752490A}"/>
              </a:ext>
            </a:extLst>
          </p:cNvPr>
          <p:cNvSpPr>
            <a:spLocks noGrp="1"/>
          </p:cNvSpPr>
          <p:nvPr>
            <p:ph type="sldNum" sz="quarter" idx="12"/>
          </p:nvPr>
        </p:nvSpPr>
        <p:spPr/>
        <p:txBody>
          <a:bodyPr/>
          <a:lstStyle/>
          <a:p>
            <a:fld id="{DB916CAA-54BB-4CBD-8406-65EBC8476606}" type="slidenum">
              <a:rPr lang="en-US" smtClean="0"/>
              <a:t>‹#›</a:t>
            </a:fld>
            <a:endParaRPr lang="en-US"/>
          </a:p>
        </p:txBody>
      </p:sp>
    </p:spTree>
    <p:extLst>
      <p:ext uri="{BB962C8B-B14F-4D97-AF65-F5344CB8AC3E}">
        <p14:creationId xmlns:p14="http://schemas.microsoft.com/office/powerpoint/2010/main" val="4094521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F39B3B-98CD-422B-8318-1E03087D40FD}"/>
              </a:ext>
            </a:extLst>
          </p:cNvPr>
          <p:cNvSpPr>
            <a:spLocks noGrp="1"/>
          </p:cNvSpPr>
          <p:nvPr>
            <p:ph type="dt" sz="half" idx="10"/>
          </p:nvPr>
        </p:nvSpPr>
        <p:spPr/>
        <p:txBody>
          <a:bodyPr/>
          <a:lstStyle/>
          <a:p>
            <a:fld id="{CF6C70BF-2AB1-4BF4-A50A-9A2F9142FE2D}" type="datetimeFigureOut">
              <a:rPr lang="en-US" smtClean="0"/>
              <a:t>10/13/2026</a:t>
            </a:fld>
            <a:endParaRPr lang="en-US"/>
          </a:p>
        </p:txBody>
      </p:sp>
      <p:sp>
        <p:nvSpPr>
          <p:cNvPr id="3" name="Footer Placeholder 2">
            <a:extLst>
              <a:ext uri="{FF2B5EF4-FFF2-40B4-BE49-F238E27FC236}">
                <a16:creationId xmlns:a16="http://schemas.microsoft.com/office/drawing/2014/main" id="{B0A13924-6ABC-4E7E-AA89-E0DA687CC9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C84D6D-C2DC-4C49-851D-CABF7BA1F540}"/>
              </a:ext>
            </a:extLst>
          </p:cNvPr>
          <p:cNvSpPr>
            <a:spLocks noGrp="1"/>
          </p:cNvSpPr>
          <p:nvPr>
            <p:ph type="sldNum" sz="quarter" idx="12"/>
          </p:nvPr>
        </p:nvSpPr>
        <p:spPr/>
        <p:txBody>
          <a:bodyPr/>
          <a:lstStyle/>
          <a:p>
            <a:fld id="{DB916CAA-54BB-4CBD-8406-65EBC8476606}" type="slidenum">
              <a:rPr lang="en-US" smtClean="0"/>
              <a:t>‹#›</a:t>
            </a:fld>
            <a:endParaRPr lang="en-US"/>
          </a:p>
        </p:txBody>
      </p:sp>
    </p:spTree>
    <p:extLst>
      <p:ext uri="{BB962C8B-B14F-4D97-AF65-F5344CB8AC3E}">
        <p14:creationId xmlns:p14="http://schemas.microsoft.com/office/powerpoint/2010/main" val="3218069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D7A18-C56D-447A-92E4-9AF1C4368B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2CBE1E7-5CB1-483C-855E-F040A797B1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D38A71-0472-4A6C-BA46-DBBEE2D04C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F36FE7-F57D-4CAC-9862-8DBDF92BEF10}"/>
              </a:ext>
            </a:extLst>
          </p:cNvPr>
          <p:cNvSpPr>
            <a:spLocks noGrp="1"/>
          </p:cNvSpPr>
          <p:nvPr>
            <p:ph type="dt" sz="half" idx="10"/>
          </p:nvPr>
        </p:nvSpPr>
        <p:spPr/>
        <p:txBody>
          <a:bodyPr/>
          <a:lstStyle/>
          <a:p>
            <a:fld id="{CF6C70BF-2AB1-4BF4-A50A-9A2F9142FE2D}" type="datetimeFigureOut">
              <a:rPr lang="en-US" smtClean="0"/>
              <a:t>10/13/2026</a:t>
            </a:fld>
            <a:endParaRPr lang="en-US"/>
          </a:p>
        </p:txBody>
      </p:sp>
      <p:sp>
        <p:nvSpPr>
          <p:cNvPr id="6" name="Footer Placeholder 5">
            <a:extLst>
              <a:ext uri="{FF2B5EF4-FFF2-40B4-BE49-F238E27FC236}">
                <a16:creationId xmlns:a16="http://schemas.microsoft.com/office/drawing/2014/main" id="{31205687-5F98-4CBB-8B78-998A29FBDF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0B8B5E-3AF9-422B-B4A7-8027BFEA06EB}"/>
              </a:ext>
            </a:extLst>
          </p:cNvPr>
          <p:cNvSpPr>
            <a:spLocks noGrp="1"/>
          </p:cNvSpPr>
          <p:nvPr>
            <p:ph type="sldNum" sz="quarter" idx="12"/>
          </p:nvPr>
        </p:nvSpPr>
        <p:spPr/>
        <p:txBody>
          <a:bodyPr/>
          <a:lstStyle/>
          <a:p>
            <a:fld id="{DB916CAA-54BB-4CBD-8406-65EBC8476606}" type="slidenum">
              <a:rPr lang="en-US" smtClean="0"/>
              <a:t>‹#›</a:t>
            </a:fld>
            <a:endParaRPr lang="en-US"/>
          </a:p>
        </p:txBody>
      </p:sp>
    </p:spTree>
    <p:extLst>
      <p:ext uri="{BB962C8B-B14F-4D97-AF65-F5344CB8AC3E}">
        <p14:creationId xmlns:p14="http://schemas.microsoft.com/office/powerpoint/2010/main" val="1669725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D5A08-83EA-4955-95F1-A1E24C9D0E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F805EA-3E6D-4A89-AA8F-8FFCFB7149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7C6C9C-692B-4CD6-984B-E83351D635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F572AC-6F17-4E34-91FC-C2E1502D87B5}"/>
              </a:ext>
            </a:extLst>
          </p:cNvPr>
          <p:cNvSpPr>
            <a:spLocks noGrp="1"/>
          </p:cNvSpPr>
          <p:nvPr>
            <p:ph type="dt" sz="half" idx="10"/>
          </p:nvPr>
        </p:nvSpPr>
        <p:spPr/>
        <p:txBody>
          <a:bodyPr/>
          <a:lstStyle/>
          <a:p>
            <a:fld id="{CF6C70BF-2AB1-4BF4-A50A-9A2F9142FE2D}" type="datetimeFigureOut">
              <a:rPr lang="en-US" smtClean="0"/>
              <a:t>10/13/2026</a:t>
            </a:fld>
            <a:endParaRPr lang="en-US"/>
          </a:p>
        </p:txBody>
      </p:sp>
      <p:sp>
        <p:nvSpPr>
          <p:cNvPr id="6" name="Footer Placeholder 5">
            <a:extLst>
              <a:ext uri="{FF2B5EF4-FFF2-40B4-BE49-F238E27FC236}">
                <a16:creationId xmlns:a16="http://schemas.microsoft.com/office/drawing/2014/main" id="{1F48AEDA-2891-4DFB-8DD1-32847C1BC4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5C0A12-53FA-40D6-B277-34EDE7AFDEB7}"/>
              </a:ext>
            </a:extLst>
          </p:cNvPr>
          <p:cNvSpPr>
            <a:spLocks noGrp="1"/>
          </p:cNvSpPr>
          <p:nvPr>
            <p:ph type="sldNum" sz="quarter" idx="12"/>
          </p:nvPr>
        </p:nvSpPr>
        <p:spPr/>
        <p:txBody>
          <a:bodyPr/>
          <a:lstStyle/>
          <a:p>
            <a:fld id="{DB916CAA-54BB-4CBD-8406-65EBC8476606}" type="slidenum">
              <a:rPr lang="en-US" smtClean="0"/>
              <a:t>‹#›</a:t>
            </a:fld>
            <a:endParaRPr lang="en-US"/>
          </a:p>
        </p:txBody>
      </p:sp>
    </p:spTree>
    <p:extLst>
      <p:ext uri="{BB962C8B-B14F-4D97-AF65-F5344CB8AC3E}">
        <p14:creationId xmlns:p14="http://schemas.microsoft.com/office/powerpoint/2010/main" val="352477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F628C-8182-45BD-83EF-306413E0F3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7890FD-EA2C-47E4-9922-602DF3A0D8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3F4DA3-E13D-4AD8-B499-CB256123C093}"/>
              </a:ext>
            </a:extLst>
          </p:cNvPr>
          <p:cNvSpPr>
            <a:spLocks noGrp="1"/>
          </p:cNvSpPr>
          <p:nvPr>
            <p:ph type="dt" sz="half" idx="10"/>
          </p:nvPr>
        </p:nvSpPr>
        <p:spPr/>
        <p:txBody>
          <a:bodyPr/>
          <a:lstStyle/>
          <a:p>
            <a:fld id="{CF6C70BF-2AB1-4BF4-A50A-9A2F9142FE2D}" type="datetimeFigureOut">
              <a:rPr lang="en-US" smtClean="0"/>
              <a:t>10/13/2026</a:t>
            </a:fld>
            <a:endParaRPr lang="en-US"/>
          </a:p>
        </p:txBody>
      </p:sp>
      <p:sp>
        <p:nvSpPr>
          <p:cNvPr id="5" name="Footer Placeholder 4">
            <a:extLst>
              <a:ext uri="{FF2B5EF4-FFF2-40B4-BE49-F238E27FC236}">
                <a16:creationId xmlns:a16="http://schemas.microsoft.com/office/drawing/2014/main" id="{B02F3D76-BB2B-4CE5-9F47-B75B4CA378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B98869-7EDC-45CB-9161-D6E0C054F8F1}"/>
              </a:ext>
            </a:extLst>
          </p:cNvPr>
          <p:cNvSpPr>
            <a:spLocks noGrp="1"/>
          </p:cNvSpPr>
          <p:nvPr>
            <p:ph type="sldNum" sz="quarter" idx="12"/>
          </p:nvPr>
        </p:nvSpPr>
        <p:spPr/>
        <p:txBody>
          <a:bodyPr/>
          <a:lstStyle/>
          <a:p>
            <a:fld id="{DB916CAA-54BB-4CBD-8406-65EBC8476606}" type="slidenum">
              <a:rPr lang="en-US" smtClean="0"/>
              <a:t>‹#›</a:t>
            </a:fld>
            <a:endParaRPr lang="en-US"/>
          </a:p>
        </p:txBody>
      </p:sp>
    </p:spTree>
    <p:extLst>
      <p:ext uri="{BB962C8B-B14F-4D97-AF65-F5344CB8AC3E}">
        <p14:creationId xmlns:p14="http://schemas.microsoft.com/office/powerpoint/2010/main" val="3359640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2EBC00-7F7A-4C50-9AC3-91E1F51767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1FF28A-4DFF-4310-B24A-C9E324682B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185DA6-4F3C-43A0-809B-B5C7CA2ACA0A}"/>
              </a:ext>
            </a:extLst>
          </p:cNvPr>
          <p:cNvSpPr>
            <a:spLocks noGrp="1"/>
          </p:cNvSpPr>
          <p:nvPr>
            <p:ph type="dt" sz="half" idx="10"/>
          </p:nvPr>
        </p:nvSpPr>
        <p:spPr/>
        <p:txBody>
          <a:bodyPr/>
          <a:lstStyle/>
          <a:p>
            <a:fld id="{CF6C70BF-2AB1-4BF4-A50A-9A2F9142FE2D}" type="datetimeFigureOut">
              <a:rPr lang="en-US" smtClean="0"/>
              <a:t>10/13/2026</a:t>
            </a:fld>
            <a:endParaRPr lang="en-US"/>
          </a:p>
        </p:txBody>
      </p:sp>
      <p:sp>
        <p:nvSpPr>
          <p:cNvPr id="5" name="Footer Placeholder 4">
            <a:extLst>
              <a:ext uri="{FF2B5EF4-FFF2-40B4-BE49-F238E27FC236}">
                <a16:creationId xmlns:a16="http://schemas.microsoft.com/office/drawing/2014/main" id="{8216AB61-0DC6-409F-B381-DBBBCF7D46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AB8716-E173-4691-BFF2-05E88EA6D38B}"/>
              </a:ext>
            </a:extLst>
          </p:cNvPr>
          <p:cNvSpPr>
            <a:spLocks noGrp="1"/>
          </p:cNvSpPr>
          <p:nvPr>
            <p:ph type="sldNum" sz="quarter" idx="12"/>
          </p:nvPr>
        </p:nvSpPr>
        <p:spPr/>
        <p:txBody>
          <a:bodyPr/>
          <a:lstStyle/>
          <a:p>
            <a:fld id="{DB916CAA-54BB-4CBD-8406-65EBC8476606}" type="slidenum">
              <a:rPr lang="en-US" smtClean="0"/>
              <a:t>‹#›</a:t>
            </a:fld>
            <a:endParaRPr lang="en-US"/>
          </a:p>
        </p:txBody>
      </p:sp>
    </p:spTree>
    <p:extLst>
      <p:ext uri="{BB962C8B-B14F-4D97-AF65-F5344CB8AC3E}">
        <p14:creationId xmlns:p14="http://schemas.microsoft.com/office/powerpoint/2010/main" val="3981147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5AB040-284F-4BA6-9CFD-B358E9EB53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EB5BFE-9538-4BEC-A601-8DA351CCA8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C843D7-A4AE-4010-A77C-92A2409392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6C70BF-2AB1-4BF4-A50A-9A2F9142FE2D}" type="datetimeFigureOut">
              <a:rPr lang="en-US" smtClean="0"/>
              <a:t>10/13/2026</a:t>
            </a:fld>
            <a:endParaRPr lang="en-US"/>
          </a:p>
        </p:txBody>
      </p:sp>
      <p:sp>
        <p:nvSpPr>
          <p:cNvPr id="5" name="Footer Placeholder 4">
            <a:extLst>
              <a:ext uri="{FF2B5EF4-FFF2-40B4-BE49-F238E27FC236}">
                <a16:creationId xmlns:a16="http://schemas.microsoft.com/office/drawing/2014/main" id="{4EA2A0C6-1A82-4C04-83D3-2C2C9A1F10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46A52F9-504E-42AD-BB54-342E667341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916CAA-54BB-4CBD-8406-65EBC8476606}" type="slidenum">
              <a:rPr lang="en-US" smtClean="0"/>
              <a:t>‹#›</a:t>
            </a:fld>
            <a:endParaRPr lang="en-US"/>
          </a:p>
        </p:txBody>
      </p:sp>
    </p:spTree>
    <p:extLst>
      <p:ext uri="{BB962C8B-B14F-4D97-AF65-F5344CB8AC3E}">
        <p14:creationId xmlns:p14="http://schemas.microsoft.com/office/powerpoint/2010/main" val="17934466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phic 9" descr="User with solid fill">
            <a:extLst>
              <a:ext uri="{FF2B5EF4-FFF2-40B4-BE49-F238E27FC236}">
                <a16:creationId xmlns:a16="http://schemas.microsoft.com/office/drawing/2014/main" id="{8AB3B2C3-A18E-4D1C-AC2E-41967DDD048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83" t="-9596" r="21877" b="100000"/>
          <a:stretch>
            <a:fillRect/>
          </a:stretch>
        </p:blipFill>
        <p:spPr>
          <a:xfrm>
            <a:off x="5819222" y="2956561"/>
            <a:ext cx="559652" cy="96521"/>
          </a:xfrm>
          <a:custGeom>
            <a:avLst/>
            <a:gdLst>
              <a:gd name="connsiteX0" fmla="*/ 279826 w 559652"/>
              <a:gd name="connsiteY0" fmla="*/ 0 h 96521"/>
              <a:gd name="connsiteX1" fmla="*/ 537155 w 559652"/>
              <a:gd name="connsiteY1" fmla="*/ 78082 h 96521"/>
              <a:gd name="connsiteX2" fmla="*/ 559652 w 559652"/>
              <a:gd name="connsiteY2" fmla="*/ 96521 h 96521"/>
              <a:gd name="connsiteX3" fmla="*/ 0 w 559652"/>
              <a:gd name="connsiteY3" fmla="*/ 96521 h 96521"/>
              <a:gd name="connsiteX4" fmla="*/ 22497 w 559652"/>
              <a:gd name="connsiteY4" fmla="*/ 78082 h 96521"/>
              <a:gd name="connsiteX5" fmla="*/ 279826 w 559652"/>
              <a:gd name="connsiteY5" fmla="*/ 0 h 96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9652" h="96521">
                <a:moveTo>
                  <a:pt x="279826" y="0"/>
                </a:moveTo>
                <a:cubicBezTo>
                  <a:pt x="375147" y="0"/>
                  <a:pt x="463699" y="28785"/>
                  <a:pt x="537155" y="78082"/>
                </a:cubicBezTo>
                <a:lnTo>
                  <a:pt x="559652" y="96521"/>
                </a:lnTo>
                <a:lnTo>
                  <a:pt x="0" y="96521"/>
                </a:lnTo>
                <a:lnTo>
                  <a:pt x="22497" y="78082"/>
                </a:lnTo>
                <a:cubicBezTo>
                  <a:pt x="95953" y="28785"/>
                  <a:pt x="184506" y="0"/>
                  <a:pt x="279826" y="0"/>
                </a:cubicBezTo>
                <a:close/>
              </a:path>
            </a:pathLst>
          </a:custGeom>
        </p:spPr>
      </p:pic>
      <p:pic>
        <p:nvPicPr>
          <p:cNvPr id="19" name="Picture 18">
            <a:extLst>
              <a:ext uri="{FF2B5EF4-FFF2-40B4-BE49-F238E27FC236}">
                <a16:creationId xmlns:a16="http://schemas.microsoft.com/office/drawing/2014/main" id="{4932BBD8-0250-441E-949A-4430CE2B33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8" name="Title 1">
            <a:extLst>
              <a:ext uri="{FF2B5EF4-FFF2-40B4-BE49-F238E27FC236}">
                <a16:creationId xmlns:a16="http://schemas.microsoft.com/office/drawing/2014/main" id="{4F703D15-D11F-4DBF-941A-3BBA8A6D6FC5}"/>
              </a:ext>
            </a:extLst>
          </p:cNvPr>
          <p:cNvSpPr>
            <a:spLocks noGrp="1"/>
          </p:cNvSpPr>
          <p:nvPr>
            <p:ph type="ctrTitle"/>
          </p:nvPr>
        </p:nvSpPr>
        <p:spPr>
          <a:xfrm>
            <a:off x="415290" y="2533261"/>
            <a:ext cx="11361420" cy="2445597"/>
          </a:xfrm>
        </p:spPr>
        <p:txBody>
          <a:bodyPr>
            <a:noAutofit/>
          </a:bodyPr>
          <a:lstStyle/>
          <a:p>
            <a:r>
              <a:rPr lang="en-US" sz="4000" b="1" dirty="0">
                <a:latin typeface="Times New Roman" panose="02020603050405020304" pitchFamily="18" charset="0"/>
                <a:cs typeface="Times New Roman" panose="02020603050405020304" pitchFamily="18" charset="0"/>
              </a:rPr>
              <a:t>Forecasting Weekly Dengue Cases in Mindanao Cities Using Machine Learning and Lagged Meteorological Features</a:t>
            </a:r>
            <a:br>
              <a:rPr lang="en-US" sz="4000" b="1" dirty="0">
                <a:latin typeface="Times New Roman" panose="02020603050405020304" pitchFamily="18" charset="0"/>
                <a:cs typeface="Times New Roman" panose="02020603050405020304" pitchFamily="18" charset="0"/>
              </a:rPr>
            </a:br>
            <a:br>
              <a:rPr lang="en-SG" sz="4000" dirty="0">
                <a:latin typeface="Times New Roman" panose="02020603050405020304" pitchFamily="18" charset="0"/>
                <a:cs typeface="Times New Roman" panose="02020603050405020304" pitchFamily="18" charset="0"/>
              </a:rPr>
            </a:br>
            <a:endParaRPr lang="en-PH" sz="4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7EF1E87-A08D-9A7E-2EF5-FE1AB23944AC}"/>
              </a:ext>
            </a:extLst>
          </p:cNvPr>
          <p:cNvSpPr txBox="1"/>
          <p:nvPr/>
        </p:nvSpPr>
        <p:spPr>
          <a:xfrm>
            <a:off x="2597041" y="3770164"/>
            <a:ext cx="6899383" cy="2149306"/>
          </a:xfrm>
          <a:prstGeom prst="rect">
            <a:avLst/>
          </a:prstGeom>
          <a:noFill/>
        </p:spPr>
        <p:txBody>
          <a:bodyPr wrap="square" rtlCol="0">
            <a:spAutoFit/>
          </a:bodyPr>
          <a:lstStyle/>
          <a:p>
            <a:pPr algn="ctr">
              <a:spcBef>
                <a:spcPts val="50"/>
              </a:spcBef>
              <a:spcAft>
                <a:spcPts val="50"/>
              </a:spcAft>
            </a:pPr>
            <a:r>
              <a:rPr lang="en-SG" sz="3600" i="1" dirty="0">
                <a:latin typeface="Times New Roman" panose="02020603050405020304" pitchFamily="18" charset="0"/>
                <a:cs typeface="Times New Roman" panose="02020603050405020304" pitchFamily="18" charset="0"/>
              </a:rPr>
              <a:t>Kris Ian Bandiola &amp; Axel Balani</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Department of Computer Science, </a:t>
            </a:r>
          </a:p>
          <a:p>
            <a:pPr algn="ctr">
              <a:spcBef>
                <a:spcPts val="50"/>
              </a:spcBef>
              <a:spcAft>
                <a:spcPts val="50"/>
              </a:spcAft>
            </a:pPr>
            <a:r>
              <a:rPr lang="en-US" sz="3200" dirty="0">
                <a:latin typeface="Times New Roman" panose="02020603050405020304" pitchFamily="18" charset="0"/>
                <a:cs typeface="Times New Roman" panose="02020603050405020304" pitchFamily="18" charset="0"/>
              </a:rPr>
              <a:t>South Philippines Adventist College</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Oct. 13, 2026</a:t>
            </a:r>
            <a:endParaRPr lang="en-SG" sz="3200" dirty="0"/>
          </a:p>
        </p:txBody>
      </p:sp>
    </p:spTree>
    <p:extLst>
      <p:ext uri="{BB962C8B-B14F-4D97-AF65-F5344CB8AC3E}">
        <p14:creationId xmlns:p14="http://schemas.microsoft.com/office/powerpoint/2010/main" val="1361538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4495801" y="398060"/>
            <a:ext cx="8800000" cy="677108"/>
          </a:xfrm>
          <a:prstGeom prst="rect">
            <a:avLst/>
          </a:prstGeom>
          <a:noFill/>
        </p:spPr>
        <p:txBody>
          <a:bodyPr wrap="square" lIns="0" tIns="0" rIns="0" bIns="0" anchor="b">
            <a:spAutoFit/>
          </a:bodyPr>
          <a:lstStyle/>
          <a:p>
            <a:pPr algn="l">
              <a:spcAft>
                <a:spcPts val="0"/>
              </a:spcAft>
            </a:pPr>
            <a:r>
              <a:rPr sz="4400" b="1" i="0" dirty="0">
                <a:solidFill>
                  <a:srgbClr val="1A1A1A"/>
                </a:solidFill>
                <a:latin typeface="Times New Roman"/>
              </a:rPr>
              <a:t>Introduction</a:t>
            </a:r>
          </a:p>
        </p:txBody>
      </p:sp>
      <p:sp>
        <p:nvSpPr>
          <p:cNvPr id="7" name="Introduction box"/>
          <p:cNvSpPr/>
          <p:nvPr/>
        </p:nvSpPr>
        <p:spPr>
          <a:xfrm>
            <a:off x="457199" y="1052239"/>
            <a:ext cx="10034801" cy="4673859"/>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Introduction text"/>
          <p:cNvSpPr txBox="1"/>
          <p:nvPr/>
        </p:nvSpPr>
        <p:spPr>
          <a:xfrm>
            <a:off x="609601" y="1087940"/>
            <a:ext cx="6858000" cy="4508927"/>
          </a:xfrm>
          <a:prstGeom prst="rect">
            <a:avLst/>
          </a:prstGeom>
          <a:noFill/>
        </p:spPr>
        <p:txBody>
          <a:bodyPr wrap="square" lIns="0" tIns="0" rIns="0" bIns="0" anchor="t">
            <a:spAutoFit/>
          </a:bodyPr>
          <a:lstStyle/>
          <a:p>
            <a:pPr>
              <a:spcAft>
                <a:spcPts val="600"/>
              </a:spcAft>
            </a:pPr>
            <a:r>
              <a:rPr lang="en-US" sz="2400" dirty="0">
                <a:latin typeface="Times New Roman"/>
              </a:rPr>
              <a:t>Every year, dengue threatens half the world's population — and in the Philippines, it claims over a thousand lives annually. But by the time health offices see the surge in surveillance data, the outbreak has already arrived. What if we could see it coming two weeks earlier? </a:t>
            </a:r>
          </a:p>
          <a:p>
            <a:pPr>
              <a:spcAft>
                <a:spcPts val="600"/>
              </a:spcAft>
            </a:pPr>
            <a:r>
              <a:rPr lang="en-US" sz="2400" dirty="0">
                <a:latin typeface="Times New Roman"/>
              </a:rPr>
              <a:t>Today, we present a machine learning study that pairs DOH case records with satellite weather data across three Mindanao cities to answer a critical question: does earlier weather actually improve dengue forecasting beyond what recent case history already tells us? In our test, it did, but only slightly.</a:t>
            </a:r>
            <a:endParaRPr sz="2400" i="0" dirty="0">
              <a:latin typeface="Times New Roman"/>
            </a:endParaRPr>
          </a:p>
        </p:txBody>
      </p:sp>
      <p:pic>
        <p:nvPicPr>
          <p:cNvPr id="2" name="Picture 1" descr="Press Kit: Mosquitoes | Mosquitoes | CDC">
            <a:extLst>
              <a:ext uri="{FF2B5EF4-FFF2-40B4-BE49-F238E27FC236}">
                <a16:creationId xmlns:a16="http://schemas.microsoft.com/office/drawing/2014/main" id="{00053B00-CED8-4F7B-15B5-8D691A73F5EB}"/>
              </a:ext>
            </a:extLst>
          </p:cNvPr>
          <p:cNvPicPr>
            <a:picLocks noChangeAspect="1"/>
          </p:cNvPicPr>
          <p:nvPr/>
        </p:nvPicPr>
        <p:blipFill>
          <a:blip r:embed="rId3"/>
          <a:stretch>
            <a:fillRect/>
          </a:stretch>
        </p:blipFill>
        <p:spPr>
          <a:xfrm>
            <a:off x="7467601" y="2568626"/>
            <a:ext cx="2790191" cy="2111600"/>
          </a:xfrm>
          <a:prstGeom prst="rect">
            <a:avLst/>
          </a:prstGeom>
        </p:spPr>
      </p:pic>
    </p:spTree>
    <p:extLst>
      <p:ext uri="{BB962C8B-B14F-4D97-AF65-F5344CB8AC3E}">
        <p14:creationId xmlns:p14="http://schemas.microsoft.com/office/powerpoint/2010/main" val="1533586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0B623-DB2E-9892-2D3A-93D2429F215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F500375-987E-F248-0D49-95CE286A85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a:extLst>
              <a:ext uri="{FF2B5EF4-FFF2-40B4-BE49-F238E27FC236}">
                <a16:creationId xmlns:a16="http://schemas.microsoft.com/office/drawing/2014/main" id="{2FC91B55-6D5F-F3C1-2F31-8B2F4357E564}"/>
              </a:ext>
            </a:extLst>
          </p:cNvPr>
          <p:cNvSpPr txBox="1"/>
          <p:nvPr/>
        </p:nvSpPr>
        <p:spPr>
          <a:xfrm>
            <a:off x="4495801" y="398073"/>
            <a:ext cx="8800000" cy="677108"/>
          </a:xfrm>
          <a:prstGeom prst="rect">
            <a:avLst/>
          </a:prstGeom>
          <a:noFill/>
        </p:spPr>
        <p:txBody>
          <a:bodyPr wrap="square" lIns="0" tIns="0" rIns="0" bIns="0" anchor="b">
            <a:spAutoFit/>
          </a:bodyPr>
          <a:lstStyle/>
          <a:p>
            <a:pPr algn="l">
              <a:spcAft>
                <a:spcPts val="0"/>
              </a:spcAft>
            </a:pPr>
            <a:r>
              <a:rPr sz="4400" b="1" i="0" dirty="0">
                <a:solidFill>
                  <a:srgbClr val="1A1A1A"/>
                </a:solidFill>
                <a:latin typeface="Times New Roman"/>
              </a:rPr>
              <a:t>Introduction</a:t>
            </a:r>
          </a:p>
        </p:txBody>
      </p:sp>
      <p:sp>
        <p:nvSpPr>
          <p:cNvPr id="7" name="Introduction box">
            <a:extLst>
              <a:ext uri="{FF2B5EF4-FFF2-40B4-BE49-F238E27FC236}">
                <a16:creationId xmlns:a16="http://schemas.microsoft.com/office/drawing/2014/main" id="{BCD405ED-56C1-9582-3476-F688274AB8A2}"/>
              </a:ext>
            </a:extLst>
          </p:cNvPr>
          <p:cNvSpPr/>
          <p:nvPr/>
        </p:nvSpPr>
        <p:spPr>
          <a:xfrm>
            <a:off x="457199" y="1078873"/>
            <a:ext cx="10034801" cy="5197646"/>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Introduction text">
            <a:extLst>
              <a:ext uri="{FF2B5EF4-FFF2-40B4-BE49-F238E27FC236}">
                <a16:creationId xmlns:a16="http://schemas.microsoft.com/office/drawing/2014/main" id="{AD4827C7-B702-E556-D102-0F33D9675D65}"/>
              </a:ext>
            </a:extLst>
          </p:cNvPr>
          <p:cNvSpPr txBox="1"/>
          <p:nvPr/>
        </p:nvSpPr>
        <p:spPr>
          <a:xfrm>
            <a:off x="609600" y="1114573"/>
            <a:ext cx="9882399" cy="5401479"/>
          </a:xfrm>
          <a:prstGeom prst="rect">
            <a:avLst/>
          </a:prstGeom>
          <a:noFill/>
        </p:spPr>
        <p:txBody>
          <a:bodyPr wrap="square" lIns="0" tIns="0" rIns="0" bIns="0" anchor="t">
            <a:spAutoFit/>
          </a:bodyPr>
          <a:lstStyle/>
          <a:p>
            <a:pPr>
              <a:spcAft>
                <a:spcPts val="600"/>
              </a:spcAft>
            </a:pPr>
            <a:r>
              <a:rPr lang="en-US" sz="2200" dirty="0">
                <a:latin typeface="Times New Roman"/>
              </a:rPr>
              <a:t>Dengue fever remains a critical public health challenge in the tropics, with the World Health Organization estimating 100–400 million infections annually. </a:t>
            </a:r>
          </a:p>
          <a:p>
            <a:pPr>
              <a:spcAft>
                <a:spcPts val="600"/>
              </a:spcAft>
            </a:pPr>
            <a:r>
              <a:rPr lang="en-US" sz="2200" dirty="0">
                <a:latin typeface="Times New Roman"/>
              </a:rPr>
              <a:t>In the Philippines, surveillance systems such as the DOH surveillance system (PIDSR) records cases reactively, meaning health offices learn of surges only after patients have already presented. Transitioning from reactive reporting to proactive forecasting could provide the lead time needed for preemptive vector control. </a:t>
            </a:r>
          </a:p>
          <a:p>
            <a:pPr>
              <a:spcAft>
                <a:spcPts val="600"/>
              </a:spcAft>
            </a:pPr>
            <a:r>
              <a:rPr lang="en-US" sz="2200" dirty="0">
                <a:latin typeface="Times New Roman"/>
              </a:rPr>
              <a:t>While prior Philippine studies have applied machine learning to dengue prediction, a controlled comparison isolating the incremental value of lagged meteorological features over case-history alone has not been consistently reported for weekly, city-level forecasts in Mindanao. </a:t>
            </a:r>
          </a:p>
          <a:p>
            <a:pPr>
              <a:spcAft>
                <a:spcPts val="600"/>
              </a:spcAft>
            </a:pPr>
            <a:r>
              <a:rPr lang="en-US" sz="2200" dirty="0">
                <a:latin typeface="Times New Roman"/>
              </a:rPr>
              <a:t>This study addresses that gap by pairing DOH case data with Project CCHAIN weather features across three Mindanao cities—Davao, Cagayan de Oro, and Zamboanga—and evaluating whether a full feature set improves two-week-ahead forecasts beyond a persistence baseline (repeating the latest count) and a case-only model.</a:t>
            </a:r>
          </a:p>
        </p:txBody>
      </p:sp>
      <p:pic>
        <p:nvPicPr>
          <p:cNvPr id="2" name="Picture 1" descr="Press Kit: Mosquitoes | Mosquitoes | CDC">
            <a:extLst>
              <a:ext uri="{FF2B5EF4-FFF2-40B4-BE49-F238E27FC236}">
                <a16:creationId xmlns:a16="http://schemas.microsoft.com/office/drawing/2014/main" id="{CBCDE88D-A257-14AD-C78A-164AB56C7B60}"/>
              </a:ext>
            </a:extLst>
          </p:cNvPr>
          <p:cNvPicPr>
            <a:picLocks noChangeAspect="1"/>
          </p:cNvPicPr>
          <p:nvPr/>
        </p:nvPicPr>
        <p:blipFill>
          <a:blip r:embed="rId3"/>
          <a:stretch>
            <a:fillRect/>
          </a:stretch>
        </p:blipFill>
        <p:spPr>
          <a:xfrm>
            <a:off x="12649199" y="4839400"/>
            <a:ext cx="2790191" cy="2111600"/>
          </a:xfrm>
          <a:prstGeom prst="rect">
            <a:avLst/>
          </a:prstGeom>
        </p:spPr>
      </p:pic>
    </p:spTree>
    <p:extLst>
      <p:ext uri="{BB962C8B-B14F-4D97-AF65-F5344CB8AC3E}">
        <p14:creationId xmlns:p14="http://schemas.microsoft.com/office/powerpoint/2010/main" val="945978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DC47CF-C0B9-FF0C-2A8D-D95EB6AACA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Slide Title">
            <a:extLst>
              <a:ext uri="{FF2B5EF4-FFF2-40B4-BE49-F238E27FC236}">
                <a16:creationId xmlns:a16="http://schemas.microsoft.com/office/drawing/2014/main" id="{4A6446B7-62AE-2D95-F514-DF9BD23A5EAE}"/>
              </a:ext>
            </a:extLst>
          </p:cNvPr>
          <p:cNvSpPr txBox="1"/>
          <p:nvPr/>
        </p:nvSpPr>
        <p:spPr>
          <a:xfrm>
            <a:off x="1500000" y="540000"/>
            <a:ext cx="8800000" cy="900000"/>
          </a:xfrm>
          <a:prstGeom prst="rect">
            <a:avLst/>
          </a:prstGeom>
          <a:noFill/>
        </p:spPr>
        <p:txBody>
          <a:bodyPr wrap="square" lIns="0" tIns="0" rIns="0" bIns="0" anchor="b">
            <a:noAutofit/>
          </a:bodyPr>
          <a:lstStyle/>
          <a:p>
            <a:pPr algn="l">
              <a:spcAft>
                <a:spcPts val="0"/>
              </a:spcAft>
              <a:buNone/>
            </a:pPr>
            <a:r>
              <a:rPr lang="en-US" sz="2800" b="1" i="0" dirty="0">
                <a:solidFill>
                  <a:srgbClr val="1A1A1A"/>
                </a:solidFill>
                <a:latin typeface="Times New Roman"/>
                <a:cs typeface="Times New Roman"/>
              </a:rPr>
              <a:t>Statement of the Problem</a:t>
            </a:r>
          </a:p>
        </p:txBody>
      </p:sp>
      <p:sp>
        <p:nvSpPr>
          <p:cNvPr id="7" name="Slide Subtitle">
            <a:extLst>
              <a:ext uri="{FF2B5EF4-FFF2-40B4-BE49-F238E27FC236}">
                <a16:creationId xmlns:a16="http://schemas.microsoft.com/office/drawing/2014/main" id="{EF1D11FD-E74E-AA27-FF5A-FC982CB856F5}"/>
              </a:ext>
            </a:extLst>
          </p:cNvPr>
          <p:cNvSpPr txBox="1"/>
          <p:nvPr/>
        </p:nvSpPr>
        <p:spPr>
          <a:xfrm>
            <a:off x="1500000" y="1500000"/>
            <a:ext cx="8800000" cy="340000"/>
          </a:xfrm>
          <a:prstGeom prst="rect">
            <a:avLst/>
          </a:prstGeom>
          <a:noFill/>
        </p:spPr>
        <p:txBody>
          <a:bodyPr wrap="square" lIns="0" tIns="0" rIns="0" bIns="0" anchor="t">
            <a:noAutofit/>
          </a:bodyPr>
          <a:lstStyle/>
          <a:p>
            <a:pPr algn="l">
              <a:spcAft>
                <a:spcPts val="0"/>
              </a:spcAft>
              <a:buNone/>
            </a:pPr>
            <a:r>
              <a:rPr lang="en-US" sz="1800" b="1" i="0" dirty="0">
                <a:solidFill>
                  <a:srgbClr val="2F5597"/>
                </a:solidFill>
                <a:latin typeface="Times New Roman"/>
                <a:cs typeface="Times New Roman"/>
              </a:rPr>
              <a:t>Surveillance reports the past; it does not predict</a:t>
            </a:r>
          </a:p>
        </p:txBody>
      </p:sp>
      <p:sp>
        <p:nvSpPr>
          <p:cNvPr id="9" name="Step card 1">
            <a:extLst>
              <a:ext uri="{FF2B5EF4-FFF2-40B4-BE49-F238E27FC236}">
                <a16:creationId xmlns:a16="http://schemas.microsoft.com/office/drawing/2014/main" id="{EB5F7AAE-BBD6-8A47-1FE8-48A9554D1ED7}"/>
              </a:ext>
            </a:extLst>
          </p:cNvPr>
          <p:cNvSpPr/>
          <p:nvPr/>
        </p:nvSpPr>
        <p:spPr>
          <a:xfrm>
            <a:off x="1500000" y="2050000"/>
            <a:ext cx="2000000" cy="175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11" name="Step number 1">
            <a:extLst>
              <a:ext uri="{FF2B5EF4-FFF2-40B4-BE49-F238E27FC236}">
                <a16:creationId xmlns:a16="http://schemas.microsoft.com/office/drawing/2014/main" id="{895824D3-3339-6EE8-20D8-319B3942E4A7}"/>
              </a:ext>
            </a:extLst>
          </p:cNvPr>
          <p:cNvSpPr/>
          <p:nvPr/>
        </p:nvSpPr>
        <p:spPr>
          <a:xfrm>
            <a:off x="2240000" y="2200000"/>
            <a:ext cx="520000" cy="520000"/>
          </a:xfrm>
          <a:prstGeom prst="ellipse">
            <a:avLst/>
          </a:prstGeom>
          <a:solidFill>
            <a:srgbClr val="2F5597"/>
          </a:solidFill>
          <a:ln>
            <a:noFill/>
          </a:ln>
          <a:effectLst/>
        </p:spPr>
        <p:txBody>
          <a:bodyPr wrap="square" lIns="0" tIns="0" rIns="0" bIns="0" rtlCol="0" anchor="ctr">
            <a:noAutofit/>
          </a:bodyPr>
          <a:lstStyle/>
          <a:p>
            <a:pPr algn="ctr">
              <a:spcAft>
                <a:spcPts val="0"/>
              </a:spcAft>
              <a:buNone/>
            </a:pPr>
            <a:r>
              <a:rPr lang="en-US" sz="2000" b="1" i="0" dirty="0">
                <a:solidFill>
                  <a:srgbClr val="FFFFFF"/>
                </a:solidFill>
                <a:latin typeface="Times New Roman"/>
                <a:cs typeface="Times New Roman"/>
              </a:rPr>
              <a:t>1</a:t>
            </a:r>
          </a:p>
        </p:txBody>
      </p:sp>
      <p:sp>
        <p:nvSpPr>
          <p:cNvPr id="13" name="Step label 1">
            <a:extLst>
              <a:ext uri="{FF2B5EF4-FFF2-40B4-BE49-F238E27FC236}">
                <a16:creationId xmlns:a16="http://schemas.microsoft.com/office/drawing/2014/main" id="{4CB7A2C5-F9B8-0689-0BC6-BBBAD9618CF3}"/>
              </a:ext>
            </a:extLst>
          </p:cNvPr>
          <p:cNvSpPr txBox="1"/>
          <p:nvPr/>
        </p:nvSpPr>
        <p:spPr>
          <a:xfrm>
            <a:off x="1600000" y="2790000"/>
            <a:ext cx="1800000" cy="360000"/>
          </a:xfrm>
          <a:prstGeom prst="rect">
            <a:avLst/>
          </a:prstGeom>
          <a:noFill/>
        </p:spPr>
        <p:txBody>
          <a:bodyPr wrap="square" lIns="0" tIns="0" rIns="0" bIns="0" anchor="ctr">
            <a:noAutofit/>
          </a:bodyPr>
          <a:lstStyle/>
          <a:p>
            <a:pPr algn="ctr">
              <a:spcAft>
                <a:spcPts val="0"/>
              </a:spcAft>
              <a:buNone/>
            </a:pPr>
            <a:r>
              <a:rPr lang="en-US" sz="1800" b="1" i="0" dirty="0">
                <a:solidFill>
                  <a:srgbClr val="1A1A1A"/>
                </a:solidFill>
                <a:latin typeface="Times New Roman"/>
                <a:cs typeface="Times New Roman"/>
              </a:rPr>
              <a:t>Cases occur</a:t>
            </a:r>
          </a:p>
        </p:txBody>
      </p:sp>
      <p:sp>
        <p:nvSpPr>
          <p:cNvPr id="15" name="Step caption 1">
            <a:extLst>
              <a:ext uri="{FF2B5EF4-FFF2-40B4-BE49-F238E27FC236}">
                <a16:creationId xmlns:a16="http://schemas.microsoft.com/office/drawing/2014/main" id="{74394510-A2C4-85AD-FCC7-1475D0F9B630}"/>
              </a:ext>
            </a:extLst>
          </p:cNvPr>
          <p:cNvSpPr txBox="1"/>
          <p:nvPr/>
        </p:nvSpPr>
        <p:spPr>
          <a:xfrm>
            <a:off x="1600000" y="3160000"/>
            <a:ext cx="1800000" cy="560000"/>
          </a:xfrm>
          <a:prstGeom prst="rect">
            <a:avLst/>
          </a:prstGeom>
          <a:noFill/>
        </p:spPr>
        <p:txBody>
          <a:bodyPr wrap="square" lIns="0" tIns="0" rIns="0" bIns="0" anchor="t">
            <a:noAutofit/>
          </a:bodyPr>
          <a:lstStyle/>
          <a:p>
            <a:pPr algn="ctr">
              <a:spcAft>
                <a:spcPts val="0"/>
              </a:spcAft>
              <a:buNone/>
            </a:pPr>
            <a:r>
              <a:rPr lang="en-US" sz="1400" b="0" i="0" dirty="0">
                <a:solidFill>
                  <a:srgbClr val="4A4A4A"/>
                </a:solidFill>
                <a:latin typeface="Times New Roman"/>
                <a:cs typeface="Times New Roman"/>
              </a:rPr>
              <a:t>Infections spread in the community</a:t>
            </a:r>
          </a:p>
        </p:txBody>
      </p:sp>
      <p:sp>
        <p:nvSpPr>
          <p:cNvPr id="17" name="Arrow 1">
            <a:extLst>
              <a:ext uri="{FF2B5EF4-FFF2-40B4-BE49-F238E27FC236}">
                <a16:creationId xmlns:a16="http://schemas.microsoft.com/office/drawing/2014/main" id="{90905FE7-174A-06E8-DA08-A0DA2DFDAE18}"/>
              </a:ext>
            </a:extLst>
          </p:cNvPr>
          <p:cNvSpPr/>
          <p:nvPr/>
        </p:nvSpPr>
        <p:spPr>
          <a:xfrm>
            <a:off x="3530000" y="2805000"/>
            <a:ext cx="206000" cy="240000"/>
          </a:xfrm>
          <a:prstGeom prst="rightArrow">
            <a:avLst/>
          </a:prstGeom>
          <a:solidFill>
            <a:srgbClr val="2F5597"/>
          </a:solidFill>
          <a:ln>
            <a:noFill/>
          </a:ln>
          <a:effectLst/>
        </p:spPr>
        <p:txBody>
          <a:bodyPr wrap="square" lIns="60000" tIns="0" rIns="60000" bIns="0" rtlCol="0" anchor="ctr">
            <a:noAutofit/>
          </a:bodyPr>
          <a:lstStyle/>
          <a:p>
            <a:endParaRPr lang="en-US"/>
          </a:p>
        </p:txBody>
      </p:sp>
      <p:sp>
        <p:nvSpPr>
          <p:cNvPr id="19" name="Step card 2">
            <a:extLst>
              <a:ext uri="{FF2B5EF4-FFF2-40B4-BE49-F238E27FC236}">
                <a16:creationId xmlns:a16="http://schemas.microsoft.com/office/drawing/2014/main" id="{F31F5EDA-DF8A-CD34-CBFF-608E61B928AD}"/>
              </a:ext>
            </a:extLst>
          </p:cNvPr>
          <p:cNvSpPr/>
          <p:nvPr/>
        </p:nvSpPr>
        <p:spPr>
          <a:xfrm>
            <a:off x="3766667" y="2050000"/>
            <a:ext cx="2000000" cy="175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21" name="Step number 2">
            <a:extLst>
              <a:ext uri="{FF2B5EF4-FFF2-40B4-BE49-F238E27FC236}">
                <a16:creationId xmlns:a16="http://schemas.microsoft.com/office/drawing/2014/main" id="{3C73588B-E9EF-F1DE-CA7A-2999FDE51B97}"/>
              </a:ext>
            </a:extLst>
          </p:cNvPr>
          <p:cNvSpPr/>
          <p:nvPr/>
        </p:nvSpPr>
        <p:spPr>
          <a:xfrm>
            <a:off x="4506667" y="2200000"/>
            <a:ext cx="520000" cy="520000"/>
          </a:xfrm>
          <a:prstGeom prst="ellipse">
            <a:avLst/>
          </a:prstGeom>
          <a:solidFill>
            <a:srgbClr val="2F5597"/>
          </a:solidFill>
          <a:ln>
            <a:noFill/>
          </a:ln>
          <a:effectLst/>
        </p:spPr>
        <p:txBody>
          <a:bodyPr wrap="square" lIns="0" tIns="0" rIns="0" bIns="0" rtlCol="0" anchor="ctr">
            <a:noAutofit/>
          </a:bodyPr>
          <a:lstStyle/>
          <a:p>
            <a:pPr algn="ctr">
              <a:spcAft>
                <a:spcPts val="0"/>
              </a:spcAft>
              <a:buNone/>
            </a:pPr>
            <a:r>
              <a:rPr lang="en-US" sz="2000" b="1" i="0" dirty="0">
                <a:solidFill>
                  <a:srgbClr val="FFFFFF"/>
                </a:solidFill>
                <a:latin typeface="Times New Roman"/>
                <a:cs typeface="Times New Roman"/>
              </a:rPr>
              <a:t>2</a:t>
            </a:r>
          </a:p>
        </p:txBody>
      </p:sp>
      <p:sp>
        <p:nvSpPr>
          <p:cNvPr id="23" name="Step label 2">
            <a:extLst>
              <a:ext uri="{FF2B5EF4-FFF2-40B4-BE49-F238E27FC236}">
                <a16:creationId xmlns:a16="http://schemas.microsoft.com/office/drawing/2014/main" id="{A4282B3B-9DCE-84FB-16AB-03BF7DF8672A}"/>
              </a:ext>
            </a:extLst>
          </p:cNvPr>
          <p:cNvSpPr txBox="1"/>
          <p:nvPr/>
        </p:nvSpPr>
        <p:spPr>
          <a:xfrm>
            <a:off x="3866667" y="2790000"/>
            <a:ext cx="1800000" cy="360000"/>
          </a:xfrm>
          <a:prstGeom prst="rect">
            <a:avLst/>
          </a:prstGeom>
          <a:noFill/>
        </p:spPr>
        <p:txBody>
          <a:bodyPr wrap="square" lIns="0" tIns="0" rIns="0" bIns="0" anchor="ctr">
            <a:noAutofit/>
          </a:bodyPr>
          <a:lstStyle/>
          <a:p>
            <a:pPr algn="ctr">
              <a:spcAft>
                <a:spcPts val="0"/>
              </a:spcAft>
              <a:buNone/>
            </a:pPr>
            <a:r>
              <a:rPr lang="en-US" sz="1800" b="1" i="0" dirty="0">
                <a:solidFill>
                  <a:srgbClr val="1A1A1A"/>
                </a:solidFill>
                <a:latin typeface="Times New Roman"/>
                <a:cs typeface="Times New Roman"/>
              </a:rPr>
              <a:t>Patients present</a:t>
            </a:r>
          </a:p>
        </p:txBody>
      </p:sp>
      <p:sp>
        <p:nvSpPr>
          <p:cNvPr id="25" name="Step caption 2">
            <a:extLst>
              <a:ext uri="{FF2B5EF4-FFF2-40B4-BE49-F238E27FC236}">
                <a16:creationId xmlns:a16="http://schemas.microsoft.com/office/drawing/2014/main" id="{5F95403A-C439-54C3-20DA-C9722AFE50AE}"/>
              </a:ext>
            </a:extLst>
          </p:cNvPr>
          <p:cNvSpPr txBox="1"/>
          <p:nvPr/>
        </p:nvSpPr>
        <p:spPr>
          <a:xfrm>
            <a:off x="3866667" y="3160000"/>
            <a:ext cx="1800000" cy="560000"/>
          </a:xfrm>
          <a:prstGeom prst="rect">
            <a:avLst/>
          </a:prstGeom>
          <a:noFill/>
        </p:spPr>
        <p:txBody>
          <a:bodyPr wrap="square" lIns="0" tIns="0" rIns="0" bIns="0" anchor="t">
            <a:noAutofit/>
          </a:bodyPr>
          <a:lstStyle/>
          <a:p>
            <a:pPr algn="ctr">
              <a:spcAft>
                <a:spcPts val="0"/>
              </a:spcAft>
              <a:buNone/>
            </a:pPr>
            <a:r>
              <a:rPr lang="en-US" sz="1400" b="0" i="0" dirty="0">
                <a:solidFill>
                  <a:srgbClr val="4A4A4A"/>
                </a:solidFill>
                <a:latin typeface="Times New Roman"/>
                <a:cs typeface="Times New Roman"/>
              </a:rPr>
              <a:t>People seek care and are diagnosed</a:t>
            </a:r>
          </a:p>
        </p:txBody>
      </p:sp>
      <p:sp>
        <p:nvSpPr>
          <p:cNvPr id="27" name="Arrow 2">
            <a:extLst>
              <a:ext uri="{FF2B5EF4-FFF2-40B4-BE49-F238E27FC236}">
                <a16:creationId xmlns:a16="http://schemas.microsoft.com/office/drawing/2014/main" id="{023E01DA-33B6-84BC-0417-4652B3CFC666}"/>
              </a:ext>
            </a:extLst>
          </p:cNvPr>
          <p:cNvSpPr/>
          <p:nvPr/>
        </p:nvSpPr>
        <p:spPr>
          <a:xfrm>
            <a:off x="5796667" y="2805000"/>
            <a:ext cx="206000" cy="240000"/>
          </a:xfrm>
          <a:prstGeom prst="rightArrow">
            <a:avLst/>
          </a:prstGeom>
          <a:solidFill>
            <a:srgbClr val="2F5597"/>
          </a:solidFill>
          <a:ln>
            <a:noFill/>
          </a:ln>
          <a:effectLst/>
        </p:spPr>
        <p:txBody>
          <a:bodyPr wrap="square" lIns="60000" tIns="0" rIns="60000" bIns="0" rtlCol="0" anchor="ctr">
            <a:noAutofit/>
          </a:bodyPr>
          <a:lstStyle/>
          <a:p>
            <a:endParaRPr lang="en-US"/>
          </a:p>
        </p:txBody>
      </p:sp>
      <p:sp>
        <p:nvSpPr>
          <p:cNvPr id="29" name="Step card 3">
            <a:extLst>
              <a:ext uri="{FF2B5EF4-FFF2-40B4-BE49-F238E27FC236}">
                <a16:creationId xmlns:a16="http://schemas.microsoft.com/office/drawing/2014/main" id="{698CB821-EF32-16CA-7BD3-8849EB42DF95}"/>
              </a:ext>
            </a:extLst>
          </p:cNvPr>
          <p:cNvSpPr/>
          <p:nvPr/>
        </p:nvSpPr>
        <p:spPr>
          <a:xfrm>
            <a:off x="6033334" y="2050000"/>
            <a:ext cx="2000000" cy="175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31" name="Step number 3">
            <a:extLst>
              <a:ext uri="{FF2B5EF4-FFF2-40B4-BE49-F238E27FC236}">
                <a16:creationId xmlns:a16="http://schemas.microsoft.com/office/drawing/2014/main" id="{E457A8DC-85A2-244E-9F70-1099901CA12C}"/>
              </a:ext>
            </a:extLst>
          </p:cNvPr>
          <p:cNvSpPr/>
          <p:nvPr/>
        </p:nvSpPr>
        <p:spPr>
          <a:xfrm>
            <a:off x="6773334" y="2200000"/>
            <a:ext cx="520000" cy="520000"/>
          </a:xfrm>
          <a:prstGeom prst="ellipse">
            <a:avLst/>
          </a:prstGeom>
          <a:solidFill>
            <a:srgbClr val="2F5597"/>
          </a:solidFill>
          <a:ln>
            <a:noFill/>
          </a:ln>
          <a:effectLst/>
        </p:spPr>
        <p:txBody>
          <a:bodyPr wrap="square" lIns="0" tIns="0" rIns="0" bIns="0" rtlCol="0" anchor="ctr">
            <a:noAutofit/>
          </a:bodyPr>
          <a:lstStyle/>
          <a:p>
            <a:pPr algn="ctr">
              <a:spcAft>
                <a:spcPts val="0"/>
              </a:spcAft>
              <a:buNone/>
            </a:pPr>
            <a:r>
              <a:rPr lang="en-US" sz="2000" b="1" i="0" dirty="0">
                <a:solidFill>
                  <a:srgbClr val="FFFFFF"/>
                </a:solidFill>
                <a:latin typeface="Times New Roman"/>
                <a:cs typeface="Times New Roman"/>
              </a:rPr>
              <a:t>3</a:t>
            </a:r>
          </a:p>
        </p:txBody>
      </p:sp>
      <p:sp>
        <p:nvSpPr>
          <p:cNvPr id="33" name="Step label 3">
            <a:extLst>
              <a:ext uri="{FF2B5EF4-FFF2-40B4-BE49-F238E27FC236}">
                <a16:creationId xmlns:a16="http://schemas.microsoft.com/office/drawing/2014/main" id="{4E6AB4A1-8F00-8646-DF24-AC2400D0F472}"/>
              </a:ext>
            </a:extLst>
          </p:cNvPr>
          <p:cNvSpPr txBox="1"/>
          <p:nvPr/>
        </p:nvSpPr>
        <p:spPr>
          <a:xfrm>
            <a:off x="6133334" y="2790000"/>
            <a:ext cx="1800000" cy="360000"/>
          </a:xfrm>
          <a:prstGeom prst="rect">
            <a:avLst/>
          </a:prstGeom>
          <a:noFill/>
        </p:spPr>
        <p:txBody>
          <a:bodyPr wrap="square" lIns="0" tIns="0" rIns="0" bIns="0" anchor="ctr">
            <a:noAutofit/>
          </a:bodyPr>
          <a:lstStyle/>
          <a:p>
            <a:pPr algn="ctr">
              <a:spcAft>
                <a:spcPts val="0"/>
              </a:spcAft>
              <a:buNone/>
            </a:pPr>
            <a:r>
              <a:rPr lang="en-US" sz="1800" b="1" i="0" dirty="0">
                <a:solidFill>
                  <a:srgbClr val="1A1A1A"/>
                </a:solidFill>
                <a:latin typeface="Times New Roman"/>
                <a:cs typeface="Times New Roman"/>
              </a:rPr>
              <a:t>Cases recorded</a:t>
            </a:r>
          </a:p>
        </p:txBody>
      </p:sp>
      <p:sp>
        <p:nvSpPr>
          <p:cNvPr id="35" name="Step caption 3">
            <a:extLst>
              <a:ext uri="{FF2B5EF4-FFF2-40B4-BE49-F238E27FC236}">
                <a16:creationId xmlns:a16="http://schemas.microsoft.com/office/drawing/2014/main" id="{FEAA4F50-FB5B-1808-1DA1-6BEF094F2E00}"/>
              </a:ext>
            </a:extLst>
          </p:cNvPr>
          <p:cNvSpPr txBox="1"/>
          <p:nvPr/>
        </p:nvSpPr>
        <p:spPr>
          <a:xfrm>
            <a:off x="6133334" y="3160000"/>
            <a:ext cx="1800000" cy="560000"/>
          </a:xfrm>
          <a:prstGeom prst="rect">
            <a:avLst/>
          </a:prstGeom>
          <a:noFill/>
        </p:spPr>
        <p:txBody>
          <a:bodyPr wrap="square" lIns="0" tIns="0" rIns="0" bIns="0" anchor="t">
            <a:noAutofit/>
          </a:bodyPr>
          <a:lstStyle/>
          <a:p>
            <a:pPr algn="ctr">
              <a:spcAft>
                <a:spcPts val="0"/>
              </a:spcAft>
              <a:buNone/>
            </a:pPr>
            <a:r>
              <a:rPr lang="en-US" sz="1400" b="0" i="0" dirty="0">
                <a:solidFill>
                  <a:srgbClr val="4A4A4A"/>
                </a:solidFill>
                <a:latin typeface="Times New Roman"/>
                <a:cs typeface="Times New Roman"/>
              </a:rPr>
              <a:t>Counted in DOH surveillance (PIDSR)</a:t>
            </a:r>
          </a:p>
        </p:txBody>
      </p:sp>
      <p:sp>
        <p:nvSpPr>
          <p:cNvPr id="37" name="Arrow 3">
            <a:extLst>
              <a:ext uri="{FF2B5EF4-FFF2-40B4-BE49-F238E27FC236}">
                <a16:creationId xmlns:a16="http://schemas.microsoft.com/office/drawing/2014/main" id="{E5D93E86-330A-3112-04E5-3A44E529B850}"/>
              </a:ext>
            </a:extLst>
          </p:cNvPr>
          <p:cNvSpPr/>
          <p:nvPr/>
        </p:nvSpPr>
        <p:spPr>
          <a:xfrm>
            <a:off x="8063334" y="2805000"/>
            <a:ext cx="206000" cy="240000"/>
          </a:xfrm>
          <a:prstGeom prst="rightArrow">
            <a:avLst/>
          </a:prstGeom>
          <a:solidFill>
            <a:srgbClr val="2F5597"/>
          </a:solidFill>
          <a:ln>
            <a:noFill/>
          </a:ln>
          <a:effectLst/>
        </p:spPr>
        <p:txBody>
          <a:bodyPr wrap="square" lIns="60000" tIns="0" rIns="60000" bIns="0" rtlCol="0" anchor="ctr">
            <a:noAutofit/>
          </a:bodyPr>
          <a:lstStyle/>
          <a:p>
            <a:endParaRPr lang="en-US"/>
          </a:p>
        </p:txBody>
      </p:sp>
      <p:sp>
        <p:nvSpPr>
          <p:cNvPr id="39" name="Step card 4">
            <a:extLst>
              <a:ext uri="{FF2B5EF4-FFF2-40B4-BE49-F238E27FC236}">
                <a16:creationId xmlns:a16="http://schemas.microsoft.com/office/drawing/2014/main" id="{2DE68E00-6506-40F9-A26A-B3A6D5CFBA99}"/>
              </a:ext>
            </a:extLst>
          </p:cNvPr>
          <p:cNvSpPr/>
          <p:nvPr/>
        </p:nvSpPr>
        <p:spPr>
          <a:xfrm>
            <a:off x="8300001" y="2050000"/>
            <a:ext cx="2000000" cy="1750000"/>
          </a:xfrm>
          <a:prstGeom prst="roundRect">
            <a:avLst>
              <a:gd name="adj" fmla="val 6000"/>
            </a:avLst>
          </a:prstGeom>
          <a:solidFill>
            <a:srgbClr val="FDECEA"/>
          </a:solidFill>
          <a:ln w="12700">
            <a:solidFill>
              <a:srgbClr val="C62828"/>
            </a:solidFill>
          </a:ln>
          <a:effectLst/>
        </p:spPr>
        <p:txBody>
          <a:bodyPr wrap="square" lIns="60000" tIns="0" rIns="60000" bIns="0" rtlCol="0" anchor="ctr">
            <a:noAutofit/>
          </a:bodyPr>
          <a:lstStyle/>
          <a:p>
            <a:endParaRPr lang="en-US"/>
          </a:p>
        </p:txBody>
      </p:sp>
      <p:sp>
        <p:nvSpPr>
          <p:cNvPr id="41" name="Step number 4">
            <a:extLst>
              <a:ext uri="{FF2B5EF4-FFF2-40B4-BE49-F238E27FC236}">
                <a16:creationId xmlns:a16="http://schemas.microsoft.com/office/drawing/2014/main" id="{29880162-451A-ACE3-E94B-115E9F1E5030}"/>
              </a:ext>
            </a:extLst>
          </p:cNvPr>
          <p:cNvSpPr/>
          <p:nvPr/>
        </p:nvSpPr>
        <p:spPr>
          <a:xfrm>
            <a:off x="9040001" y="2200000"/>
            <a:ext cx="520000" cy="520000"/>
          </a:xfrm>
          <a:prstGeom prst="ellipse">
            <a:avLst/>
          </a:prstGeom>
          <a:solidFill>
            <a:srgbClr val="C62828"/>
          </a:solidFill>
          <a:ln>
            <a:noFill/>
          </a:ln>
          <a:effectLst/>
        </p:spPr>
        <p:txBody>
          <a:bodyPr wrap="square" lIns="0" tIns="0" rIns="0" bIns="0" rtlCol="0" anchor="ctr">
            <a:noAutofit/>
          </a:bodyPr>
          <a:lstStyle/>
          <a:p>
            <a:pPr algn="ctr">
              <a:spcAft>
                <a:spcPts val="0"/>
              </a:spcAft>
              <a:buNone/>
            </a:pPr>
            <a:r>
              <a:rPr lang="en-US" sz="2000" b="1" i="0" dirty="0">
                <a:solidFill>
                  <a:srgbClr val="FFFFFF"/>
                </a:solidFill>
                <a:latin typeface="Times New Roman"/>
                <a:cs typeface="Times New Roman"/>
              </a:rPr>
              <a:t>4</a:t>
            </a:r>
          </a:p>
        </p:txBody>
      </p:sp>
      <p:sp>
        <p:nvSpPr>
          <p:cNvPr id="43" name="Step label 4">
            <a:extLst>
              <a:ext uri="{FF2B5EF4-FFF2-40B4-BE49-F238E27FC236}">
                <a16:creationId xmlns:a16="http://schemas.microsoft.com/office/drawing/2014/main" id="{71BB4661-907A-8211-CBA4-73A324503064}"/>
              </a:ext>
            </a:extLst>
          </p:cNvPr>
          <p:cNvSpPr txBox="1"/>
          <p:nvPr/>
        </p:nvSpPr>
        <p:spPr>
          <a:xfrm>
            <a:off x="8400001" y="2790000"/>
            <a:ext cx="1800000" cy="360000"/>
          </a:xfrm>
          <a:prstGeom prst="rect">
            <a:avLst/>
          </a:prstGeom>
          <a:noFill/>
        </p:spPr>
        <p:txBody>
          <a:bodyPr wrap="square" lIns="0" tIns="0" rIns="0" bIns="0" anchor="ctr">
            <a:noAutofit/>
          </a:bodyPr>
          <a:lstStyle/>
          <a:p>
            <a:pPr algn="ctr">
              <a:spcAft>
                <a:spcPts val="0"/>
              </a:spcAft>
              <a:buNone/>
            </a:pPr>
            <a:r>
              <a:rPr lang="en-US" sz="1800" b="1" i="0" dirty="0">
                <a:solidFill>
                  <a:srgbClr val="1A1A1A"/>
                </a:solidFill>
                <a:latin typeface="Times New Roman"/>
                <a:cs typeface="Times New Roman"/>
              </a:rPr>
              <a:t>Offices learn</a:t>
            </a:r>
          </a:p>
        </p:txBody>
      </p:sp>
      <p:sp>
        <p:nvSpPr>
          <p:cNvPr id="45" name="Step caption 4">
            <a:extLst>
              <a:ext uri="{FF2B5EF4-FFF2-40B4-BE49-F238E27FC236}">
                <a16:creationId xmlns:a16="http://schemas.microsoft.com/office/drawing/2014/main" id="{A9E70F8C-00B2-1E90-6499-5125EF1F3C91}"/>
              </a:ext>
            </a:extLst>
          </p:cNvPr>
          <p:cNvSpPr txBox="1"/>
          <p:nvPr/>
        </p:nvSpPr>
        <p:spPr>
          <a:xfrm>
            <a:off x="8400001" y="3160000"/>
            <a:ext cx="1800000" cy="560000"/>
          </a:xfrm>
          <a:prstGeom prst="rect">
            <a:avLst/>
          </a:prstGeom>
          <a:noFill/>
        </p:spPr>
        <p:txBody>
          <a:bodyPr wrap="square" lIns="0" tIns="0" rIns="0" bIns="0" anchor="t">
            <a:noAutofit/>
          </a:bodyPr>
          <a:lstStyle/>
          <a:p>
            <a:pPr algn="ctr">
              <a:spcAft>
                <a:spcPts val="0"/>
              </a:spcAft>
              <a:buNone/>
            </a:pPr>
            <a:r>
              <a:rPr lang="en-US" sz="1400" b="0" i="0" dirty="0">
                <a:solidFill>
                  <a:srgbClr val="4A4A4A"/>
                </a:solidFill>
                <a:latin typeface="Times New Roman"/>
                <a:cs typeface="Times New Roman"/>
              </a:rPr>
              <a:t>The surge is already under way</a:t>
            </a:r>
          </a:p>
        </p:txBody>
      </p:sp>
      <p:sp>
        <p:nvSpPr>
          <p:cNvPr id="47" name="Compare card 1">
            <a:extLst>
              <a:ext uri="{FF2B5EF4-FFF2-40B4-BE49-F238E27FC236}">
                <a16:creationId xmlns:a16="http://schemas.microsoft.com/office/drawing/2014/main" id="{08B88C93-1314-9FBE-C81B-1F767E49E8BC}"/>
              </a:ext>
            </a:extLst>
          </p:cNvPr>
          <p:cNvSpPr/>
          <p:nvPr/>
        </p:nvSpPr>
        <p:spPr>
          <a:xfrm>
            <a:off x="1500000" y="4050000"/>
            <a:ext cx="4300000" cy="175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49" name="Compare pill 1">
            <a:extLst>
              <a:ext uri="{FF2B5EF4-FFF2-40B4-BE49-F238E27FC236}">
                <a16:creationId xmlns:a16="http://schemas.microsoft.com/office/drawing/2014/main" id="{FF05F287-7B93-D034-D8BC-EA40FAC7F96E}"/>
              </a:ext>
            </a:extLst>
          </p:cNvPr>
          <p:cNvSpPr/>
          <p:nvPr/>
        </p:nvSpPr>
        <p:spPr>
          <a:xfrm>
            <a:off x="1700000" y="4220000"/>
            <a:ext cx="2300000" cy="380000"/>
          </a:xfrm>
          <a:prstGeom prst="roundRect">
            <a:avLst>
              <a:gd name="adj" fmla="val 50000"/>
            </a:avLst>
          </a:prstGeom>
          <a:solidFill>
            <a:srgbClr val="C62828"/>
          </a:solidFill>
          <a:ln>
            <a:noFill/>
          </a:ln>
          <a:effectLst/>
        </p:spPr>
        <p:txBody>
          <a:bodyPr wrap="square" lIns="60000" tIns="0" rIns="60000" bIns="0" rtlCol="0" anchor="ctr">
            <a:noAutofit/>
          </a:bodyPr>
          <a:lstStyle/>
          <a:p>
            <a:pPr algn="ctr">
              <a:spcAft>
                <a:spcPts val="0"/>
              </a:spcAft>
              <a:buNone/>
            </a:pPr>
            <a:r>
              <a:rPr lang="en-US" sz="1600" b="1" i="0" dirty="0">
                <a:solidFill>
                  <a:srgbClr val="FFFFFF"/>
                </a:solidFill>
                <a:latin typeface="Times New Roman"/>
                <a:cs typeface="Times New Roman"/>
              </a:rPr>
              <a:t>Today: a report</a:t>
            </a:r>
          </a:p>
        </p:txBody>
      </p:sp>
      <p:sp>
        <p:nvSpPr>
          <p:cNvPr id="51" name="Compare text 1">
            <a:extLst>
              <a:ext uri="{FF2B5EF4-FFF2-40B4-BE49-F238E27FC236}">
                <a16:creationId xmlns:a16="http://schemas.microsoft.com/office/drawing/2014/main" id="{46E334EF-6C9F-3A72-7654-1119B1430FEC}"/>
              </a:ext>
            </a:extLst>
          </p:cNvPr>
          <p:cNvSpPr txBox="1"/>
          <p:nvPr/>
        </p:nvSpPr>
        <p:spPr>
          <a:xfrm>
            <a:off x="1700000" y="4750000"/>
            <a:ext cx="3900000" cy="950000"/>
          </a:xfrm>
          <a:prstGeom prst="rect">
            <a:avLst/>
          </a:prstGeom>
          <a:noFill/>
        </p:spPr>
        <p:txBody>
          <a:bodyPr wrap="square" lIns="0" tIns="0" rIns="0" bIns="0" anchor="t">
            <a:noAutofit/>
          </a:bodyPr>
          <a:lstStyle/>
          <a:p>
            <a:pPr algn="l">
              <a:spcAft>
                <a:spcPts val="0"/>
              </a:spcAft>
              <a:buNone/>
            </a:pPr>
            <a:r>
              <a:rPr lang="en-US" sz="1700" b="0" i="0" dirty="0">
                <a:solidFill>
                  <a:srgbClr val="1A1A1A"/>
                </a:solidFill>
                <a:latin typeface="Times New Roman"/>
                <a:cs typeface="Times New Roman"/>
              </a:rPr>
              <a:t>Counts of cases that have already happened, so a surge is recognized only after it is recorded.</a:t>
            </a:r>
          </a:p>
        </p:txBody>
      </p:sp>
      <p:sp>
        <p:nvSpPr>
          <p:cNvPr id="53" name="Compare card 2">
            <a:extLst>
              <a:ext uri="{FF2B5EF4-FFF2-40B4-BE49-F238E27FC236}">
                <a16:creationId xmlns:a16="http://schemas.microsoft.com/office/drawing/2014/main" id="{3F4A9D06-6F1C-D947-011D-87A9C5825DBC}"/>
              </a:ext>
            </a:extLst>
          </p:cNvPr>
          <p:cNvSpPr/>
          <p:nvPr/>
        </p:nvSpPr>
        <p:spPr>
          <a:xfrm>
            <a:off x="6000000" y="4050000"/>
            <a:ext cx="4300000" cy="175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55" name="Compare pill 2">
            <a:extLst>
              <a:ext uri="{FF2B5EF4-FFF2-40B4-BE49-F238E27FC236}">
                <a16:creationId xmlns:a16="http://schemas.microsoft.com/office/drawing/2014/main" id="{50AC0753-514A-E5E2-BEF8-92F29126A99E}"/>
              </a:ext>
            </a:extLst>
          </p:cNvPr>
          <p:cNvSpPr/>
          <p:nvPr/>
        </p:nvSpPr>
        <p:spPr>
          <a:xfrm>
            <a:off x="6200000" y="4220000"/>
            <a:ext cx="2300000" cy="380000"/>
          </a:xfrm>
          <a:prstGeom prst="roundRect">
            <a:avLst>
              <a:gd name="adj" fmla="val 50000"/>
            </a:avLst>
          </a:prstGeom>
          <a:solidFill>
            <a:srgbClr val="2E7D32"/>
          </a:solidFill>
          <a:ln>
            <a:noFill/>
          </a:ln>
          <a:effectLst/>
        </p:spPr>
        <p:txBody>
          <a:bodyPr wrap="square" lIns="60000" tIns="0" rIns="60000" bIns="0" rtlCol="0" anchor="ctr">
            <a:noAutofit/>
          </a:bodyPr>
          <a:lstStyle/>
          <a:p>
            <a:pPr algn="ctr">
              <a:spcAft>
                <a:spcPts val="0"/>
              </a:spcAft>
              <a:buNone/>
            </a:pPr>
            <a:r>
              <a:rPr lang="en-US" sz="1600" b="1" i="0" dirty="0">
                <a:solidFill>
                  <a:srgbClr val="FFFFFF"/>
                </a:solidFill>
                <a:latin typeface="Times New Roman"/>
                <a:cs typeface="Times New Roman"/>
              </a:rPr>
              <a:t>Needed: a forecast</a:t>
            </a:r>
          </a:p>
        </p:txBody>
      </p:sp>
      <p:sp>
        <p:nvSpPr>
          <p:cNvPr id="57" name="Compare text 2">
            <a:extLst>
              <a:ext uri="{FF2B5EF4-FFF2-40B4-BE49-F238E27FC236}">
                <a16:creationId xmlns:a16="http://schemas.microsoft.com/office/drawing/2014/main" id="{29C3098F-A2DF-F857-65FB-4F1D7FECE7EF}"/>
              </a:ext>
            </a:extLst>
          </p:cNvPr>
          <p:cNvSpPr txBox="1"/>
          <p:nvPr/>
        </p:nvSpPr>
        <p:spPr>
          <a:xfrm>
            <a:off x="6200000" y="4750000"/>
            <a:ext cx="3900000" cy="950000"/>
          </a:xfrm>
          <a:prstGeom prst="rect">
            <a:avLst/>
          </a:prstGeom>
          <a:noFill/>
        </p:spPr>
        <p:txBody>
          <a:bodyPr wrap="square" lIns="0" tIns="0" rIns="0" bIns="0" anchor="t">
            <a:noAutofit/>
          </a:bodyPr>
          <a:lstStyle/>
          <a:p>
            <a:pPr algn="l">
              <a:spcAft>
                <a:spcPts val="0"/>
              </a:spcAft>
              <a:buNone/>
            </a:pPr>
            <a:r>
              <a:rPr lang="en-US" sz="1700" b="0" i="0" dirty="0">
                <a:solidFill>
                  <a:srgbClr val="1A1A1A"/>
                </a:solidFill>
                <a:latin typeface="Times New Roman"/>
                <a:cs typeface="Times New Roman"/>
              </a:rPr>
              <a:t>Cases expected two weeks ahead, so offices can fog and clean breeding sites before a surge.</a:t>
            </a:r>
          </a:p>
        </p:txBody>
      </p:sp>
    </p:spTree>
    <p:extLst>
      <p:ext uri="{BB962C8B-B14F-4D97-AF65-F5344CB8AC3E}">
        <p14:creationId xmlns:p14="http://schemas.microsoft.com/office/powerpoint/2010/main" val="1952631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2CF0C-11FF-2219-AB03-5B21C96D405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E167257-6986-E1DF-F2C4-5182385FE4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Slide Title">
            <a:extLst>
              <a:ext uri="{FF2B5EF4-FFF2-40B4-BE49-F238E27FC236}">
                <a16:creationId xmlns:a16="http://schemas.microsoft.com/office/drawing/2014/main" id="{D0E2887C-24FF-8DAF-D183-7E316617CECC}"/>
              </a:ext>
            </a:extLst>
          </p:cNvPr>
          <p:cNvSpPr txBox="1"/>
          <p:nvPr/>
        </p:nvSpPr>
        <p:spPr>
          <a:xfrm>
            <a:off x="1500000" y="540000"/>
            <a:ext cx="8800000" cy="900000"/>
          </a:xfrm>
          <a:prstGeom prst="rect">
            <a:avLst/>
          </a:prstGeom>
          <a:noFill/>
        </p:spPr>
        <p:txBody>
          <a:bodyPr wrap="square" lIns="0" tIns="0" rIns="0" bIns="0" anchor="b">
            <a:noAutofit/>
          </a:bodyPr>
          <a:lstStyle/>
          <a:p>
            <a:pPr algn="l">
              <a:spcAft>
                <a:spcPts val="0"/>
              </a:spcAft>
              <a:buNone/>
            </a:pPr>
            <a:r>
              <a:rPr lang="en-US" sz="2800" b="1" i="0" dirty="0">
                <a:solidFill>
                  <a:srgbClr val="1A1A1A"/>
                </a:solidFill>
                <a:latin typeface="Times New Roman"/>
                <a:cs typeface="Times New Roman"/>
              </a:rPr>
              <a:t>Statement of the Problem</a:t>
            </a:r>
          </a:p>
        </p:txBody>
      </p:sp>
      <p:sp>
        <p:nvSpPr>
          <p:cNvPr id="7" name="Slide Subtitle">
            <a:extLst>
              <a:ext uri="{FF2B5EF4-FFF2-40B4-BE49-F238E27FC236}">
                <a16:creationId xmlns:a16="http://schemas.microsoft.com/office/drawing/2014/main" id="{C8E9CEFD-8906-2BFE-D45C-8ED1A42300F0}"/>
              </a:ext>
            </a:extLst>
          </p:cNvPr>
          <p:cNvSpPr txBox="1"/>
          <p:nvPr/>
        </p:nvSpPr>
        <p:spPr>
          <a:xfrm>
            <a:off x="1500000" y="1500000"/>
            <a:ext cx="8800000" cy="340000"/>
          </a:xfrm>
          <a:prstGeom prst="rect">
            <a:avLst/>
          </a:prstGeom>
          <a:noFill/>
        </p:spPr>
        <p:txBody>
          <a:bodyPr wrap="square" lIns="0" tIns="0" rIns="0" bIns="0" anchor="t">
            <a:noAutofit/>
          </a:bodyPr>
          <a:lstStyle/>
          <a:p>
            <a:pPr algn="l">
              <a:spcAft>
                <a:spcPts val="0"/>
              </a:spcAft>
              <a:buNone/>
            </a:pPr>
            <a:r>
              <a:rPr lang="en-US" sz="1800" b="1" i="0" dirty="0">
                <a:solidFill>
                  <a:srgbClr val="2F5597"/>
                </a:solidFill>
                <a:latin typeface="Times New Roman"/>
                <a:cs typeface="Times New Roman"/>
              </a:rPr>
              <a:t>City totals can multiply from one year to the next</a:t>
            </a:r>
          </a:p>
        </p:txBody>
      </p:sp>
      <p:sp>
        <p:nvSpPr>
          <p:cNvPr id="9" name="City card 1">
            <a:extLst>
              <a:ext uri="{FF2B5EF4-FFF2-40B4-BE49-F238E27FC236}">
                <a16:creationId xmlns:a16="http://schemas.microsoft.com/office/drawing/2014/main" id="{947129F8-38F7-9014-CCE6-FE13AE139497}"/>
              </a:ext>
            </a:extLst>
          </p:cNvPr>
          <p:cNvSpPr/>
          <p:nvPr/>
        </p:nvSpPr>
        <p:spPr>
          <a:xfrm>
            <a:off x="1500000" y="2000000"/>
            <a:ext cx="8800000" cy="175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11" name="City pill 1">
            <a:extLst>
              <a:ext uri="{FF2B5EF4-FFF2-40B4-BE49-F238E27FC236}">
                <a16:creationId xmlns:a16="http://schemas.microsoft.com/office/drawing/2014/main" id="{59C51198-8745-7B7F-DBF1-67777729C044}"/>
              </a:ext>
            </a:extLst>
          </p:cNvPr>
          <p:cNvSpPr/>
          <p:nvPr/>
        </p:nvSpPr>
        <p:spPr>
          <a:xfrm>
            <a:off x="1700000" y="2130000"/>
            <a:ext cx="2500000" cy="360000"/>
          </a:xfrm>
          <a:prstGeom prst="roundRect">
            <a:avLst>
              <a:gd name="adj" fmla="val 50000"/>
            </a:avLst>
          </a:prstGeom>
          <a:solidFill>
            <a:srgbClr val="2F5597"/>
          </a:solidFill>
          <a:ln>
            <a:noFill/>
          </a:ln>
          <a:effectLst/>
        </p:spPr>
        <p:txBody>
          <a:bodyPr wrap="square" lIns="60000" tIns="0" rIns="60000" bIns="0" rtlCol="0" anchor="ctr">
            <a:noAutofit/>
          </a:bodyPr>
          <a:lstStyle/>
          <a:p>
            <a:pPr algn="ctr">
              <a:spcAft>
                <a:spcPts val="0"/>
              </a:spcAft>
              <a:buNone/>
            </a:pPr>
            <a:r>
              <a:rPr lang="en-US" sz="1600" b="1" i="0" dirty="0">
                <a:solidFill>
                  <a:srgbClr val="FFFFFF"/>
                </a:solidFill>
                <a:latin typeface="Times New Roman"/>
                <a:cs typeface="Times New Roman"/>
              </a:rPr>
              <a:t>Zamboanga City</a:t>
            </a:r>
          </a:p>
        </p:txBody>
      </p:sp>
      <p:sp>
        <p:nvSpPr>
          <p:cNvPr id="13" name="Year 2018 Zamboanga City">
            <a:extLst>
              <a:ext uri="{FF2B5EF4-FFF2-40B4-BE49-F238E27FC236}">
                <a16:creationId xmlns:a16="http://schemas.microsoft.com/office/drawing/2014/main" id="{A8596542-97CF-9FBF-22B8-AF2227F82AA4}"/>
              </a:ext>
            </a:extLst>
          </p:cNvPr>
          <p:cNvSpPr txBox="1"/>
          <p:nvPr/>
        </p:nvSpPr>
        <p:spPr>
          <a:xfrm>
            <a:off x="1750000" y="2640000"/>
            <a:ext cx="750000" cy="360000"/>
          </a:xfrm>
          <a:prstGeom prst="rect">
            <a:avLst/>
          </a:prstGeom>
          <a:noFill/>
        </p:spPr>
        <p:txBody>
          <a:bodyPr wrap="square" lIns="0" tIns="0" rIns="0" bIns="0" anchor="ctr">
            <a:noAutofit/>
          </a:bodyPr>
          <a:lstStyle/>
          <a:p>
            <a:pPr algn="l">
              <a:spcAft>
                <a:spcPts val="0"/>
              </a:spcAft>
              <a:buNone/>
            </a:pPr>
            <a:r>
              <a:rPr lang="en-US" sz="1600" b="0" i="0" dirty="0">
                <a:solidFill>
                  <a:srgbClr val="4A4A4A"/>
                </a:solidFill>
                <a:latin typeface="Times New Roman"/>
                <a:cs typeface="Times New Roman"/>
              </a:rPr>
              <a:t>2018</a:t>
            </a:r>
          </a:p>
        </p:txBody>
      </p:sp>
      <p:sp>
        <p:nvSpPr>
          <p:cNvPr id="15" name="Bar 2018 Zamboanga City">
            <a:extLst>
              <a:ext uri="{FF2B5EF4-FFF2-40B4-BE49-F238E27FC236}">
                <a16:creationId xmlns:a16="http://schemas.microsoft.com/office/drawing/2014/main" id="{6C0DD182-07EA-CE71-16B0-2625121AE80B}"/>
              </a:ext>
            </a:extLst>
          </p:cNvPr>
          <p:cNvSpPr/>
          <p:nvPr/>
        </p:nvSpPr>
        <p:spPr>
          <a:xfrm>
            <a:off x="2550000" y="2640000"/>
            <a:ext cx="739728" cy="360000"/>
          </a:xfrm>
          <a:prstGeom prst="rect">
            <a:avLst/>
          </a:prstGeom>
          <a:solidFill>
            <a:srgbClr val="A9BDE0"/>
          </a:solidFill>
          <a:ln>
            <a:noFill/>
          </a:ln>
          <a:effectLst/>
        </p:spPr>
        <p:txBody>
          <a:bodyPr wrap="square" lIns="60000" tIns="0" rIns="60000" bIns="0" rtlCol="0" anchor="ctr">
            <a:noAutofit/>
          </a:bodyPr>
          <a:lstStyle/>
          <a:p>
            <a:endParaRPr lang="en-US"/>
          </a:p>
        </p:txBody>
      </p:sp>
      <p:sp>
        <p:nvSpPr>
          <p:cNvPr id="17" name="Value 2018 Zamboanga City">
            <a:extLst>
              <a:ext uri="{FF2B5EF4-FFF2-40B4-BE49-F238E27FC236}">
                <a16:creationId xmlns:a16="http://schemas.microsoft.com/office/drawing/2014/main" id="{E6C4CB09-21D1-81BA-93C8-A77FEED5FA2B}"/>
              </a:ext>
            </a:extLst>
          </p:cNvPr>
          <p:cNvSpPr txBox="1"/>
          <p:nvPr/>
        </p:nvSpPr>
        <p:spPr>
          <a:xfrm>
            <a:off x="3409728" y="2640000"/>
            <a:ext cx="1200000" cy="360000"/>
          </a:xfrm>
          <a:prstGeom prst="rect">
            <a:avLst/>
          </a:prstGeom>
          <a:noFill/>
        </p:spPr>
        <p:txBody>
          <a:bodyPr wrap="square" lIns="0" tIns="0" rIns="0" bIns="0" anchor="ctr">
            <a:noAutofit/>
          </a:bodyPr>
          <a:lstStyle/>
          <a:p>
            <a:pPr algn="l">
              <a:spcAft>
                <a:spcPts val="0"/>
              </a:spcAft>
              <a:buNone/>
            </a:pPr>
            <a:r>
              <a:rPr lang="en-US" sz="1800" b="1" i="0" dirty="0">
                <a:solidFill>
                  <a:srgbClr val="1A1A1A"/>
                </a:solidFill>
                <a:latin typeface="Times New Roman"/>
                <a:cs typeface="Times New Roman"/>
              </a:rPr>
              <a:t>1,895</a:t>
            </a:r>
          </a:p>
        </p:txBody>
      </p:sp>
      <p:sp>
        <p:nvSpPr>
          <p:cNvPr id="19" name="Year 2019 Zamboanga City">
            <a:extLst>
              <a:ext uri="{FF2B5EF4-FFF2-40B4-BE49-F238E27FC236}">
                <a16:creationId xmlns:a16="http://schemas.microsoft.com/office/drawing/2014/main" id="{68F0837F-2589-30C7-9986-AA10C933650C}"/>
              </a:ext>
            </a:extLst>
          </p:cNvPr>
          <p:cNvSpPr txBox="1"/>
          <p:nvPr/>
        </p:nvSpPr>
        <p:spPr>
          <a:xfrm>
            <a:off x="1750000" y="3140000"/>
            <a:ext cx="750000" cy="360000"/>
          </a:xfrm>
          <a:prstGeom prst="rect">
            <a:avLst/>
          </a:prstGeom>
          <a:noFill/>
        </p:spPr>
        <p:txBody>
          <a:bodyPr wrap="square" lIns="0" tIns="0" rIns="0" bIns="0" anchor="ctr">
            <a:noAutofit/>
          </a:bodyPr>
          <a:lstStyle/>
          <a:p>
            <a:pPr algn="l">
              <a:spcAft>
                <a:spcPts val="0"/>
              </a:spcAft>
              <a:buNone/>
            </a:pPr>
            <a:r>
              <a:rPr lang="en-US" sz="1600" b="0" i="0" dirty="0">
                <a:solidFill>
                  <a:srgbClr val="4A4A4A"/>
                </a:solidFill>
                <a:latin typeface="Times New Roman"/>
                <a:cs typeface="Times New Roman"/>
              </a:rPr>
              <a:t>2019</a:t>
            </a:r>
          </a:p>
        </p:txBody>
      </p:sp>
      <p:sp>
        <p:nvSpPr>
          <p:cNvPr id="21" name="Bar 2019 Zamboanga City">
            <a:extLst>
              <a:ext uri="{FF2B5EF4-FFF2-40B4-BE49-F238E27FC236}">
                <a16:creationId xmlns:a16="http://schemas.microsoft.com/office/drawing/2014/main" id="{5CCE860F-16EE-CEBE-EE52-B06A530BFD38}"/>
              </a:ext>
            </a:extLst>
          </p:cNvPr>
          <p:cNvSpPr/>
          <p:nvPr/>
        </p:nvSpPr>
        <p:spPr>
          <a:xfrm>
            <a:off x="2550000" y="3140000"/>
            <a:ext cx="4000000" cy="360000"/>
          </a:xfrm>
          <a:prstGeom prst="rect">
            <a:avLst/>
          </a:prstGeom>
          <a:solidFill>
            <a:srgbClr val="2F5597"/>
          </a:solidFill>
          <a:ln>
            <a:noFill/>
          </a:ln>
          <a:effectLst/>
        </p:spPr>
        <p:txBody>
          <a:bodyPr wrap="square" lIns="60000" tIns="0" rIns="60000" bIns="0" rtlCol="0" anchor="ctr">
            <a:noAutofit/>
          </a:bodyPr>
          <a:lstStyle/>
          <a:p>
            <a:endParaRPr lang="en-US"/>
          </a:p>
        </p:txBody>
      </p:sp>
      <p:sp>
        <p:nvSpPr>
          <p:cNvPr id="23" name="Value 2019 Zamboanga City">
            <a:extLst>
              <a:ext uri="{FF2B5EF4-FFF2-40B4-BE49-F238E27FC236}">
                <a16:creationId xmlns:a16="http://schemas.microsoft.com/office/drawing/2014/main" id="{623C6354-0C83-DEA6-74DD-F5559F930134}"/>
              </a:ext>
            </a:extLst>
          </p:cNvPr>
          <p:cNvSpPr txBox="1"/>
          <p:nvPr/>
        </p:nvSpPr>
        <p:spPr>
          <a:xfrm>
            <a:off x="6670000" y="3140000"/>
            <a:ext cx="1200000" cy="360000"/>
          </a:xfrm>
          <a:prstGeom prst="rect">
            <a:avLst/>
          </a:prstGeom>
          <a:noFill/>
        </p:spPr>
        <p:txBody>
          <a:bodyPr wrap="square" lIns="0" tIns="0" rIns="0" bIns="0" anchor="ctr">
            <a:noAutofit/>
          </a:bodyPr>
          <a:lstStyle/>
          <a:p>
            <a:pPr algn="l">
              <a:spcAft>
                <a:spcPts val="0"/>
              </a:spcAft>
              <a:buNone/>
            </a:pPr>
            <a:r>
              <a:rPr lang="en-US" sz="1800" b="1" i="0" dirty="0">
                <a:solidFill>
                  <a:srgbClr val="1A1A1A"/>
                </a:solidFill>
                <a:latin typeface="Times New Roman"/>
                <a:cs typeface="Times New Roman"/>
              </a:rPr>
              <a:t>10,247</a:t>
            </a:r>
          </a:p>
        </p:txBody>
      </p:sp>
      <p:sp>
        <p:nvSpPr>
          <p:cNvPr id="25" name="Multiplier 1">
            <a:extLst>
              <a:ext uri="{FF2B5EF4-FFF2-40B4-BE49-F238E27FC236}">
                <a16:creationId xmlns:a16="http://schemas.microsoft.com/office/drawing/2014/main" id="{4A6DD954-20B0-D0CC-FA78-667E52C13CB2}"/>
              </a:ext>
            </a:extLst>
          </p:cNvPr>
          <p:cNvSpPr txBox="1"/>
          <p:nvPr/>
        </p:nvSpPr>
        <p:spPr>
          <a:xfrm>
            <a:off x="8000000" y="2330000"/>
            <a:ext cx="2100000" cy="700000"/>
          </a:xfrm>
          <a:prstGeom prst="rect">
            <a:avLst/>
          </a:prstGeom>
          <a:noFill/>
        </p:spPr>
        <p:txBody>
          <a:bodyPr wrap="square" lIns="0" tIns="0" rIns="0" bIns="0" anchor="ctr">
            <a:noAutofit/>
          </a:bodyPr>
          <a:lstStyle/>
          <a:p>
            <a:pPr algn="ctr">
              <a:spcAft>
                <a:spcPts val="0"/>
              </a:spcAft>
              <a:buNone/>
            </a:pPr>
            <a:r>
              <a:rPr lang="en-US" sz="4400" b="1" i="0" dirty="0">
                <a:solidFill>
                  <a:srgbClr val="C62828"/>
                </a:solidFill>
                <a:latin typeface="Times New Roman"/>
                <a:cs typeface="Times New Roman"/>
              </a:rPr>
              <a:t>&gt;5×</a:t>
            </a:r>
          </a:p>
        </p:txBody>
      </p:sp>
      <p:sp>
        <p:nvSpPr>
          <p:cNvPr id="27" name="Multiplier caption 1">
            <a:extLst>
              <a:ext uri="{FF2B5EF4-FFF2-40B4-BE49-F238E27FC236}">
                <a16:creationId xmlns:a16="http://schemas.microsoft.com/office/drawing/2014/main" id="{5A29305F-DFE6-38F7-4C31-3A07EF9476B3}"/>
              </a:ext>
            </a:extLst>
          </p:cNvPr>
          <p:cNvSpPr txBox="1"/>
          <p:nvPr/>
        </p:nvSpPr>
        <p:spPr>
          <a:xfrm>
            <a:off x="8000000" y="3060000"/>
            <a:ext cx="2100000" cy="360000"/>
          </a:xfrm>
          <a:prstGeom prst="rect">
            <a:avLst/>
          </a:prstGeom>
          <a:noFill/>
        </p:spPr>
        <p:txBody>
          <a:bodyPr wrap="square" lIns="0" tIns="0" rIns="0" bIns="0" anchor="t">
            <a:noAutofit/>
          </a:bodyPr>
          <a:lstStyle/>
          <a:p>
            <a:pPr algn="ctr">
              <a:spcAft>
                <a:spcPts val="0"/>
              </a:spcAft>
              <a:buNone/>
            </a:pPr>
            <a:r>
              <a:rPr lang="en-US" sz="1500" b="0" i="0" dirty="0">
                <a:solidFill>
                  <a:srgbClr val="4A4A4A"/>
                </a:solidFill>
                <a:latin typeface="Times New Roman"/>
                <a:cs typeface="Times New Roman"/>
              </a:rPr>
              <a:t>more than fivefold</a:t>
            </a:r>
          </a:p>
        </p:txBody>
      </p:sp>
      <p:sp>
        <p:nvSpPr>
          <p:cNvPr id="29" name="City card 2">
            <a:extLst>
              <a:ext uri="{FF2B5EF4-FFF2-40B4-BE49-F238E27FC236}">
                <a16:creationId xmlns:a16="http://schemas.microsoft.com/office/drawing/2014/main" id="{78E13161-0310-03D7-6C0C-40F2562A4B1D}"/>
              </a:ext>
            </a:extLst>
          </p:cNvPr>
          <p:cNvSpPr/>
          <p:nvPr/>
        </p:nvSpPr>
        <p:spPr>
          <a:xfrm>
            <a:off x="1500000" y="3900000"/>
            <a:ext cx="8800000" cy="175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31" name="City pill 2">
            <a:extLst>
              <a:ext uri="{FF2B5EF4-FFF2-40B4-BE49-F238E27FC236}">
                <a16:creationId xmlns:a16="http://schemas.microsoft.com/office/drawing/2014/main" id="{0ABD3291-927D-F102-D42A-514A2A9CC10D}"/>
              </a:ext>
            </a:extLst>
          </p:cNvPr>
          <p:cNvSpPr/>
          <p:nvPr/>
        </p:nvSpPr>
        <p:spPr>
          <a:xfrm>
            <a:off x="1700000" y="4030000"/>
            <a:ext cx="2500000" cy="360000"/>
          </a:xfrm>
          <a:prstGeom prst="roundRect">
            <a:avLst>
              <a:gd name="adj" fmla="val 50000"/>
            </a:avLst>
          </a:prstGeom>
          <a:solidFill>
            <a:srgbClr val="2E7D32"/>
          </a:solidFill>
          <a:ln>
            <a:noFill/>
          </a:ln>
          <a:effectLst/>
        </p:spPr>
        <p:txBody>
          <a:bodyPr wrap="square" lIns="60000" tIns="0" rIns="60000" bIns="0" rtlCol="0" anchor="ctr">
            <a:noAutofit/>
          </a:bodyPr>
          <a:lstStyle/>
          <a:p>
            <a:pPr algn="ctr">
              <a:spcAft>
                <a:spcPts val="0"/>
              </a:spcAft>
              <a:buNone/>
            </a:pPr>
            <a:r>
              <a:rPr lang="en-US" sz="1600" b="1" i="0" dirty="0">
                <a:solidFill>
                  <a:srgbClr val="FFFFFF"/>
                </a:solidFill>
                <a:latin typeface="Times New Roman"/>
                <a:cs typeface="Times New Roman"/>
              </a:rPr>
              <a:t>Cagayan de Oro City</a:t>
            </a:r>
          </a:p>
        </p:txBody>
      </p:sp>
      <p:sp>
        <p:nvSpPr>
          <p:cNvPr id="33" name="Year 2017 Cagayan de Oro City">
            <a:extLst>
              <a:ext uri="{FF2B5EF4-FFF2-40B4-BE49-F238E27FC236}">
                <a16:creationId xmlns:a16="http://schemas.microsoft.com/office/drawing/2014/main" id="{050E9FF2-9C40-8836-D3B3-0F492B640BEE}"/>
              </a:ext>
            </a:extLst>
          </p:cNvPr>
          <p:cNvSpPr txBox="1"/>
          <p:nvPr/>
        </p:nvSpPr>
        <p:spPr>
          <a:xfrm>
            <a:off x="1750000" y="4540000"/>
            <a:ext cx="750000" cy="360000"/>
          </a:xfrm>
          <a:prstGeom prst="rect">
            <a:avLst/>
          </a:prstGeom>
          <a:noFill/>
        </p:spPr>
        <p:txBody>
          <a:bodyPr wrap="square" lIns="0" tIns="0" rIns="0" bIns="0" anchor="ctr">
            <a:noAutofit/>
          </a:bodyPr>
          <a:lstStyle/>
          <a:p>
            <a:pPr algn="l">
              <a:spcAft>
                <a:spcPts val="0"/>
              </a:spcAft>
              <a:buNone/>
            </a:pPr>
            <a:r>
              <a:rPr lang="en-US" sz="1600" b="0" i="0" dirty="0">
                <a:solidFill>
                  <a:srgbClr val="4A4A4A"/>
                </a:solidFill>
                <a:latin typeface="Times New Roman"/>
                <a:cs typeface="Times New Roman"/>
              </a:rPr>
              <a:t>2017</a:t>
            </a:r>
          </a:p>
        </p:txBody>
      </p:sp>
      <p:sp>
        <p:nvSpPr>
          <p:cNvPr id="35" name="Bar 2017 Cagayan de Oro City">
            <a:extLst>
              <a:ext uri="{FF2B5EF4-FFF2-40B4-BE49-F238E27FC236}">
                <a16:creationId xmlns:a16="http://schemas.microsoft.com/office/drawing/2014/main" id="{C2A4A199-30CA-6C40-338D-272826DC6F38}"/>
              </a:ext>
            </a:extLst>
          </p:cNvPr>
          <p:cNvSpPr/>
          <p:nvPr/>
        </p:nvSpPr>
        <p:spPr>
          <a:xfrm>
            <a:off x="2550000" y="4540000"/>
            <a:ext cx="605055" cy="360000"/>
          </a:xfrm>
          <a:prstGeom prst="rect">
            <a:avLst/>
          </a:prstGeom>
          <a:solidFill>
            <a:srgbClr val="A9D2AB"/>
          </a:solidFill>
          <a:ln>
            <a:noFill/>
          </a:ln>
          <a:effectLst/>
        </p:spPr>
        <p:txBody>
          <a:bodyPr wrap="square" lIns="60000" tIns="0" rIns="60000" bIns="0" rtlCol="0" anchor="ctr">
            <a:noAutofit/>
          </a:bodyPr>
          <a:lstStyle/>
          <a:p>
            <a:endParaRPr lang="en-US"/>
          </a:p>
        </p:txBody>
      </p:sp>
      <p:sp>
        <p:nvSpPr>
          <p:cNvPr id="37" name="Value 2017 Cagayan de Oro City">
            <a:extLst>
              <a:ext uri="{FF2B5EF4-FFF2-40B4-BE49-F238E27FC236}">
                <a16:creationId xmlns:a16="http://schemas.microsoft.com/office/drawing/2014/main" id="{313DA2C9-8554-1A25-7748-780D069F30A7}"/>
              </a:ext>
            </a:extLst>
          </p:cNvPr>
          <p:cNvSpPr txBox="1"/>
          <p:nvPr/>
        </p:nvSpPr>
        <p:spPr>
          <a:xfrm>
            <a:off x="3275055" y="4540000"/>
            <a:ext cx="1200000" cy="360000"/>
          </a:xfrm>
          <a:prstGeom prst="rect">
            <a:avLst/>
          </a:prstGeom>
          <a:noFill/>
        </p:spPr>
        <p:txBody>
          <a:bodyPr wrap="square" lIns="0" tIns="0" rIns="0" bIns="0" anchor="ctr">
            <a:noAutofit/>
          </a:bodyPr>
          <a:lstStyle/>
          <a:p>
            <a:pPr algn="l">
              <a:spcAft>
                <a:spcPts val="0"/>
              </a:spcAft>
              <a:buNone/>
            </a:pPr>
            <a:r>
              <a:rPr lang="en-US" sz="1800" b="1" i="0" dirty="0">
                <a:solidFill>
                  <a:srgbClr val="1A1A1A"/>
                </a:solidFill>
                <a:latin typeface="Times New Roman"/>
                <a:cs typeface="Times New Roman"/>
              </a:rPr>
              <a:t>1,550</a:t>
            </a:r>
          </a:p>
        </p:txBody>
      </p:sp>
      <p:sp>
        <p:nvSpPr>
          <p:cNvPr id="39" name="Year 2018 Cagayan de Oro City">
            <a:extLst>
              <a:ext uri="{FF2B5EF4-FFF2-40B4-BE49-F238E27FC236}">
                <a16:creationId xmlns:a16="http://schemas.microsoft.com/office/drawing/2014/main" id="{30B1152E-F504-A34C-AE43-2BF55C0BD64C}"/>
              </a:ext>
            </a:extLst>
          </p:cNvPr>
          <p:cNvSpPr txBox="1"/>
          <p:nvPr/>
        </p:nvSpPr>
        <p:spPr>
          <a:xfrm>
            <a:off x="1750000" y="5040000"/>
            <a:ext cx="750000" cy="360000"/>
          </a:xfrm>
          <a:prstGeom prst="rect">
            <a:avLst/>
          </a:prstGeom>
          <a:noFill/>
        </p:spPr>
        <p:txBody>
          <a:bodyPr wrap="square" lIns="0" tIns="0" rIns="0" bIns="0" anchor="ctr">
            <a:noAutofit/>
          </a:bodyPr>
          <a:lstStyle/>
          <a:p>
            <a:pPr algn="l">
              <a:spcAft>
                <a:spcPts val="0"/>
              </a:spcAft>
              <a:buNone/>
            </a:pPr>
            <a:r>
              <a:rPr lang="en-US" sz="1600" b="0" i="0" dirty="0">
                <a:solidFill>
                  <a:srgbClr val="4A4A4A"/>
                </a:solidFill>
                <a:latin typeface="Times New Roman"/>
                <a:cs typeface="Times New Roman"/>
              </a:rPr>
              <a:t>2018</a:t>
            </a:r>
          </a:p>
        </p:txBody>
      </p:sp>
      <p:sp>
        <p:nvSpPr>
          <p:cNvPr id="41" name="Bar 2018 Cagayan de Oro City">
            <a:extLst>
              <a:ext uri="{FF2B5EF4-FFF2-40B4-BE49-F238E27FC236}">
                <a16:creationId xmlns:a16="http://schemas.microsoft.com/office/drawing/2014/main" id="{83803BAC-59F1-C0A4-FA0A-ECAB090745FB}"/>
              </a:ext>
            </a:extLst>
          </p:cNvPr>
          <p:cNvSpPr/>
          <p:nvPr/>
        </p:nvSpPr>
        <p:spPr>
          <a:xfrm>
            <a:off x="2550000" y="5040000"/>
            <a:ext cx="1771054" cy="360000"/>
          </a:xfrm>
          <a:prstGeom prst="rect">
            <a:avLst/>
          </a:prstGeom>
          <a:solidFill>
            <a:srgbClr val="2E7D32"/>
          </a:solidFill>
          <a:ln>
            <a:noFill/>
          </a:ln>
          <a:effectLst/>
        </p:spPr>
        <p:txBody>
          <a:bodyPr wrap="square" lIns="60000" tIns="0" rIns="60000" bIns="0" rtlCol="0" anchor="ctr">
            <a:noAutofit/>
          </a:bodyPr>
          <a:lstStyle/>
          <a:p>
            <a:endParaRPr lang="en-US"/>
          </a:p>
        </p:txBody>
      </p:sp>
      <p:sp>
        <p:nvSpPr>
          <p:cNvPr id="43" name="Value 2018 Cagayan de Oro City">
            <a:extLst>
              <a:ext uri="{FF2B5EF4-FFF2-40B4-BE49-F238E27FC236}">
                <a16:creationId xmlns:a16="http://schemas.microsoft.com/office/drawing/2014/main" id="{034C61CD-DED8-EC3F-9CBF-BAE4EAF8A431}"/>
              </a:ext>
            </a:extLst>
          </p:cNvPr>
          <p:cNvSpPr txBox="1"/>
          <p:nvPr/>
        </p:nvSpPr>
        <p:spPr>
          <a:xfrm>
            <a:off x="4441054" y="5040000"/>
            <a:ext cx="1200000" cy="360000"/>
          </a:xfrm>
          <a:prstGeom prst="rect">
            <a:avLst/>
          </a:prstGeom>
          <a:noFill/>
        </p:spPr>
        <p:txBody>
          <a:bodyPr wrap="square" lIns="0" tIns="0" rIns="0" bIns="0" anchor="ctr">
            <a:noAutofit/>
          </a:bodyPr>
          <a:lstStyle/>
          <a:p>
            <a:pPr algn="l">
              <a:spcAft>
                <a:spcPts val="0"/>
              </a:spcAft>
              <a:buNone/>
            </a:pPr>
            <a:r>
              <a:rPr lang="en-US" sz="1800" b="1" i="0" dirty="0">
                <a:solidFill>
                  <a:srgbClr val="1A1A1A"/>
                </a:solidFill>
                <a:latin typeface="Times New Roman"/>
                <a:cs typeface="Times New Roman"/>
              </a:rPr>
              <a:t>4,537</a:t>
            </a:r>
          </a:p>
        </p:txBody>
      </p:sp>
      <p:sp>
        <p:nvSpPr>
          <p:cNvPr id="45" name="Multiplier 2">
            <a:extLst>
              <a:ext uri="{FF2B5EF4-FFF2-40B4-BE49-F238E27FC236}">
                <a16:creationId xmlns:a16="http://schemas.microsoft.com/office/drawing/2014/main" id="{4A6BC48F-15A7-3C01-32D3-E085140A607C}"/>
              </a:ext>
            </a:extLst>
          </p:cNvPr>
          <p:cNvSpPr txBox="1"/>
          <p:nvPr/>
        </p:nvSpPr>
        <p:spPr>
          <a:xfrm>
            <a:off x="8000000" y="4230000"/>
            <a:ext cx="2100000" cy="700000"/>
          </a:xfrm>
          <a:prstGeom prst="rect">
            <a:avLst/>
          </a:prstGeom>
          <a:noFill/>
        </p:spPr>
        <p:txBody>
          <a:bodyPr wrap="square" lIns="0" tIns="0" rIns="0" bIns="0" anchor="ctr">
            <a:noAutofit/>
          </a:bodyPr>
          <a:lstStyle/>
          <a:p>
            <a:pPr algn="ctr">
              <a:spcAft>
                <a:spcPts val="0"/>
              </a:spcAft>
              <a:buNone/>
            </a:pPr>
            <a:r>
              <a:rPr lang="en-US" sz="4400" b="1" i="0" dirty="0">
                <a:solidFill>
                  <a:srgbClr val="C62828"/>
                </a:solidFill>
                <a:latin typeface="Times New Roman"/>
                <a:cs typeface="Times New Roman"/>
              </a:rPr>
              <a:t>~3×</a:t>
            </a:r>
          </a:p>
        </p:txBody>
      </p:sp>
      <p:sp>
        <p:nvSpPr>
          <p:cNvPr id="47" name="Multiplier caption 2">
            <a:extLst>
              <a:ext uri="{FF2B5EF4-FFF2-40B4-BE49-F238E27FC236}">
                <a16:creationId xmlns:a16="http://schemas.microsoft.com/office/drawing/2014/main" id="{D97B9587-D418-9F13-B23D-99A60C5E3352}"/>
              </a:ext>
            </a:extLst>
          </p:cNvPr>
          <p:cNvSpPr txBox="1"/>
          <p:nvPr/>
        </p:nvSpPr>
        <p:spPr>
          <a:xfrm>
            <a:off x="8000000" y="4960000"/>
            <a:ext cx="2100000" cy="360000"/>
          </a:xfrm>
          <a:prstGeom prst="rect">
            <a:avLst/>
          </a:prstGeom>
          <a:noFill/>
        </p:spPr>
        <p:txBody>
          <a:bodyPr wrap="square" lIns="0" tIns="0" rIns="0" bIns="0" anchor="t">
            <a:noAutofit/>
          </a:bodyPr>
          <a:lstStyle/>
          <a:p>
            <a:pPr algn="ctr">
              <a:spcAft>
                <a:spcPts val="0"/>
              </a:spcAft>
              <a:buNone/>
            </a:pPr>
            <a:r>
              <a:rPr lang="en-US" sz="1500" b="0" i="0" dirty="0">
                <a:solidFill>
                  <a:srgbClr val="4A4A4A"/>
                </a:solidFill>
                <a:latin typeface="Times New Roman"/>
                <a:cs typeface="Times New Roman"/>
              </a:rPr>
              <a:t>nearly tripled</a:t>
            </a:r>
          </a:p>
        </p:txBody>
      </p:sp>
      <p:sp>
        <p:nvSpPr>
          <p:cNvPr id="49" name="Source note">
            <a:extLst>
              <a:ext uri="{FF2B5EF4-FFF2-40B4-BE49-F238E27FC236}">
                <a16:creationId xmlns:a16="http://schemas.microsoft.com/office/drawing/2014/main" id="{0F180559-758F-BE84-8A65-E3B830A29F00}"/>
              </a:ext>
            </a:extLst>
          </p:cNvPr>
          <p:cNvSpPr txBox="1"/>
          <p:nvPr/>
        </p:nvSpPr>
        <p:spPr>
          <a:xfrm>
            <a:off x="1500000" y="5800000"/>
            <a:ext cx="8800000" cy="300000"/>
          </a:xfrm>
          <a:prstGeom prst="rect">
            <a:avLst/>
          </a:prstGeom>
          <a:noFill/>
        </p:spPr>
        <p:txBody>
          <a:bodyPr wrap="square" lIns="0" tIns="0" rIns="0" bIns="0" anchor="t">
            <a:noAutofit/>
          </a:bodyPr>
          <a:lstStyle/>
          <a:p>
            <a:pPr algn="l">
              <a:spcAft>
                <a:spcPts val="0"/>
              </a:spcAft>
              <a:buNone/>
            </a:pPr>
            <a:r>
              <a:rPr lang="en-US" sz="1200" b="0" i="1" dirty="0">
                <a:solidFill>
                  <a:srgbClr val="4A4A4A"/>
                </a:solidFill>
                <a:latin typeface="Times New Roman"/>
                <a:cs typeface="Times New Roman"/>
              </a:rPr>
              <a:t>Yearly dengue case totals from the weekly DOH surveillance data used in this study.</a:t>
            </a:r>
          </a:p>
        </p:txBody>
      </p:sp>
    </p:spTree>
    <p:extLst>
      <p:ext uri="{BB962C8B-B14F-4D97-AF65-F5344CB8AC3E}">
        <p14:creationId xmlns:p14="http://schemas.microsoft.com/office/powerpoint/2010/main" val="1155327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825F0-D219-7279-F897-C6D2AAD96B6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4ABE164-00EF-7D2C-A142-7219109382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Slide Title">
            <a:extLst>
              <a:ext uri="{FF2B5EF4-FFF2-40B4-BE49-F238E27FC236}">
                <a16:creationId xmlns:a16="http://schemas.microsoft.com/office/drawing/2014/main" id="{C994B222-594E-5B26-D726-9BCB703A23AE}"/>
              </a:ext>
            </a:extLst>
          </p:cNvPr>
          <p:cNvSpPr txBox="1"/>
          <p:nvPr/>
        </p:nvSpPr>
        <p:spPr>
          <a:xfrm>
            <a:off x="1500000" y="540000"/>
            <a:ext cx="8800000" cy="900000"/>
          </a:xfrm>
          <a:prstGeom prst="rect">
            <a:avLst/>
          </a:prstGeom>
          <a:noFill/>
        </p:spPr>
        <p:txBody>
          <a:bodyPr wrap="square" lIns="0" tIns="0" rIns="0" bIns="0" anchor="b">
            <a:noAutofit/>
          </a:bodyPr>
          <a:lstStyle/>
          <a:p>
            <a:pPr algn="l">
              <a:spcAft>
                <a:spcPts val="0"/>
              </a:spcAft>
              <a:buNone/>
            </a:pPr>
            <a:r>
              <a:rPr lang="en-US" sz="2800" b="1" i="0" dirty="0">
                <a:solidFill>
                  <a:srgbClr val="1A1A1A"/>
                </a:solidFill>
                <a:latin typeface="Times New Roman"/>
                <a:cs typeface="Times New Roman"/>
              </a:rPr>
              <a:t>Statement of the Problem</a:t>
            </a:r>
          </a:p>
        </p:txBody>
      </p:sp>
      <p:sp>
        <p:nvSpPr>
          <p:cNvPr id="7" name="Slide Subtitle">
            <a:extLst>
              <a:ext uri="{FF2B5EF4-FFF2-40B4-BE49-F238E27FC236}">
                <a16:creationId xmlns:a16="http://schemas.microsoft.com/office/drawing/2014/main" id="{A29C7442-27EF-C761-DA3F-4066BA7B55DA}"/>
              </a:ext>
            </a:extLst>
          </p:cNvPr>
          <p:cNvSpPr txBox="1"/>
          <p:nvPr/>
        </p:nvSpPr>
        <p:spPr>
          <a:xfrm>
            <a:off x="1500000" y="1500000"/>
            <a:ext cx="8800000" cy="340000"/>
          </a:xfrm>
          <a:prstGeom prst="rect">
            <a:avLst/>
          </a:prstGeom>
          <a:noFill/>
        </p:spPr>
        <p:txBody>
          <a:bodyPr wrap="square" lIns="0" tIns="0" rIns="0" bIns="0" anchor="t">
            <a:noAutofit/>
          </a:bodyPr>
          <a:lstStyle/>
          <a:p>
            <a:pPr algn="l">
              <a:spcAft>
                <a:spcPts val="0"/>
              </a:spcAft>
              <a:buNone/>
            </a:pPr>
            <a:r>
              <a:rPr lang="en-US" sz="1800" b="1" i="0" dirty="0">
                <a:solidFill>
                  <a:srgbClr val="2F5597"/>
                </a:solidFill>
                <a:latin typeface="Times New Roman"/>
                <a:cs typeface="Times New Roman"/>
              </a:rPr>
              <a:t>What remains unanswered</a:t>
            </a:r>
          </a:p>
        </p:txBody>
      </p:sp>
      <p:sp>
        <p:nvSpPr>
          <p:cNvPr id="9" name="Column card 1">
            <a:extLst>
              <a:ext uri="{FF2B5EF4-FFF2-40B4-BE49-F238E27FC236}">
                <a16:creationId xmlns:a16="http://schemas.microsoft.com/office/drawing/2014/main" id="{F988BFAA-6529-A7E2-8A89-5EC388CD8A85}"/>
              </a:ext>
            </a:extLst>
          </p:cNvPr>
          <p:cNvSpPr/>
          <p:nvPr/>
        </p:nvSpPr>
        <p:spPr>
          <a:xfrm>
            <a:off x="1500000" y="2000000"/>
            <a:ext cx="4300000" cy="3159928"/>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11" name="Column pill 1">
            <a:extLst>
              <a:ext uri="{FF2B5EF4-FFF2-40B4-BE49-F238E27FC236}">
                <a16:creationId xmlns:a16="http://schemas.microsoft.com/office/drawing/2014/main" id="{AE1AD6E8-3F04-F3BA-9A6A-FECBE17365B3}"/>
              </a:ext>
            </a:extLst>
          </p:cNvPr>
          <p:cNvSpPr/>
          <p:nvPr/>
        </p:nvSpPr>
        <p:spPr>
          <a:xfrm>
            <a:off x="1700000" y="2170000"/>
            <a:ext cx="2500000" cy="380000"/>
          </a:xfrm>
          <a:prstGeom prst="roundRect">
            <a:avLst>
              <a:gd name="adj" fmla="val 50000"/>
            </a:avLst>
          </a:prstGeom>
          <a:solidFill>
            <a:srgbClr val="2E7D32"/>
          </a:solidFill>
          <a:ln>
            <a:noFill/>
          </a:ln>
          <a:effectLst/>
        </p:spPr>
        <p:txBody>
          <a:bodyPr wrap="square" lIns="60000" tIns="0" rIns="60000" bIns="0" rtlCol="0" anchor="ctr">
            <a:noAutofit/>
          </a:bodyPr>
          <a:lstStyle/>
          <a:p>
            <a:pPr algn="ctr">
              <a:spcAft>
                <a:spcPts val="0"/>
              </a:spcAft>
              <a:buNone/>
            </a:pPr>
            <a:r>
              <a:rPr lang="en-US" sz="1600" b="1" i="0" dirty="0">
                <a:solidFill>
                  <a:srgbClr val="FFFFFF"/>
                </a:solidFill>
                <a:latin typeface="Times New Roman"/>
                <a:cs typeface="Times New Roman"/>
              </a:rPr>
              <a:t>What we know</a:t>
            </a:r>
          </a:p>
        </p:txBody>
      </p:sp>
      <p:sp>
        <p:nvSpPr>
          <p:cNvPr id="13" name="Column bullets 1">
            <a:extLst>
              <a:ext uri="{FF2B5EF4-FFF2-40B4-BE49-F238E27FC236}">
                <a16:creationId xmlns:a16="http://schemas.microsoft.com/office/drawing/2014/main" id="{AD7AB724-A3D3-802D-9DD8-5D7D38080F52}"/>
              </a:ext>
            </a:extLst>
          </p:cNvPr>
          <p:cNvSpPr txBox="1"/>
          <p:nvPr/>
        </p:nvSpPr>
        <p:spPr>
          <a:xfrm>
            <a:off x="1700000" y="2700000"/>
            <a:ext cx="3900000" cy="1950000"/>
          </a:xfrm>
          <a:prstGeom prst="rect">
            <a:avLst/>
          </a:prstGeom>
          <a:noFill/>
        </p:spPr>
        <p:txBody>
          <a:bodyPr wrap="square" lIns="0" tIns="0" rIns="0" bIns="0" anchor="t">
            <a:noAutofit/>
          </a:bodyPr>
          <a:lstStyle/>
          <a:p>
            <a:pPr marL="228600" indent="-228600" algn="l">
              <a:spcAft>
                <a:spcPts val="900"/>
              </a:spcAft>
              <a:buFont typeface="Arial"/>
              <a:buChar char="•"/>
            </a:pPr>
            <a:r>
              <a:rPr lang="en-US" sz="1600" b="0" i="0" dirty="0">
                <a:solidFill>
                  <a:srgbClr val="1A1A1A"/>
                </a:solidFill>
                <a:latin typeface="Times New Roman"/>
                <a:cs typeface="Times New Roman"/>
              </a:rPr>
              <a:t>The marginal value of weather features when recent case history is already accounted for.</a:t>
            </a:r>
          </a:p>
          <a:p>
            <a:pPr marL="228600" indent="-228600" algn="l">
              <a:spcAft>
                <a:spcPts val="900"/>
              </a:spcAft>
              <a:buFont typeface="Arial"/>
              <a:buChar char="•"/>
            </a:pPr>
            <a:r>
              <a:rPr lang="en-US" sz="1600" b="0" i="0" dirty="0">
                <a:solidFill>
                  <a:srgbClr val="1A1A1A"/>
                </a:solidFill>
                <a:latin typeface="Times New Roman"/>
                <a:cs typeface="Times New Roman"/>
              </a:rPr>
              <a:t>The statistical significance and magnitude of error reduction across individual Mindanao cities.</a:t>
            </a:r>
          </a:p>
          <a:p>
            <a:pPr marL="228600" indent="-228600" algn="l">
              <a:spcAft>
                <a:spcPts val="900"/>
              </a:spcAft>
              <a:buFont typeface="Arial"/>
              <a:buChar char="•"/>
            </a:pPr>
            <a:r>
              <a:rPr lang="en-US" sz="1600" b="0" i="0" dirty="0">
                <a:solidFill>
                  <a:srgbClr val="1A1A1A"/>
                </a:solidFill>
                <a:latin typeface="Times New Roman"/>
                <a:cs typeface="Times New Roman"/>
              </a:rPr>
              <a:t>Model generalization and regime-shift robustness on strictly held-out chronological test data.</a:t>
            </a:r>
          </a:p>
        </p:txBody>
      </p:sp>
      <p:sp>
        <p:nvSpPr>
          <p:cNvPr id="15" name="Column card 2">
            <a:extLst>
              <a:ext uri="{FF2B5EF4-FFF2-40B4-BE49-F238E27FC236}">
                <a16:creationId xmlns:a16="http://schemas.microsoft.com/office/drawing/2014/main" id="{3A625624-4C2B-C76A-015D-7B2DD48A4DED}"/>
              </a:ext>
            </a:extLst>
          </p:cNvPr>
          <p:cNvSpPr/>
          <p:nvPr/>
        </p:nvSpPr>
        <p:spPr>
          <a:xfrm>
            <a:off x="6000000" y="2000000"/>
            <a:ext cx="4300000" cy="275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17" name="Column pill 2">
            <a:extLst>
              <a:ext uri="{FF2B5EF4-FFF2-40B4-BE49-F238E27FC236}">
                <a16:creationId xmlns:a16="http://schemas.microsoft.com/office/drawing/2014/main" id="{FCBDC181-24AC-44A5-46B0-F5CBB8062D57}"/>
              </a:ext>
            </a:extLst>
          </p:cNvPr>
          <p:cNvSpPr/>
          <p:nvPr/>
        </p:nvSpPr>
        <p:spPr>
          <a:xfrm>
            <a:off x="6200000" y="2170000"/>
            <a:ext cx="2500000" cy="380000"/>
          </a:xfrm>
          <a:prstGeom prst="roundRect">
            <a:avLst>
              <a:gd name="adj" fmla="val 50000"/>
            </a:avLst>
          </a:prstGeom>
          <a:solidFill>
            <a:srgbClr val="C62828"/>
          </a:solidFill>
          <a:ln>
            <a:noFill/>
          </a:ln>
          <a:effectLst/>
        </p:spPr>
        <p:txBody>
          <a:bodyPr wrap="square" lIns="60000" tIns="0" rIns="60000" bIns="0" rtlCol="0" anchor="ctr">
            <a:noAutofit/>
          </a:bodyPr>
          <a:lstStyle/>
          <a:p>
            <a:pPr algn="ctr">
              <a:spcAft>
                <a:spcPts val="0"/>
              </a:spcAft>
              <a:buNone/>
            </a:pPr>
            <a:r>
              <a:rPr lang="en-US" sz="1600" b="1" i="0" dirty="0">
                <a:solidFill>
                  <a:srgbClr val="FFFFFF"/>
                </a:solidFill>
                <a:latin typeface="Times New Roman"/>
                <a:cs typeface="Times New Roman"/>
              </a:rPr>
              <a:t>What is still unclear</a:t>
            </a:r>
          </a:p>
        </p:txBody>
      </p:sp>
      <p:sp>
        <p:nvSpPr>
          <p:cNvPr id="19" name="Column bullets 2">
            <a:extLst>
              <a:ext uri="{FF2B5EF4-FFF2-40B4-BE49-F238E27FC236}">
                <a16:creationId xmlns:a16="http://schemas.microsoft.com/office/drawing/2014/main" id="{CA678F50-21E9-3BA1-A36D-DB64F135816D}"/>
              </a:ext>
            </a:extLst>
          </p:cNvPr>
          <p:cNvSpPr txBox="1"/>
          <p:nvPr/>
        </p:nvSpPr>
        <p:spPr>
          <a:xfrm>
            <a:off x="6200000" y="2700000"/>
            <a:ext cx="3900000" cy="1950000"/>
          </a:xfrm>
          <a:prstGeom prst="rect">
            <a:avLst/>
          </a:prstGeom>
          <a:noFill/>
        </p:spPr>
        <p:txBody>
          <a:bodyPr wrap="square" lIns="0" tIns="0" rIns="0" bIns="0" anchor="t">
            <a:noAutofit/>
          </a:bodyPr>
          <a:lstStyle/>
          <a:p>
            <a:pPr marL="228600" indent="-228600" algn="l">
              <a:spcAft>
                <a:spcPts val="900"/>
              </a:spcAft>
              <a:buFont typeface="Arial"/>
              <a:buChar char="•"/>
            </a:pPr>
            <a:r>
              <a:rPr lang="en-US" sz="1600" b="0" i="0" dirty="0">
                <a:solidFill>
                  <a:srgbClr val="1A1A1A"/>
                </a:solidFill>
                <a:latin typeface="Times New Roman"/>
                <a:cs typeface="Times New Roman"/>
              </a:rPr>
              <a:t>Does weather still add value when recent case history is already in the model?</a:t>
            </a:r>
          </a:p>
          <a:p>
            <a:pPr marL="228600" indent="-228600" algn="l">
              <a:spcAft>
                <a:spcPts val="900"/>
              </a:spcAft>
              <a:buFont typeface="Arial"/>
              <a:buChar char="•"/>
            </a:pPr>
            <a:r>
              <a:rPr lang="en-US" sz="1600" b="0" i="0" dirty="0">
                <a:solidFill>
                  <a:srgbClr val="1A1A1A"/>
                </a:solidFill>
                <a:latin typeface="Times New Roman"/>
                <a:cs typeface="Times New Roman"/>
              </a:rPr>
              <a:t>Is the gain real for weekly, city-level forecasts in Mindanao?</a:t>
            </a:r>
          </a:p>
          <a:p>
            <a:pPr marL="228600" indent="-228600" algn="l">
              <a:spcAft>
                <a:spcPts val="900"/>
              </a:spcAft>
              <a:buFont typeface="Arial"/>
              <a:buChar char="•"/>
            </a:pPr>
            <a:r>
              <a:rPr lang="en-US" sz="1600" b="0" i="0" dirty="0">
                <a:solidFill>
                  <a:srgbClr val="1A1A1A"/>
                </a:solidFill>
                <a:latin typeface="Times New Roman"/>
                <a:cs typeface="Times New Roman"/>
              </a:rPr>
              <a:t>Does it hold on a year the models have never seen?</a:t>
            </a:r>
          </a:p>
        </p:txBody>
      </p:sp>
      <p:sp>
        <p:nvSpPr>
          <p:cNvPr id="21" name="Takeaway banner">
            <a:extLst>
              <a:ext uri="{FF2B5EF4-FFF2-40B4-BE49-F238E27FC236}">
                <a16:creationId xmlns:a16="http://schemas.microsoft.com/office/drawing/2014/main" id="{6C85A94F-2A48-32AA-084F-990B59E940C3}"/>
              </a:ext>
            </a:extLst>
          </p:cNvPr>
          <p:cNvSpPr/>
          <p:nvPr/>
        </p:nvSpPr>
        <p:spPr>
          <a:xfrm>
            <a:off x="1500000" y="5458964"/>
            <a:ext cx="8800000" cy="1100000"/>
          </a:xfrm>
          <a:prstGeom prst="roundRect">
            <a:avLst>
              <a:gd name="adj" fmla="val 12000"/>
            </a:avLst>
          </a:prstGeom>
          <a:solidFill>
            <a:srgbClr val="2F5597"/>
          </a:solidFill>
          <a:ln>
            <a:noFill/>
          </a:ln>
          <a:effectLst/>
        </p:spPr>
        <p:txBody>
          <a:bodyPr wrap="square" lIns="250000" tIns="0" rIns="250000" bIns="0" rtlCol="0" anchor="ctr">
            <a:noAutofit/>
          </a:bodyPr>
          <a:lstStyle/>
          <a:p>
            <a:pPr algn="l">
              <a:spcAft>
                <a:spcPts val="0"/>
              </a:spcAft>
              <a:buNone/>
            </a:pPr>
            <a:r>
              <a:rPr lang="en-US" sz="2000" b="1" i="0" dirty="0">
                <a:solidFill>
                  <a:srgbClr val="FFFFFF"/>
                </a:solidFill>
                <a:latin typeface="Times New Roman"/>
                <a:cs typeface="Times New Roman"/>
              </a:rPr>
              <a:t>A problem of incremental value: </a:t>
            </a:r>
            <a:r>
              <a:rPr lang="en-US" sz="2000" b="0" i="0" dirty="0">
                <a:solidFill>
                  <a:srgbClr val="FFFFFF"/>
                </a:solidFill>
                <a:latin typeface="Times New Roman"/>
                <a:cs typeface="Times New Roman"/>
              </a:rPr>
              <a:t>not whether weather matters, but whether it adds anything beyond recent case history.</a:t>
            </a:r>
          </a:p>
        </p:txBody>
      </p:sp>
    </p:spTree>
    <p:extLst>
      <p:ext uri="{BB962C8B-B14F-4D97-AF65-F5344CB8AC3E}">
        <p14:creationId xmlns:p14="http://schemas.microsoft.com/office/powerpoint/2010/main" val="543085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1500000" y="540000"/>
            <a:ext cx="8800000" cy="900000"/>
          </a:xfrm>
          <a:prstGeom prst="rect">
            <a:avLst/>
          </a:prstGeom>
          <a:noFill/>
        </p:spPr>
        <p:txBody>
          <a:bodyPr wrap="square" lIns="0" tIns="0" rIns="0" bIns="0" anchor="b">
            <a:spAutoFit/>
          </a:bodyPr>
          <a:lstStyle/>
          <a:p>
            <a:pPr algn="l">
              <a:spcAft>
                <a:spcPts val="0"/>
              </a:spcAft>
            </a:pPr>
            <a:r>
              <a:rPr sz="2800" b="1" i="0">
                <a:solidFill>
                  <a:srgbClr val="1A1A1A"/>
                </a:solidFill>
                <a:latin typeface="Times New Roman"/>
              </a:rPr>
              <a:t>Research Gap 1</a:t>
            </a:r>
          </a:p>
        </p:txBody>
      </p:sp>
      <p:sp>
        <p:nvSpPr>
          <p:cNvPr id="7"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Incremental information from weather</a:t>
            </a:r>
          </a:p>
        </p:txBody>
      </p:sp>
      <p:sp>
        <p:nvSpPr>
          <p:cNvPr id="8" name="Gap statement"/>
          <p:cNvSpPr/>
          <p:nvPr/>
        </p:nvSpPr>
        <p:spPr>
          <a:xfrm>
            <a:off x="1500000" y="1950000"/>
            <a:ext cx="8800000" cy="20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700000" y="2080000"/>
            <a:ext cx="1500000" cy="360000"/>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THE GAP</a:t>
            </a:r>
          </a:p>
        </p:txBody>
      </p:sp>
      <p:sp>
        <p:nvSpPr>
          <p:cNvPr id="10" name="TextBox 9"/>
          <p:cNvSpPr txBox="1"/>
          <p:nvPr/>
        </p:nvSpPr>
        <p:spPr>
          <a:xfrm>
            <a:off x="1700000" y="2560000"/>
            <a:ext cx="8400000" cy="1350000"/>
          </a:xfrm>
          <a:prstGeom prst="rect">
            <a:avLst/>
          </a:prstGeom>
          <a:noFill/>
        </p:spPr>
        <p:txBody>
          <a:bodyPr wrap="square" lIns="0" tIns="0" rIns="0" bIns="0" anchor="t">
            <a:spAutoFit/>
          </a:bodyPr>
          <a:lstStyle/>
          <a:p>
            <a:pPr algn="l">
              <a:spcAft>
                <a:spcPts val="0"/>
              </a:spcAft>
            </a:pPr>
            <a:r>
              <a:rPr sz="2000" b="1" i="0">
                <a:solidFill>
                  <a:srgbClr val="1A1A1A"/>
                </a:solidFill>
                <a:latin typeface="Times New Roman"/>
              </a:rPr>
              <a:t>Weather is known to be linked with dengue, but a controlled comparison of a case-history-only model against a case-plus-weather model is not consistently reported for weekly, city-level forecasts.</a:t>
            </a:r>
          </a:p>
        </p:txBody>
      </p:sp>
      <p:sp>
        <p:nvSpPr>
          <p:cNvPr id="11" name="Rounded Rectangle 10"/>
          <p:cNvSpPr/>
          <p:nvPr/>
        </p:nvSpPr>
        <p:spPr>
          <a:xfrm>
            <a:off x="1500000" y="4200000"/>
            <a:ext cx="4350000" cy="19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630000" y="4330000"/>
            <a:ext cx="4090000" cy="340000"/>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Why it matters</a:t>
            </a:r>
          </a:p>
        </p:txBody>
      </p:sp>
      <p:sp>
        <p:nvSpPr>
          <p:cNvPr id="13" name="TextBox 12"/>
          <p:cNvSpPr txBox="1"/>
          <p:nvPr/>
        </p:nvSpPr>
        <p:spPr>
          <a:xfrm>
            <a:off x="1630000" y="4780000"/>
            <a:ext cx="4090000" cy="1240000"/>
          </a:xfrm>
          <a:prstGeom prst="rect">
            <a:avLst/>
          </a:prstGeom>
          <a:noFill/>
        </p:spPr>
        <p:txBody>
          <a:bodyPr wrap="square" lIns="0" tIns="0" rIns="0" bIns="0" anchor="t">
            <a:spAutoFit/>
          </a:bodyPr>
          <a:lstStyle/>
          <a:p>
            <a:pPr algn="l">
              <a:spcAft>
                <a:spcPts val="400"/>
              </a:spcAft>
            </a:pPr>
            <a:r>
              <a:rPr sz="1700" b="0" i="0">
                <a:solidFill>
                  <a:srgbClr val="1A1A1A"/>
                </a:solidFill>
                <a:latin typeface="Times New Roman"/>
              </a:rPr>
              <a:t>If recent cases already carry the signal, collecting and maintaining weather data may not be worth the cost for operational forecasting.</a:t>
            </a:r>
          </a:p>
        </p:txBody>
      </p:sp>
      <p:sp>
        <p:nvSpPr>
          <p:cNvPr id="14" name="Rounded Rectangle 13"/>
          <p:cNvSpPr/>
          <p:nvPr/>
        </p:nvSpPr>
        <p:spPr>
          <a:xfrm>
            <a:off x="5950000" y="4200000"/>
            <a:ext cx="4350000" cy="19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080000" y="4330000"/>
            <a:ext cx="4090000" cy="3400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How this study closes it</a:t>
            </a:r>
          </a:p>
        </p:txBody>
      </p:sp>
      <p:sp>
        <p:nvSpPr>
          <p:cNvPr id="16" name="TextBox 15"/>
          <p:cNvSpPr txBox="1"/>
          <p:nvPr/>
        </p:nvSpPr>
        <p:spPr>
          <a:xfrm>
            <a:off x="6080000" y="4780000"/>
            <a:ext cx="4090000" cy="1240000"/>
          </a:xfrm>
          <a:prstGeom prst="rect">
            <a:avLst/>
          </a:prstGeom>
          <a:noFill/>
        </p:spPr>
        <p:txBody>
          <a:bodyPr wrap="square" lIns="0" tIns="0" rIns="0" bIns="0" anchor="t">
            <a:spAutoFit/>
          </a:bodyPr>
          <a:lstStyle/>
          <a:p>
            <a:pPr algn="l">
              <a:spcAft>
                <a:spcPts val="400"/>
              </a:spcAft>
            </a:pPr>
            <a:r>
              <a:rPr sz="1700" b="0" i="0">
                <a:solidFill>
                  <a:srgbClr val="1A1A1A"/>
                </a:solidFill>
                <a:latin typeface="Times New Roman"/>
              </a:rPr>
              <a:t>A weather-ablation test: case-only XGBoost against full XGBoost on identical rows, splits and tuning, so the difference isolates the value of the 22 weather features.</a:t>
            </a:r>
          </a:p>
        </p:txBody>
      </p:sp>
    </p:spTree>
    <p:extLst>
      <p:ext uri="{BB962C8B-B14F-4D97-AF65-F5344CB8AC3E}">
        <p14:creationId xmlns:p14="http://schemas.microsoft.com/office/powerpoint/2010/main" val="140732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1500000" y="540000"/>
            <a:ext cx="8800000" cy="900000"/>
          </a:xfrm>
          <a:prstGeom prst="rect">
            <a:avLst/>
          </a:prstGeom>
          <a:noFill/>
        </p:spPr>
        <p:txBody>
          <a:bodyPr wrap="square" lIns="0" tIns="0" rIns="0" bIns="0" anchor="b">
            <a:spAutoFit/>
          </a:bodyPr>
          <a:lstStyle/>
          <a:p>
            <a:pPr algn="l">
              <a:spcAft>
                <a:spcPts val="0"/>
              </a:spcAft>
            </a:pPr>
            <a:r>
              <a:rPr sz="2800" b="1" i="0">
                <a:solidFill>
                  <a:srgbClr val="1A1A1A"/>
                </a:solidFill>
                <a:latin typeface="Times New Roman"/>
              </a:rPr>
              <a:t>Research Gap 2</a:t>
            </a:r>
          </a:p>
        </p:txBody>
      </p:sp>
      <p:sp>
        <p:nvSpPr>
          <p:cNvPr id="7"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Locality and resolution</a:t>
            </a:r>
          </a:p>
        </p:txBody>
      </p:sp>
      <p:sp>
        <p:nvSpPr>
          <p:cNvPr id="8" name="Gap statement"/>
          <p:cNvSpPr/>
          <p:nvPr/>
        </p:nvSpPr>
        <p:spPr>
          <a:xfrm>
            <a:off x="1500000" y="1950000"/>
            <a:ext cx="8800000" cy="20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700000" y="2080000"/>
            <a:ext cx="1500000" cy="360000"/>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THE GAP</a:t>
            </a:r>
          </a:p>
        </p:txBody>
      </p:sp>
      <p:sp>
        <p:nvSpPr>
          <p:cNvPr id="10" name="TextBox 9"/>
          <p:cNvSpPr txBox="1"/>
          <p:nvPr/>
        </p:nvSpPr>
        <p:spPr>
          <a:xfrm>
            <a:off x="1700000" y="2560000"/>
            <a:ext cx="8400000" cy="1350000"/>
          </a:xfrm>
          <a:prstGeom prst="rect">
            <a:avLst/>
          </a:prstGeom>
          <a:noFill/>
        </p:spPr>
        <p:txBody>
          <a:bodyPr wrap="square" lIns="0" tIns="0" rIns="0" bIns="0" anchor="t">
            <a:spAutoFit/>
          </a:bodyPr>
          <a:lstStyle/>
          <a:p>
            <a:pPr algn="l">
              <a:spcAft>
                <a:spcPts val="0"/>
              </a:spcAft>
            </a:pPr>
            <a:r>
              <a:rPr sz="2000" b="1" i="0">
                <a:solidFill>
                  <a:srgbClr val="1A1A1A"/>
                </a:solidFill>
                <a:latin typeface="Times New Roman"/>
              </a:rPr>
              <a:t>Davao City has been modeled only at monthly resolution, and the 2026 weekly study covers Zamboanga Sibugay. No weekly, two-week-ahead evaluation spans Davao, Cagayan de Oro and Zamboanga.</a:t>
            </a:r>
          </a:p>
        </p:txBody>
      </p:sp>
      <p:sp>
        <p:nvSpPr>
          <p:cNvPr id="11" name="Rounded Rectangle 10"/>
          <p:cNvSpPr/>
          <p:nvPr/>
        </p:nvSpPr>
        <p:spPr>
          <a:xfrm>
            <a:off x="1500000" y="4200000"/>
            <a:ext cx="4350000" cy="19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630000" y="4330000"/>
            <a:ext cx="4090000" cy="340000"/>
          </a:xfrm>
          <a:prstGeom prst="roundRect">
            <a:avLst>
              <a:gd name="adj" fmla="val 50000"/>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What exists</a:t>
            </a:r>
          </a:p>
        </p:txBody>
      </p:sp>
      <p:sp>
        <p:nvSpPr>
          <p:cNvPr id="13" name="TextBox 12"/>
          <p:cNvSpPr txBox="1"/>
          <p:nvPr/>
        </p:nvSpPr>
        <p:spPr>
          <a:xfrm>
            <a:off x="1630000" y="4780000"/>
            <a:ext cx="4090000" cy="1240000"/>
          </a:xfrm>
          <a:prstGeom prst="rect">
            <a:avLst/>
          </a:prstGeom>
          <a:noFill/>
        </p:spPr>
        <p:txBody>
          <a:bodyPr wrap="square" lIns="0" tIns="0" rIns="0" bIns="0" anchor="t">
            <a:spAutoFit/>
          </a:bodyPr>
          <a:lstStyle/>
          <a:p>
            <a:pPr algn="l">
              <a:spcAft>
                <a:spcPts val="400"/>
              </a:spcAft>
            </a:pPr>
            <a:r>
              <a:rPr sz="1600" b="0" i="0">
                <a:solidFill>
                  <a:srgbClr val="1A1A1A"/>
                </a:solidFill>
                <a:latin typeface="Times New Roman"/>
              </a:rPr>
              <a:t>• Metro Manila, weekly (Carvajal, 2018)</a:t>
            </a:r>
          </a:p>
          <a:p>
            <a:pPr algn="l">
              <a:spcAft>
                <a:spcPts val="400"/>
              </a:spcAft>
            </a:pPr>
            <a:r>
              <a:rPr sz="1600" b="0" i="0">
                <a:solidFill>
                  <a:srgbClr val="1A1A1A"/>
                </a:solidFill>
                <a:latin typeface="Times New Roman"/>
              </a:rPr>
              <a:t>• Davao City, monthly (Ligue &amp; Ligue, 2022)</a:t>
            </a:r>
          </a:p>
          <a:p>
            <a:pPr algn="l">
              <a:spcAft>
                <a:spcPts val="400"/>
              </a:spcAft>
            </a:pPr>
            <a:r>
              <a:rPr sz="1600" b="0" i="0">
                <a:solidFill>
                  <a:srgbClr val="1A1A1A"/>
                </a:solidFill>
                <a:latin typeface="Times New Roman"/>
              </a:rPr>
              <a:t>• Quezon City, weekly (Eligado, 2026)</a:t>
            </a:r>
          </a:p>
          <a:p>
            <a:pPr algn="l">
              <a:spcAft>
                <a:spcPts val="400"/>
              </a:spcAft>
            </a:pPr>
            <a:r>
              <a:rPr sz="1600" b="0" i="0">
                <a:solidFill>
                  <a:srgbClr val="1A1A1A"/>
                </a:solidFill>
                <a:latin typeface="Times New Roman"/>
              </a:rPr>
              <a:t>• Zamboanga Sibugay, weekly (Delena, 2026)</a:t>
            </a:r>
          </a:p>
        </p:txBody>
      </p:sp>
      <p:sp>
        <p:nvSpPr>
          <p:cNvPr id="14" name="Rounded Rectangle 13"/>
          <p:cNvSpPr/>
          <p:nvPr/>
        </p:nvSpPr>
        <p:spPr>
          <a:xfrm>
            <a:off x="5950000" y="4200000"/>
            <a:ext cx="4350000" cy="19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080000" y="4330000"/>
            <a:ext cx="4090000" cy="3400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How this study closes it</a:t>
            </a:r>
          </a:p>
        </p:txBody>
      </p:sp>
      <p:sp>
        <p:nvSpPr>
          <p:cNvPr id="16" name="TextBox 15"/>
          <p:cNvSpPr txBox="1"/>
          <p:nvPr/>
        </p:nvSpPr>
        <p:spPr>
          <a:xfrm>
            <a:off x="6080000" y="4780000"/>
            <a:ext cx="4090000" cy="1240000"/>
          </a:xfrm>
          <a:prstGeom prst="rect">
            <a:avLst/>
          </a:prstGeom>
          <a:noFill/>
        </p:spPr>
        <p:txBody>
          <a:bodyPr wrap="square" lIns="0" tIns="0" rIns="0" bIns="0" anchor="t">
            <a:spAutoFit/>
          </a:bodyPr>
          <a:lstStyle/>
          <a:p>
            <a:pPr algn="l">
              <a:spcAft>
                <a:spcPts val="400"/>
              </a:spcAft>
            </a:pPr>
            <a:r>
              <a:rPr sz="1700" b="0" i="0">
                <a:solidFill>
                  <a:srgbClr val="1A1A1A"/>
                </a:solidFill>
                <a:latin typeface="Times New Roman"/>
              </a:rPr>
              <a:t>A weekly panel for three Mindanao cities, forecasting two weeks ahead and reported per city, so a pooled average cannot hide a weak city.</a:t>
            </a:r>
          </a:p>
        </p:txBody>
      </p:sp>
    </p:spTree>
    <p:extLst>
      <p:ext uri="{BB962C8B-B14F-4D97-AF65-F5344CB8AC3E}">
        <p14:creationId xmlns:p14="http://schemas.microsoft.com/office/powerpoint/2010/main" val="140732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1500000" y="540000"/>
            <a:ext cx="8800000" cy="900000"/>
          </a:xfrm>
          <a:prstGeom prst="rect">
            <a:avLst/>
          </a:prstGeom>
          <a:noFill/>
        </p:spPr>
        <p:txBody>
          <a:bodyPr wrap="square" lIns="0" tIns="0" rIns="0" bIns="0" anchor="b">
            <a:spAutoFit/>
          </a:bodyPr>
          <a:lstStyle/>
          <a:p>
            <a:pPr algn="l">
              <a:spcAft>
                <a:spcPts val="0"/>
              </a:spcAft>
            </a:pPr>
            <a:r>
              <a:rPr sz="2800" b="1" i="0" dirty="0">
                <a:solidFill>
                  <a:srgbClr val="1A1A1A"/>
                </a:solidFill>
                <a:latin typeface="Times New Roman"/>
              </a:rPr>
              <a:t>Objectives/Purpose of the Study</a:t>
            </a:r>
          </a:p>
        </p:txBody>
      </p:sp>
      <p:sp>
        <p:nvSpPr>
          <p:cNvPr id="7" name="General objective"/>
          <p:cNvSpPr/>
          <p:nvPr/>
        </p:nvSpPr>
        <p:spPr>
          <a:xfrm>
            <a:off x="1500000" y="1650000"/>
            <a:ext cx="8800000" cy="14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700000" y="1760000"/>
            <a:ext cx="2400000" cy="340000"/>
          </a:xfrm>
          <a:prstGeom prst="roundRect">
            <a:avLst>
              <a:gd name="adj" fmla="val 50000"/>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General objective</a:t>
            </a:r>
          </a:p>
        </p:txBody>
      </p:sp>
      <p:sp>
        <p:nvSpPr>
          <p:cNvPr id="9" name="TextBox 8"/>
          <p:cNvSpPr txBox="1"/>
          <p:nvPr/>
        </p:nvSpPr>
        <p:spPr>
          <a:xfrm>
            <a:off x="1700000" y="2200000"/>
            <a:ext cx="8400000" cy="850000"/>
          </a:xfrm>
          <a:prstGeom prst="rect">
            <a:avLst/>
          </a:prstGeom>
          <a:noFill/>
        </p:spPr>
        <p:txBody>
          <a:bodyPr wrap="square" lIns="0" tIns="0" rIns="0" bIns="0" anchor="t">
            <a:spAutoFit/>
          </a:bodyPr>
          <a:lstStyle/>
          <a:p>
            <a:pPr algn="l">
              <a:spcAft>
                <a:spcPts val="0"/>
              </a:spcAft>
            </a:pPr>
            <a:r>
              <a:rPr sz="1800" b="0" i="0">
                <a:solidFill>
                  <a:srgbClr val="1A1A1A"/>
                </a:solidFill>
                <a:latin typeface="Times New Roman"/>
              </a:rPr>
              <a:t>Develop and evaluate machine learning models that forecast weekly dengue cases two weeks ahead, and determine whether meteorological features add predictive value beyond recent case history.</a:t>
            </a:r>
          </a:p>
        </p:txBody>
      </p:sp>
      <p:sp>
        <p:nvSpPr>
          <p:cNvPr id="10" name="Rounded Rectangle 9"/>
          <p:cNvSpPr/>
          <p:nvPr/>
        </p:nvSpPr>
        <p:spPr>
          <a:xfrm>
            <a:off x="1500000" y="3300000"/>
            <a:ext cx="2850000" cy="280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630000" y="3420000"/>
            <a:ext cx="2590000" cy="360000"/>
          </a:xfrm>
          <a:prstGeom prst="roundRect">
            <a:avLst>
              <a:gd name="adj" fmla="val 5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1A1A1A"/>
                </a:solidFill>
                <a:latin typeface="Times New Roman"/>
              </a:rPr>
              <a:t>Objective 1</a:t>
            </a:r>
          </a:p>
        </p:txBody>
      </p:sp>
      <p:sp>
        <p:nvSpPr>
          <p:cNvPr id="12" name="TextBox 11"/>
          <p:cNvSpPr txBox="1"/>
          <p:nvPr/>
        </p:nvSpPr>
        <p:spPr>
          <a:xfrm>
            <a:off x="1630000" y="3930000"/>
            <a:ext cx="2590000" cy="2100000"/>
          </a:xfrm>
          <a:prstGeom prst="rect">
            <a:avLst/>
          </a:prstGeom>
          <a:noFill/>
        </p:spPr>
        <p:txBody>
          <a:bodyPr wrap="square" lIns="0" tIns="0" rIns="0" bIns="0" anchor="t">
            <a:spAutoFit/>
          </a:bodyPr>
          <a:lstStyle/>
          <a:p>
            <a:pPr algn="l">
              <a:spcAft>
                <a:spcPts val="0"/>
              </a:spcAft>
            </a:pPr>
            <a:r>
              <a:rPr sz="1700" b="0" i="0">
                <a:solidFill>
                  <a:srgbClr val="1A1A1A"/>
                </a:solidFill>
                <a:latin typeface="Times New Roman"/>
              </a:rPr>
              <a:t>Compare the forecast accuracy of full XGBoost (28 features) against a persistence baseline (simply repeating the latest case count).</a:t>
            </a:r>
          </a:p>
        </p:txBody>
      </p:sp>
      <p:sp>
        <p:nvSpPr>
          <p:cNvPr id="13" name="Rounded Rectangle 12"/>
          <p:cNvSpPr/>
          <p:nvPr/>
        </p:nvSpPr>
        <p:spPr>
          <a:xfrm>
            <a:off x="4475000" y="3300000"/>
            <a:ext cx="2850000" cy="280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605000" y="3420000"/>
            <a:ext cx="2590000" cy="360000"/>
          </a:xfrm>
          <a:prstGeom prst="roundRect">
            <a:avLst>
              <a:gd name="adj" fmla="val 50000"/>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Objective 2</a:t>
            </a:r>
          </a:p>
        </p:txBody>
      </p:sp>
      <p:sp>
        <p:nvSpPr>
          <p:cNvPr id="15" name="TextBox 14"/>
          <p:cNvSpPr txBox="1"/>
          <p:nvPr/>
        </p:nvSpPr>
        <p:spPr>
          <a:xfrm>
            <a:off x="4605000" y="3930000"/>
            <a:ext cx="2590000" cy="2100000"/>
          </a:xfrm>
          <a:prstGeom prst="rect">
            <a:avLst/>
          </a:prstGeom>
          <a:noFill/>
        </p:spPr>
        <p:txBody>
          <a:bodyPr wrap="square" lIns="0" tIns="0" rIns="0" bIns="0" anchor="t">
            <a:spAutoFit/>
          </a:bodyPr>
          <a:lstStyle/>
          <a:p>
            <a:pPr algn="l">
              <a:spcAft>
                <a:spcPts val="0"/>
              </a:spcAft>
            </a:pPr>
            <a:r>
              <a:rPr sz="1700" b="0" i="0" dirty="0">
                <a:solidFill>
                  <a:srgbClr val="1A1A1A"/>
                </a:solidFill>
                <a:latin typeface="Times New Roman"/>
              </a:rPr>
              <a:t>Measure the predictive contribution of weather features: case-only </a:t>
            </a:r>
            <a:r>
              <a:rPr sz="1700" b="0" i="0" dirty="0" err="1">
                <a:solidFill>
                  <a:srgbClr val="1A1A1A"/>
                </a:solidFill>
                <a:latin typeface="Times New Roman"/>
              </a:rPr>
              <a:t>XGBoost</a:t>
            </a:r>
            <a:r>
              <a:rPr sz="1700" b="0" i="0" dirty="0">
                <a:solidFill>
                  <a:srgbClr val="1A1A1A"/>
                </a:solidFill>
                <a:latin typeface="Times New Roman"/>
              </a:rPr>
              <a:t> versus full </a:t>
            </a:r>
            <a:r>
              <a:rPr sz="1700" b="0" i="0" dirty="0" err="1">
                <a:solidFill>
                  <a:srgbClr val="1A1A1A"/>
                </a:solidFill>
                <a:latin typeface="Times New Roman"/>
              </a:rPr>
              <a:t>XGBoost</a:t>
            </a:r>
            <a:r>
              <a:rPr sz="1700" b="0" i="0" dirty="0">
                <a:solidFill>
                  <a:srgbClr val="1A1A1A"/>
                </a:solidFill>
                <a:latin typeface="Times New Roman"/>
              </a:rPr>
              <a:t>.</a:t>
            </a:r>
          </a:p>
        </p:txBody>
      </p:sp>
      <p:sp>
        <p:nvSpPr>
          <p:cNvPr id="16" name="Rounded Rectangle 15"/>
          <p:cNvSpPr/>
          <p:nvPr/>
        </p:nvSpPr>
        <p:spPr>
          <a:xfrm>
            <a:off x="7450000" y="3300000"/>
            <a:ext cx="2850000" cy="280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580000" y="3420000"/>
            <a:ext cx="2590000" cy="3600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Objective 3</a:t>
            </a:r>
          </a:p>
        </p:txBody>
      </p:sp>
      <p:sp>
        <p:nvSpPr>
          <p:cNvPr id="18" name="TextBox 17"/>
          <p:cNvSpPr txBox="1"/>
          <p:nvPr/>
        </p:nvSpPr>
        <p:spPr>
          <a:xfrm>
            <a:off x="7580000" y="3930000"/>
            <a:ext cx="2590000" cy="2100000"/>
          </a:xfrm>
          <a:prstGeom prst="rect">
            <a:avLst/>
          </a:prstGeom>
          <a:noFill/>
        </p:spPr>
        <p:txBody>
          <a:bodyPr wrap="square" lIns="0" tIns="0" rIns="0" bIns="0" anchor="t">
            <a:spAutoFit/>
          </a:bodyPr>
          <a:lstStyle/>
          <a:p>
            <a:pPr algn="l">
              <a:spcAft>
                <a:spcPts val="0"/>
              </a:spcAft>
            </a:pPr>
            <a:r>
              <a:rPr sz="1700" b="0" i="0">
                <a:solidFill>
                  <a:srgbClr val="1A1A1A"/>
                </a:solidFill>
                <a:latin typeface="Times New Roman"/>
              </a:rPr>
              <a:t>Describe how consistent accuracy and the weather contribution are across the three cities.</a:t>
            </a:r>
          </a:p>
        </p:txBody>
      </p:sp>
    </p:spTree>
    <p:extLst>
      <p:ext uri="{BB962C8B-B14F-4D97-AF65-F5344CB8AC3E}">
        <p14:creationId xmlns:p14="http://schemas.microsoft.com/office/powerpoint/2010/main" val="107072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E5083B-5671-DE51-A302-4F51ED7FDD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Slide Title">
            <a:extLst>
              <a:ext uri="{FF2B5EF4-FFF2-40B4-BE49-F238E27FC236}">
                <a16:creationId xmlns:a16="http://schemas.microsoft.com/office/drawing/2014/main" id="{C729C6FE-15B1-5029-2A08-E9129B45ADD4}"/>
              </a:ext>
            </a:extLst>
          </p:cNvPr>
          <p:cNvSpPr txBox="1"/>
          <p:nvPr/>
        </p:nvSpPr>
        <p:spPr>
          <a:xfrm>
            <a:off x="1500000" y="540000"/>
            <a:ext cx="8800000" cy="900000"/>
          </a:xfrm>
          <a:prstGeom prst="rect">
            <a:avLst/>
          </a:prstGeom>
          <a:noFill/>
        </p:spPr>
        <p:txBody>
          <a:bodyPr wrap="square" lIns="0" tIns="0" rIns="0" bIns="0" anchor="b">
            <a:noAutofit/>
          </a:bodyPr>
          <a:lstStyle/>
          <a:p>
            <a:pPr algn="l">
              <a:spcAft>
                <a:spcPts val="0"/>
              </a:spcAft>
              <a:buNone/>
            </a:pPr>
            <a:r>
              <a:rPr lang="en-US" sz="2800" b="1" i="0" dirty="0">
                <a:solidFill>
                  <a:srgbClr val="1A1A1A"/>
                </a:solidFill>
                <a:latin typeface="Times New Roman"/>
                <a:cs typeface="Times New Roman"/>
              </a:rPr>
              <a:t>Research Questions</a:t>
            </a:r>
          </a:p>
        </p:txBody>
      </p:sp>
      <p:sp>
        <p:nvSpPr>
          <p:cNvPr id="7" name="Slide Subtitle">
            <a:extLst>
              <a:ext uri="{FF2B5EF4-FFF2-40B4-BE49-F238E27FC236}">
                <a16:creationId xmlns:a16="http://schemas.microsoft.com/office/drawing/2014/main" id="{ECA149F0-D21A-D43B-7E28-276923A23CE2}"/>
              </a:ext>
            </a:extLst>
          </p:cNvPr>
          <p:cNvSpPr txBox="1"/>
          <p:nvPr/>
        </p:nvSpPr>
        <p:spPr>
          <a:xfrm>
            <a:off x="1500000" y="1500000"/>
            <a:ext cx="8800000" cy="340000"/>
          </a:xfrm>
          <a:prstGeom prst="rect">
            <a:avLst/>
          </a:prstGeom>
          <a:noFill/>
        </p:spPr>
        <p:txBody>
          <a:bodyPr wrap="square" lIns="0" tIns="0" rIns="0" bIns="0" anchor="t">
            <a:noAutofit/>
          </a:bodyPr>
          <a:lstStyle/>
          <a:p>
            <a:pPr algn="l">
              <a:spcAft>
                <a:spcPts val="0"/>
              </a:spcAft>
              <a:buNone/>
            </a:pPr>
            <a:r>
              <a:rPr lang="en-US" sz="1800" b="1" i="0" dirty="0">
                <a:solidFill>
                  <a:srgbClr val="2F5597"/>
                </a:solidFill>
                <a:latin typeface="Times New Roman"/>
                <a:cs typeface="Times New Roman"/>
              </a:rPr>
              <a:t>General research question</a:t>
            </a:r>
          </a:p>
        </p:txBody>
      </p:sp>
      <p:sp>
        <p:nvSpPr>
          <p:cNvPr id="9" name="General RQ card">
            <a:extLst>
              <a:ext uri="{FF2B5EF4-FFF2-40B4-BE49-F238E27FC236}">
                <a16:creationId xmlns:a16="http://schemas.microsoft.com/office/drawing/2014/main" id="{19135A3C-CBFE-3EE9-F590-75C5AE2CCD4B}"/>
              </a:ext>
            </a:extLst>
          </p:cNvPr>
          <p:cNvSpPr/>
          <p:nvPr/>
        </p:nvSpPr>
        <p:spPr>
          <a:xfrm>
            <a:off x="1500000" y="2000000"/>
            <a:ext cx="8800000" cy="275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11" name="General RQ pill">
            <a:extLst>
              <a:ext uri="{FF2B5EF4-FFF2-40B4-BE49-F238E27FC236}">
                <a16:creationId xmlns:a16="http://schemas.microsoft.com/office/drawing/2014/main" id="{EBF11205-EFA4-645D-67C9-5BF95A0D2280}"/>
              </a:ext>
            </a:extLst>
          </p:cNvPr>
          <p:cNvSpPr/>
          <p:nvPr/>
        </p:nvSpPr>
        <p:spPr>
          <a:xfrm>
            <a:off x="1700000" y="2150000"/>
            <a:ext cx="2900000" cy="380000"/>
          </a:xfrm>
          <a:prstGeom prst="roundRect">
            <a:avLst>
              <a:gd name="adj" fmla="val 50000"/>
            </a:avLst>
          </a:prstGeom>
          <a:solidFill>
            <a:srgbClr val="2F5597"/>
          </a:solidFill>
          <a:ln>
            <a:noFill/>
          </a:ln>
          <a:effectLst/>
        </p:spPr>
        <p:txBody>
          <a:bodyPr wrap="square" lIns="60000" tIns="0" rIns="60000" bIns="0" rtlCol="0" anchor="ctr">
            <a:noAutofit/>
          </a:bodyPr>
          <a:lstStyle/>
          <a:p>
            <a:pPr algn="ctr">
              <a:spcAft>
                <a:spcPts val="0"/>
              </a:spcAft>
              <a:buNone/>
            </a:pPr>
            <a:r>
              <a:rPr lang="en-US" sz="1400" b="1" i="0" dirty="0">
                <a:solidFill>
                  <a:srgbClr val="FFFFFF"/>
                </a:solidFill>
                <a:latin typeface="Times New Roman"/>
                <a:cs typeface="Times New Roman"/>
              </a:rPr>
              <a:t>General research question</a:t>
            </a:r>
          </a:p>
        </p:txBody>
      </p:sp>
      <p:sp>
        <p:nvSpPr>
          <p:cNvPr id="13" name="General RQ text">
            <a:extLst>
              <a:ext uri="{FF2B5EF4-FFF2-40B4-BE49-F238E27FC236}">
                <a16:creationId xmlns:a16="http://schemas.microsoft.com/office/drawing/2014/main" id="{8CE87CAC-1E6D-2CAC-9138-BC88A1C226E2}"/>
              </a:ext>
            </a:extLst>
          </p:cNvPr>
          <p:cNvSpPr txBox="1"/>
          <p:nvPr/>
        </p:nvSpPr>
        <p:spPr>
          <a:xfrm>
            <a:off x="1750000" y="2700000"/>
            <a:ext cx="8300000" cy="1950000"/>
          </a:xfrm>
          <a:prstGeom prst="rect">
            <a:avLst/>
          </a:prstGeom>
          <a:noFill/>
        </p:spPr>
        <p:txBody>
          <a:bodyPr wrap="square" lIns="0" tIns="0" rIns="0" bIns="0" anchor="t">
            <a:noAutofit/>
          </a:bodyPr>
          <a:lstStyle/>
          <a:p>
            <a:pPr algn="l">
              <a:spcAft>
                <a:spcPts val="0"/>
              </a:spcAft>
              <a:buNone/>
            </a:pPr>
            <a:r>
              <a:rPr lang="en-US" sz="2200" b="0" i="0" dirty="0">
                <a:solidFill>
                  <a:srgbClr val="1A1A1A"/>
                </a:solidFill>
                <a:latin typeface="Times New Roman"/>
                <a:cs typeface="Times New Roman"/>
              </a:rPr>
              <a:t>To what extent do machine learning models that combine </a:t>
            </a:r>
            <a:r>
              <a:rPr lang="en-US" sz="2200" b="1" i="0" dirty="0">
                <a:solidFill>
                  <a:srgbClr val="2F5597"/>
                </a:solidFill>
                <a:latin typeface="Times New Roman"/>
                <a:cs typeface="Times New Roman"/>
              </a:rPr>
              <a:t>recent dengue case history</a:t>
            </a:r>
            <a:r>
              <a:rPr lang="en-US" sz="2200" b="0" i="0" dirty="0">
                <a:solidFill>
                  <a:srgbClr val="1A1A1A"/>
                </a:solidFill>
                <a:latin typeface="Times New Roman"/>
                <a:cs typeface="Times New Roman"/>
              </a:rPr>
              <a:t> with </a:t>
            </a:r>
            <a:r>
              <a:rPr lang="en-US" sz="2200" b="1" i="0" dirty="0">
                <a:solidFill>
                  <a:srgbClr val="2F5597"/>
                </a:solidFill>
                <a:latin typeface="Times New Roman"/>
                <a:cs typeface="Times New Roman"/>
              </a:rPr>
              <a:t>lagged meteorological features</a:t>
            </a:r>
            <a:r>
              <a:rPr lang="en-US" sz="2200" b="0" i="0" dirty="0">
                <a:solidFill>
                  <a:srgbClr val="1A1A1A"/>
                </a:solidFill>
                <a:latin typeface="Times New Roman"/>
                <a:cs typeface="Times New Roman"/>
              </a:rPr>
              <a:t> improve short-horizon forecasts of weekly dengue cases in Mindanao cities, compared with models that use </a:t>
            </a:r>
            <a:r>
              <a:rPr lang="en-US" sz="2200" b="1" i="0" dirty="0">
                <a:solidFill>
                  <a:srgbClr val="2F5597"/>
                </a:solidFill>
                <a:latin typeface="Times New Roman"/>
                <a:cs typeface="Times New Roman"/>
              </a:rPr>
              <a:t>case history alone</a:t>
            </a:r>
            <a:r>
              <a:rPr lang="en-US" sz="2200" b="0" i="0" dirty="0">
                <a:solidFill>
                  <a:srgbClr val="1A1A1A"/>
                </a:solidFill>
                <a:latin typeface="Times New Roman"/>
                <a:cs typeface="Times New Roman"/>
              </a:rPr>
              <a:t>, when they are evaluated on </a:t>
            </a:r>
            <a:r>
              <a:rPr lang="en-US" sz="2200" b="1" i="0" dirty="0">
                <a:solidFill>
                  <a:srgbClr val="2F5597"/>
                </a:solidFill>
                <a:latin typeface="Times New Roman"/>
                <a:cs typeface="Times New Roman"/>
              </a:rPr>
              <a:t>data they have never seen</a:t>
            </a:r>
            <a:r>
              <a:rPr lang="en-US" sz="2200" b="0" i="0" dirty="0">
                <a:solidFill>
                  <a:srgbClr val="1A1A1A"/>
                </a:solidFill>
                <a:latin typeface="Times New Roman"/>
                <a:cs typeface="Times New Roman"/>
              </a:rPr>
              <a:t>?</a:t>
            </a:r>
          </a:p>
        </p:txBody>
      </p:sp>
      <p:sp>
        <p:nvSpPr>
          <p:cNvPr id="15" name="Tile 1">
            <a:extLst>
              <a:ext uri="{FF2B5EF4-FFF2-40B4-BE49-F238E27FC236}">
                <a16:creationId xmlns:a16="http://schemas.microsoft.com/office/drawing/2014/main" id="{08130EB3-D2F2-FF3C-CEF6-7C2F659263F3}"/>
              </a:ext>
            </a:extLst>
          </p:cNvPr>
          <p:cNvSpPr/>
          <p:nvPr/>
        </p:nvSpPr>
        <p:spPr>
          <a:xfrm>
            <a:off x="1500000" y="5000000"/>
            <a:ext cx="2850000" cy="100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17" name="Tile value 1">
            <a:extLst>
              <a:ext uri="{FF2B5EF4-FFF2-40B4-BE49-F238E27FC236}">
                <a16:creationId xmlns:a16="http://schemas.microsoft.com/office/drawing/2014/main" id="{DF2E900E-AC89-6532-996F-CA611FA2EFBA}"/>
              </a:ext>
            </a:extLst>
          </p:cNvPr>
          <p:cNvSpPr txBox="1"/>
          <p:nvPr/>
        </p:nvSpPr>
        <p:spPr>
          <a:xfrm>
            <a:off x="1670000" y="5080000"/>
            <a:ext cx="1150000" cy="840000"/>
          </a:xfrm>
          <a:prstGeom prst="rect">
            <a:avLst/>
          </a:prstGeom>
          <a:noFill/>
        </p:spPr>
        <p:txBody>
          <a:bodyPr wrap="square" lIns="0" tIns="0" rIns="0" bIns="0" anchor="ctr">
            <a:noAutofit/>
          </a:bodyPr>
          <a:lstStyle/>
          <a:p>
            <a:pPr algn="l">
              <a:spcAft>
                <a:spcPts val="0"/>
              </a:spcAft>
              <a:buNone/>
            </a:pPr>
            <a:r>
              <a:rPr lang="en-US" sz="2600" b="1" i="0" dirty="0">
                <a:solidFill>
                  <a:srgbClr val="2F5597"/>
                </a:solidFill>
                <a:latin typeface="Times New Roman"/>
                <a:cs typeface="Times New Roman"/>
              </a:rPr>
              <a:t>6 vs 28</a:t>
            </a:r>
          </a:p>
        </p:txBody>
      </p:sp>
      <p:sp>
        <p:nvSpPr>
          <p:cNvPr id="19" name="Tile label 1">
            <a:extLst>
              <a:ext uri="{FF2B5EF4-FFF2-40B4-BE49-F238E27FC236}">
                <a16:creationId xmlns:a16="http://schemas.microsoft.com/office/drawing/2014/main" id="{5847DA42-1860-C16E-4CA6-E42F221C0DE9}"/>
              </a:ext>
            </a:extLst>
          </p:cNvPr>
          <p:cNvSpPr txBox="1"/>
          <p:nvPr/>
        </p:nvSpPr>
        <p:spPr>
          <a:xfrm>
            <a:off x="2850000" y="5080000"/>
            <a:ext cx="1400000" cy="840000"/>
          </a:xfrm>
          <a:prstGeom prst="rect">
            <a:avLst/>
          </a:prstGeom>
          <a:noFill/>
        </p:spPr>
        <p:txBody>
          <a:bodyPr wrap="square" lIns="0" tIns="0" rIns="0" bIns="0" anchor="ctr">
            <a:noAutofit/>
          </a:bodyPr>
          <a:lstStyle/>
          <a:p>
            <a:pPr algn="l">
              <a:spcAft>
                <a:spcPts val="0"/>
              </a:spcAft>
              <a:buNone/>
            </a:pPr>
            <a:r>
              <a:rPr lang="en-US" sz="1400" b="0" i="0" dirty="0">
                <a:solidFill>
                  <a:srgbClr val="4A4A4A"/>
                </a:solidFill>
                <a:latin typeface="Times New Roman"/>
                <a:cs typeface="Times New Roman"/>
              </a:rPr>
              <a:t>predictors without vs with weather</a:t>
            </a:r>
          </a:p>
        </p:txBody>
      </p:sp>
      <p:sp>
        <p:nvSpPr>
          <p:cNvPr id="21" name="Tile 2">
            <a:extLst>
              <a:ext uri="{FF2B5EF4-FFF2-40B4-BE49-F238E27FC236}">
                <a16:creationId xmlns:a16="http://schemas.microsoft.com/office/drawing/2014/main" id="{BADF068B-8BB4-E612-7227-6ABCFE62536C}"/>
              </a:ext>
            </a:extLst>
          </p:cNvPr>
          <p:cNvSpPr/>
          <p:nvPr/>
        </p:nvSpPr>
        <p:spPr>
          <a:xfrm>
            <a:off x="4475000" y="5000000"/>
            <a:ext cx="2850000" cy="100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23" name="Tile value 2">
            <a:extLst>
              <a:ext uri="{FF2B5EF4-FFF2-40B4-BE49-F238E27FC236}">
                <a16:creationId xmlns:a16="http://schemas.microsoft.com/office/drawing/2014/main" id="{0980BFB9-8E91-A7D3-8282-5E60476D8C7F}"/>
              </a:ext>
            </a:extLst>
          </p:cNvPr>
          <p:cNvSpPr txBox="1"/>
          <p:nvPr/>
        </p:nvSpPr>
        <p:spPr>
          <a:xfrm>
            <a:off x="4645000" y="5080000"/>
            <a:ext cx="1150000" cy="840000"/>
          </a:xfrm>
          <a:prstGeom prst="rect">
            <a:avLst/>
          </a:prstGeom>
          <a:noFill/>
        </p:spPr>
        <p:txBody>
          <a:bodyPr wrap="square" lIns="0" tIns="0" rIns="0" bIns="0" anchor="ctr">
            <a:noAutofit/>
          </a:bodyPr>
          <a:lstStyle/>
          <a:p>
            <a:pPr algn="l">
              <a:spcAft>
                <a:spcPts val="0"/>
              </a:spcAft>
              <a:buNone/>
            </a:pPr>
            <a:r>
              <a:rPr lang="en-US" sz="2600" b="1" i="0" dirty="0">
                <a:solidFill>
                  <a:srgbClr val="2E7D32"/>
                </a:solidFill>
                <a:latin typeface="Times New Roman"/>
                <a:cs typeface="Times New Roman"/>
              </a:rPr>
              <a:t>t+2</a:t>
            </a:r>
          </a:p>
        </p:txBody>
      </p:sp>
      <p:sp>
        <p:nvSpPr>
          <p:cNvPr id="25" name="Tile label 2">
            <a:extLst>
              <a:ext uri="{FF2B5EF4-FFF2-40B4-BE49-F238E27FC236}">
                <a16:creationId xmlns:a16="http://schemas.microsoft.com/office/drawing/2014/main" id="{92572F18-98D7-0487-6933-0C60AE02CF32}"/>
              </a:ext>
            </a:extLst>
          </p:cNvPr>
          <p:cNvSpPr txBox="1"/>
          <p:nvPr/>
        </p:nvSpPr>
        <p:spPr>
          <a:xfrm>
            <a:off x="5825000" y="5080000"/>
            <a:ext cx="1400000" cy="840000"/>
          </a:xfrm>
          <a:prstGeom prst="rect">
            <a:avLst/>
          </a:prstGeom>
          <a:noFill/>
        </p:spPr>
        <p:txBody>
          <a:bodyPr wrap="square" lIns="0" tIns="0" rIns="0" bIns="0" anchor="ctr">
            <a:noAutofit/>
          </a:bodyPr>
          <a:lstStyle/>
          <a:p>
            <a:pPr algn="l">
              <a:spcAft>
                <a:spcPts val="0"/>
              </a:spcAft>
              <a:buNone/>
            </a:pPr>
            <a:r>
              <a:rPr lang="en-US" sz="1400" b="0" i="0" dirty="0">
                <a:solidFill>
                  <a:srgbClr val="4A4A4A"/>
                </a:solidFill>
                <a:latin typeface="Times New Roman"/>
                <a:cs typeface="Times New Roman"/>
              </a:rPr>
              <a:t>weeks-ahead forecasts</a:t>
            </a:r>
          </a:p>
        </p:txBody>
      </p:sp>
      <p:sp>
        <p:nvSpPr>
          <p:cNvPr id="27" name="Tile 3">
            <a:extLst>
              <a:ext uri="{FF2B5EF4-FFF2-40B4-BE49-F238E27FC236}">
                <a16:creationId xmlns:a16="http://schemas.microsoft.com/office/drawing/2014/main" id="{1B19F21F-44CA-0AD2-D2A1-4C72D70176C6}"/>
              </a:ext>
            </a:extLst>
          </p:cNvPr>
          <p:cNvSpPr/>
          <p:nvPr/>
        </p:nvSpPr>
        <p:spPr>
          <a:xfrm>
            <a:off x="7450000" y="5000000"/>
            <a:ext cx="2850000" cy="100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29" name="Tile value 3">
            <a:extLst>
              <a:ext uri="{FF2B5EF4-FFF2-40B4-BE49-F238E27FC236}">
                <a16:creationId xmlns:a16="http://schemas.microsoft.com/office/drawing/2014/main" id="{77B2F93E-1734-CB0E-9B6A-802DCCAFADBB}"/>
              </a:ext>
            </a:extLst>
          </p:cNvPr>
          <p:cNvSpPr txBox="1"/>
          <p:nvPr/>
        </p:nvSpPr>
        <p:spPr>
          <a:xfrm>
            <a:off x="7620000" y="5080000"/>
            <a:ext cx="1150000" cy="840000"/>
          </a:xfrm>
          <a:prstGeom prst="rect">
            <a:avLst/>
          </a:prstGeom>
          <a:noFill/>
        </p:spPr>
        <p:txBody>
          <a:bodyPr wrap="square" lIns="0" tIns="0" rIns="0" bIns="0" anchor="ctr">
            <a:noAutofit/>
          </a:bodyPr>
          <a:lstStyle/>
          <a:p>
            <a:pPr algn="l">
              <a:spcAft>
                <a:spcPts val="0"/>
              </a:spcAft>
              <a:buNone/>
            </a:pPr>
            <a:r>
              <a:rPr lang="en-US" sz="2600" b="1" i="0" dirty="0">
                <a:solidFill>
                  <a:srgbClr val="C62828"/>
                </a:solidFill>
                <a:latin typeface="Times New Roman"/>
                <a:cs typeface="Times New Roman"/>
              </a:rPr>
              <a:t>2020</a:t>
            </a:r>
          </a:p>
        </p:txBody>
      </p:sp>
      <p:sp>
        <p:nvSpPr>
          <p:cNvPr id="31" name="Tile label 3">
            <a:extLst>
              <a:ext uri="{FF2B5EF4-FFF2-40B4-BE49-F238E27FC236}">
                <a16:creationId xmlns:a16="http://schemas.microsoft.com/office/drawing/2014/main" id="{C0F3CD9C-0774-749F-06FE-F24054AF0DF3}"/>
              </a:ext>
            </a:extLst>
          </p:cNvPr>
          <p:cNvSpPr txBox="1"/>
          <p:nvPr/>
        </p:nvSpPr>
        <p:spPr>
          <a:xfrm>
            <a:off x="8800000" y="5080000"/>
            <a:ext cx="1400000" cy="840000"/>
          </a:xfrm>
          <a:prstGeom prst="rect">
            <a:avLst/>
          </a:prstGeom>
          <a:noFill/>
        </p:spPr>
        <p:txBody>
          <a:bodyPr wrap="square" lIns="0" tIns="0" rIns="0" bIns="0" anchor="ctr">
            <a:noAutofit/>
          </a:bodyPr>
          <a:lstStyle/>
          <a:p>
            <a:pPr algn="l">
              <a:spcAft>
                <a:spcPts val="0"/>
              </a:spcAft>
              <a:buNone/>
            </a:pPr>
            <a:r>
              <a:rPr lang="en-US" sz="1400" b="0" i="0" dirty="0">
                <a:solidFill>
                  <a:srgbClr val="4A4A4A"/>
                </a:solidFill>
                <a:latin typeface="Times New Roman"/>
                <a:cs typeface="Times New Roman"/>
              </a:rPr>
              <a:t>unseen test year</a:t>
            </a:r>
          </a:p>
        </p:txBody>
      </p:sp>
    </p:spTree>
    <p:extLst>
      <p:ext uri="{BB962C8B-B14F-4D97-AF65-F5344CB8AC3E}">
        <p14:creationId xmlns:p14="http://schemas.microsoft.com/office/powerpoint/2010/main" val="1293315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30753-460D-6E5C-A236-20396ABB1A9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2593BFD-A21E-9514-5E55-823ED56257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Slide Title">
            <a:extLst>
              <a:ext uri="{FF2B5EF4-FFF2-40B4-BE49-F238E27FC236}">
                <a16:creationId xmlns:a16="http://schemas.microsoft.com/office/drawing/2014/main" id="{2EFCB3C7-F113-14E8-2819-ECB2279D4915}"/>
              </a:ext>
            </a:extLst>
          </p:cNvPr>
          <p:cNvSpPr txBox="1"/>
          <p:nvPr/>
        </p:nvSpPr>
        <p:spPr>
          <a:xfrm>
            <a:off x="1500000" y="540000"/>
            <a:ext cx="8800000" cy="900000"/>
          </a:xfrm>
          <a:prstGeom prst="rect">
            <a:avLst/>
          </a:prstGeom>
          <a:noFill/>
        </p:spPr>
        <p:txBody>
          <a:bodyPr wrap="square" lIns="0" tIns="0" rIns="0" bIns="0" anchor="b">
            <a:noAutofit/>
          </a:bodyPr>
          <a:lstStyle/>
          <a:p>
            <a:pPr algn="l">
              <a:spcAft>
                <a:spcPts val="0"/>
              </a:spcAft>
              <a:buNone/>
            </a:pPr>
            <a:r>
              <a:rPr lang="en-US" sz="2800" b="1" i="0" dirty="0">
                <a:solidFill>
                  <a:srgbClr val="1A1A1A"/>
                </a:solidFill>
                <a:latin typeface="Times New Roman"/>
                <a:cs typeface="Times New Roman"/>
              </a:rPr>
              <a:t>Research Questions</a:t>
            </a:r>
          </a:p>
        </p:txBody>
      </p:sp>
      <p:sp>
        <p:nvSpPr>
          <p:cNvPr id="7" name="Slide Subtitle">
            <a:extLst>
              <a:ext uri="{FF2B5EF4-FFF2-40B4-BE49-F238E27FC236}">
                <a16:creationId xmlns:a16="http://schemas.microsoft.com/office/drawing/2014/main" id="{8A53764F-93E0-24F1-91FF-BB96F7975725}"/>
              </a:ext>
            </a:extLst>
          </p:cNvPr>
          <p:cNvSpPr txBox="1"/>
          <p:nvPr/>
        </p:nvSpPr>
        <p:spPr>
          <a:xfrm>
            <a:off x="1500000" y="1500000"/>
            <a:ext cx="8800000" cy="340000"/>
          </a:xfrm>
          <a:prstGeom prst="rect">
            <a:avLst/>
          </a:prstGeom>
          <a:noFill/>
        </p:spPr>
        <p:txBody>
          <a:bodyPr wrap="square" lIns="0" tIns="0" rIns="0" bIns="0" anchor="t">
            <a:noAutofit/>
          </a:bodyPr>
          <a:lstStyle/>
          <a:p>
            <a:pPr algn="l">
              <a:spcAft>
                <a:spcPts val="0"/>
              </a:spcAft>
              <a:buNone/>
            </a:pPr>
            <a:r>
              <a:rPr lang="en-US" sz="1800" b="1" i="0" dirty="0">
                <a:solidFill>
                  <a:srgbClr val="2F5597"/>
                </a:solidFill>
                <a:latin typeface="Times New Roman"/>
                <a:cs typeface="Times New Roman"/>
              </a:rPr>
              <a:t>Three specific questions, each tied to an objective</a:t>
            </a:r>
          </a:p>
        </p:txBody>
      </p:sp>
      <p:sp>
        <p:nvSpPr>
          <p:cNvPr id="9" name="RQ card 1">
            <a:extLst>
              <a:ext uri="{FF2B5EF4-FFF2-40B4-BE49-F238E27FC236}">
                <a16:creationId xmlns:a16="http://schemas.microsoft.com/office/drawing/2014/main" id="{1A3A14AD-22AA-444D-97E8-EE3851F5EE63}"/>
              </a:ext>
            </a:extLst>
          </p:cNvPr>
          <p:cNvSpPr/>
          <p:nvPr/>
        </p:nvSpPr>
        <p:spPr>
          <a:xfrm>
            <a:off x="1500000" y="1960000"/>
            <a:ext cx="8800000" cy="131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11" name="RQ pill 1">
            <a:extLst>
              <a:ext uri="{FF2B5EF4-FFF2-40B4-BE49-F238E27FC236}">
                <a16:creationId xmlns:a16="http://schemas.microsoft.com/office/drawing/2014/main" id="{5A2B3E00-74A0-348C-59B1-0C3211C138B4}"/>
              </a:ext>
            </a:extLst>
          </p:cNvPr>
          <p:cNvSpPr/>
          <p:nvPr/>
        </p:nvSpPr>
        <p:spPr>
          <a:xfrm>
            <a:off x="1700000" y="2100000"/>
            <a:ext cx="1000000" cy="380000"/>
          </a:xfrm>
          <a:prstGeom prst="roundRect">
            <a:avLst>
              <a:gd name="adj" fmla="val 50000"/>
            </a:avLst>
          </a:prstGeom>
          <a:solidFill>
            <a:srgbClr val="FFC000"/>
          </a:solidFill>
          <a:ln>
            <a:noFill/>
          </a:ln>
          <a:effectLst/>
        </p:spPr>
        <p:txBody>
          <a:bodyPr wrap="square" lIns="60000" tIns="0" rIns="60000" bIns="0" rtlCol="0" anchor="ctr">
            <a:noAutofit/>
          </a:bodyPr>
          <a:lstStyle/>
          <a:p>
            <a:pPr algn="ctr">
              <a:spcAft>
                <a:spcPts val="0"/>
              </a:spcAft>
              <a:buNone/>
            </a:pPr>
            <a:r>
              <a:rPr lang="en-US" sz="1600" b="1" i="0" dirty="0">
                <a:solidFill>
                  <a:srgbClr val="1A1A1A"/>
                </a:solidFill>
                <a:latin typeface="Times New Roman"/>
                <a:cs typeface="Times New Roman"/>
              </a:rPr>
              <a:t>RQ1</a:t>
            </a:r>
          </a:p>
        </p:txBody>
      </p:sp>
      <p:sp>
        <p:nvSpPr>
          <p:cNvPr id="15" name="RQ chip 1">
            <a:extLst>
              <a:ext uri="{FF2B5EF4-FFF2-40B4-BE49-F238E27FC236}">
                <a16:creationId xmlns:a16="http://schemas.microsoft.com/office/drawing/2014/main" id="{7010691C-4785-9922-6117-C36F92E3E3B2}"/>
              </a:ext>
            </a:extLst>
          </p:cNvPr>
          <p:cNvSpPr/>
          <p:nvPr/>
        </p:nvSpPr>
        <p:spPr>
          <a:xfrm>
            <a:off x="8400000" y="2100000"/>
            <a:ext cx="1700000" cy="380000"/>
          </a:xfrm>
          <a:prstGeom prst="roundRect">
            <a:avLst>
              <a:gd name="adj" fmla="val 50000"/>
            </a:avLst>
          </a:prstGeom>
          <a:solidFill>
            <a:srgbClr val="FFFFFF"/>
          </a:solidFill>
          <a:ln w="19050">
            <a:solidFill>
              <a:srgbClr val="FFC000"/>
            </a:solidFill>
          </a:ln>
          <a:effectLst/>
        </p:spPr>
        <p:txBody>
          <a:bodyPr wrap="square" lIns="60000" tIns="0" rIns="60000" bIns="0" rtlCol="0" anchor="ctr">
            <a:noAutofit/>
          </a:bodyPr>
          <a:lstStyle/>
          <a:p>
            <a:pPr algn="ctr">
              <a:spcAft>
                <a:spcPts val="0"/>
              </a:spcAft>
              <a:buNone/>
            </a:pPr>
            <a:r>
              <a:rPr lang="en-US" sz="1400" b="1" i="0" dirty="0">
                <a:solidFill>
                  <a:srgbClr val="1A1A1A"/>
                </a:solidFill>
                <a:latin typeface="Times New Roman"/>
                <a:cs typeface="Times New Roman"/>
              </a:rPr>
              <a:t>Objective 1</a:t>
            </a:r>
          </a:p>
        </p:txBody>
      </p:sp>
      <p:sp>
        <p:nvSpPr>
          <p:cNvPr id="17" name="RQ text 1">
            <a:extLst>
              <a:ext uri="{FF2B5EF4-FFF2-40B4-BE49-F238E27FC236}">
                <a16:creationId xmlns:a16="http://schemas.microsoft.com/office/drawing/2014/main" id="{3CE740F1-395B-6112-976D-E48EF9005A0B}"/>
              </a:ext>
            </a:extLst>
          </p:cNvPr>
          <p:cNvSpPr txBox="1"/>
          <p:nvPr/>
        </p:nvSpPr>
        <p:spPr>
          <a:xfrm>
            <a:off x="1700000" y="2600000"/>
            <a:ext cx="8400000" cy="560000"/>
          </a:xfrm>
          <a:prstGeom prst="rect">
            <a:avLst/>
          </a:prstGeom>
          <a:noFill/>
        </p:spPr>
        <p:txBody>
          <a:bodyPr wrap="square" lIns="0" tIns="0" rIns="0" bIns="0" anchor="t">
            <a:noAutofit/>
          </a:bodyPr>
          <a:lstStyle/>
          <a:p>
            <a:pPr algn="l">
              <a:spcAft>
                <a:spcPts val="0"/>
              </a:spcAft>
              <a:buNone/>
            </a:pPr>
            <a:r>
              <a:rPr lang="en-US" sz="1600" b="0" i="0" dirty="0">
                <a:solidFill>
                  <a:srgbClr val="4A4A4A"/>
                </a:solidFill>
                <a:latin typeface="Times New Roman"/>
                <a:cs typeface="Times New Roman"/>
              </a:rPr>
              <a:t>To what extent does the proposed Autoregressive Residual </a:t>
            </a:r>
            <a:r>
              <a:rPr lang="en-US" sz="1600" b="0" i="0" dirty="0" err="1">
                <a:solidFill>
                  <a:srgbClr val="4A4A4A"/>
                </a:solidFill>
                <a:latin typeface="Times New Roman"/>
                <a:cs typeface="Times New Roman"/>
              </a:rPr>
              <a:t>XGBoost</a:t>
            </a:r>
            <a:r>
              <a:rPr lang="en-US" sz="1600" b="0" i="0" dirty="0">
                <a:solidFill>
                  <a:srgbClr val="4A4A4A"/>
                </a:solidFill>
                <a:latin typeface="Times New Roman"/>
                <a:cs typeface="Times New Roman"/>
              </a:rPr>
              <a:t> model improve forecast accuracy over the naive persistence baseline on the held-out test set?</a:t>
            </a:r>
          </a:p>
        </p:txBody>
      </p:sp>
      <p:sp>
        <p:nvSpPr>
          <p:cNvPr id="19" name="RQ card 2">
            <a:extLst>
              <a:ext uri="{FF2B5EF4-FFF2-40B4-BE49-F238E27FC236}">
                <a16:creationId xmlns:a16="http://schemas.microsoft.com/office/drawing/2014/main" id="{17C305DE-32FC-C520-928C-D474AC40ADCA}"/>
              </a:ext>
            </a:extLst>
          </p:cNvPr>
          <p:cNvSpPr/>
          <p:nvPr/>
        </p:nvSpPr>
        <p:spPr>
          <a:xfrm>
            <a:off x="1500000" y="3360000"/>
            <a:ext cx="8800000" cy="131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21" name="RQ pill 2">
            <a:extLst>
              <a:ext uri="{FF2B5EF4-FFF2-40B4-BE49-F238E27FC236}">
                <a16:creationId xmlns:a16="http://schemas.microsoft.com/office/drawing/2014/main" id="{840F925D-3A38-8D61-3827-B3E0F6040DC4}"/>
              </a:ext>
            </a:extLst>
          </p:cNvPr>
          <p:cNvSpPr/>
          <p:nvPr/>
        </p:nvSpPr>
        <p:spPr>
          <a:xfrm>
            <a:off x="1700000" y="3500000"/>
            <a:ext cx="1000000" cy="380000"/>
          </a:xfrm>
          <a:prstGeom prst="roundRect">
            <a:avLst>
              <a:gd name="adj" fmla="val 50000"/>
            </a:avLst>
          </a:prstGeom>
          <a:solidFill>
            <a:srgbClr val="2F5597"/>
          </a:solidFill>
          <a:ln>
            <a:noFill/>
          </a:ln>
          <a:effectLst/>
        </p:spPr>
        <p:txBody>
          <a:bodyPr wrap="square" lIns="60000" tIns="0" rIns="60000" bIns="0" rtlCol="0" anchor="ctr">
            <a:noAutofit/>
          </a:bodyPr>
          <a:lstStyle/>
          <a:p>
            <a:pPr algn="ctr">
              <a:spcAft>
                <a:spcPts val="0"/>
              </a:spcAft>
              <a:buNone/>
            </a:pPr>
            <a:r>
              <a:rPr lang="en-US" sz="1600" b="1" i="0" dirty="0">
                <a:solidFill>
                  <a:srgbClr val="FFFFFF"/>
                </a:solidFill>
                <a:latin typeface="Times New Roman"/>
                <a:cs typeface="Times New Roman"/>
              </a:rPr>
              <a:t>RQ2</a:t>
            </a:r>
          </a:p>
        </p:txBody>
      </p:sp>
      <p:sp>
        <p:nvSpPr>
          <p:cNvPr id="25" name="RQ chip 2">
            <a:extLst>
              <a:ext uri="{FF2B5EF4-FFF2-40B4-BE49-F238E27FC236}">
                <a16:creationId xmlns:a16="http://schemas.microsoft.com/office/drawing/2014/main" id="{95C3DDCE-9FA9-AEFE-8F04-1B5D9D8A8359}"/>
              </a:ext>
            </a:extLst>
          </p:cNvPr>
          <p:cNvSpPr/>
          <p:nvPr/>
        </p:nvSpPr>
        <p:spPr>
          <a:xfrm>
            <a:off x="8400000" y="3500000"/>
            <a:ext cx="1700000" cy="380000"/>
          </a:xfrm>
          <a:prstGeom prst="roundRect">
            <a:avLst>
              <a:gd name="adj" fmla="val 50000"/>
            </a:avLst>
          </a:prstGeom>
          <a:solidFill>
            <a:srgbClr val="FFFFFF"/>
          </a:solidFill>
          <a:ln w="19050">
            <a:solidFill>
              <a:srgbClr val="2F5597"/>
            </a:solidFill>
          </a:ln>
          <a:effectLst/>
        </p:spPr>
        <p:txBody>
          <a:bodyPr wrap="square" lIns="60000" tIns="0" rIns="60000" bIns="0" rtlCol="0" anchor="ctr">
            <a:noAutofit/>
          </a:bodyPr>
          <a:lstStyle/>
          <a:p>
            <a:pPr algn="ctr">
              <a:spcAft>
                <a:spcPts val="0"/>
              </a:spcAft>
              <a:buNone/>
            </a:pPr>
            <a:r>
              <a:rPr lang="en-US" sz="1400" b="1" i="0" dirty="0">
                <a:solidFill>
                  <a:srgbClr val="1A1A1A"/>
                </a:solidFill>
                <a:latin typeface="Times New Roman"/>
                <a:cs typeface="Times New Roman"/>
              </a:rPr>
              <a:t>Objective 2</a:t>
            </a:r>
          </a:p>
        </p:txBody>
      </p:sp>
      <p:sp>
        <p:nvSpPr>
          <p:cNvPr id="27" name="RQ text 2">
            <a:extLst>
              <a:ext uri="{FF2B5EF4-FFF2-40B4-BE49-F238E27FC236}">
                <a16:creationId xmlns:a16="http://schemas.microsoft.com/office/drawing/2014/main" id="{72D6ECC3-03B3-05D1-CA0E-3D50DEDBB35F}"/>
              </a:ext>
            </a:extLst>
          </p:cNvPr>
          <p:cNvSpPr txBox="1"/>
          <p:nvPr/>
        </p:nvSpPr>
        <p:spPr>
          <a:xfrm>
            <a:off x="1700000" y="4000000"/>
            <a:ext cx="8400000" cy="560000"/>
          </a:xfrm>
          <a:prstGeom prst="rect">
            <a:avLst/>
          </a:prstGeom>
          <a:noFill/>
        </p:spPr>
        <p:txBody>
          <a:bodyPr wrap="square" lIns="0" tIns="0" rIns="0" bIns="0" anchor="t">
            <a:noAutofit/>
          </a:bodyPr>
          <a:lstStyle/>
          <a:p>
            <a:pPr algn="l">
              <a:spcAft>
                <a:spcPts val="0"/>
              </a:spcAft>
              <a:buNone/>
            </a:pPr>
            <a:r>
              <a:rPr lang="en-US" sz="1600" b="0" i="0" dirty="0">
                <a:solidFill>
                  <a:srgbClr val="4A4A4A"/>
                </a:solidFill>
                <a:latin typeface="Times New Roman"/>
                <a:cs typeface="Times New Roman"/>
              </a:rPr>
              <a:t>What is the marginal predictive contribution of lagged meteorological and bioclimatic features when added to recent dengue case history alone?</a:t>
            </a:r>
          </a:p>
        </p:txBody>
      </p:sp>
      <p:sp>
        <p:nvSpPr>
          <p:cNvPr id="29" name="RQ card 3">
            <a:extLst>
              <a:ext uri="{FF2B5EF4-FFF2-40B4-BE49-F238E27FC236}">
                <a16:creationId xmlns:a16="http://schemas.microsoft.com/office/drawing/2014/main" id="{49703D11-1024-D191-3C0B-46E853F4CB71}"/>
              </a:ext>
            </a:extLst>
          </p:cNvPr>
          <p:cNvSpPr/>
          <p:nvPr/>
        </p:nvSpPr>
        <p:spPr>
          <a:xfrm>
            <a:off x="1500000" y="4760000"/>
            <a:ext cx="8800000" cy="131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31" name="RQ pill 3">
            <a:extLst>
              <a:ext uri="{FF2B5EF4-FFF2-40B4-BE49-F238E27FC236}">
                <a16:creationId xmlns:a16="http://schemas.microsoft.com/office/drawing/2014/main" id="{BAE44116-F87E-798F-2355-BEEB20386479}"/>
              </a:ext>
            </a:extLst>
          </p:cNvPr>
          <p:cNvSpPr/>
          <p:nvPr/>
        </p:nvSpPr>
        <p:spPr>
          <a:xfrm>
            <a:off x="1700000" y="4900000"/>
            <a:ext cx="1000000" cy="380000"/>
          </a:xfrm>
          <a:prstGeom prst="roundRect">
            <a:avLst>
              <a:gd name="adj" fmla="val 50000"/>
            </a:avLst>
          </a:prstGeom>
          <a:solidFill>
            <a:srgbClr val="2E7D32"/>
          </a:solidFill>
          <a:ln>
            <a:noFill/>
          </a:ln>
          <a:effectLst/>
        </p:spPr>
        <p:txBody>
          <a:bodyPr wrap="square" lIns="60000" tIns="0" rIns="60000" bIns="0" rtlCol="0" anchor="ctr">
            <a:noAutofit/>
          </a:bodyPr>
          <a:lstStyle/>
          <a:p>
            <a:pPr algn="ctr">
              <a:spcAft>
                <a:spcPts val="0"/>
              </a:spcAft>
              <a:buNone/>
            </a:pPr>
            <a:r>
              <a:rPr lang="en-US" sz="1600" b="1" i="0" dirty="0">
                <a:solidFill>
                  <a:srgbClr val="FFFFFF"/>
                </a:solidFill>
                <a:latin typeface="Times New Roman"/>
                <a:cs typeface="Times New Roman"/>
              </a:rPr>
              <a:t>RQ3</a:t>
            </a:r>
          </a:p>
        </p:txBody>
      </p:sp>
      <p:sp>
        <p:nvSpPr>
          <p:cNvPr id="35" name="RQ chip 3">
            <a:extLst>
              <a:ext uri="{FF2B5EF4-FFF2-40B4-BE49-F238E27FC236}">
                <a16:creationId xmlns:a16="http://schemas.microsoft.com/office/drawing/2014/main" id="{DD01FA5F-C6A7-35B8-1DB9-F65438E3C63D}"/>
              </a:ext>
            </a:extLst>
          </p:cNvPr>
          <p:cNvSpPr/>
          <p:nvPr/>
        </p:nvSpPr>
        <p:spPr>
          <a:xfrm>
            <a:off x="8400000" y="4900000"/>
            <a:ext cx="1700000" cy="380000"/>
          </a:xfrm>
          <a:prstGeom prst="roundRect">
            <a:avLst>
              <a:gd name="adj" fmla="val 50000"/>
            </a:avLst>
          </a:prstGeom>
          <a:solidFill>
            <a:srgbClr val="FFFFFF"/>
          </a:solidFill>
          <a:ln w="19050">
            <a:solidFill>
              <a:srgbClr val="2E7D32"/>
            </a:solidFill>
          </a:ln>
          <a:effectLst/>
        </p:spPr>
        <p:txBody>
          <a:bodyPr wrap="square" lIns="60000" tIns="0" rIns="60000" bIns="0" rtlCol="0" anchor="ctr">
            <a:noAutofit/>
          </a:bodyPr>
          <a:lstStyle/>
          <a:p>
            <a:pPr algn="ctr">
              <a:spcAft>
                <a:spcPts val="0"/>
              </a:spcAft>
              <a:buNone/>
            </a:pPr>
            <a:r>
              <a:rPr lang="en-US" sz="1400" b="1" i="0" dirty="0">
                <a:solidFill>
                  <a:srgbClr val="1A1A1A"/>
                </a:solidFill>
                <a:latin typeface="Times New Roman"/>
                <a:cs typeface="Times New Roman"/>
              </a:rPr>
              <a:t>Objective 3</a:t>
            </a:r>
          </a:p>
        </p:txBody>
      </p:sp>
      <p:sp>
        <p:nvSpPr>
          <p:cNvPr id="37" name="RQ text 3">
            <a:extLst>
              <a:ext uri="{FF2B5EF4-FFF2-40B4-BE49-F238E27FC236}">
                <a16:creationId xmlns:a16="http://schemas.microsoft.com/office/drawing/2014/main" id="{25CD3309-02CA-1F18-E5F3-7A764A1BFF7F}"/>
              </a:ext>
            </a:extLst>
          </p:cNvPr>
          <p:cNvSpPr txBox="1"/>
          <p:nvPr/>
        </p:nvSpPr>
        <p:spPr>
          <a:xfrm>
            <a:off x="1700000" y="5400000"/>
            <a:ext cx="8400000" cy="560000"/>
          </a:xfrm>
          <a:prstGeom prst="rect">
            <a:avLst/>
          </a:prstGeom>
          <a:noFill/>
        </p:spPr>
        <p:txBody>
          <a:bodyPr wrap="square" lIns="0" tIns="0" rIns="0" bIns="0" anchor="t">
            <a:noAutofit/>
          </a:bodyPr>
          <a:lstStyle/>
          <a:p>
            <a:pPr algn="l">
              <a:spcAft>
                <a:spcPts val="0"/>
              </a:spcAft>
              <a:buNone/>
            </a:pPr>
            <a:r>
              <a:rPr lang="en-US" sz="1600" b="0" i="0" dirty="0">
                <a:solidFill>
                  <a:srgbClr val="4A4A4A"/>
                </a:solidFill>
                <a:latin typeface="Times New Roman"/>
                <a:cs typeface="Times New Roman"/>
              </a:rPr>
              <a:t>To what extent do forecast accuracy and the predictive contribution of meteorological features vary across Davao City, Cagayan de Oro City, and Zamboanga City?</a:t>
            </a:r>
          </a:p>
        </p:txBody>
      </p:sp>
    </p:spTree>
    <p:extLst>
      <p:ext uri="{BB962C8B-B14F-4D97-AF65-F5344CB8AC3E}">
        <p14:creationId xmlns:p14="http://schemas.microsoft.com/office/powerpoint/2010/main" val="2508110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B7AF1-AD13-9627-EBE8-CDEF4CBCDBB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86D14B6-C93F-DF2E-9533-0316BECD9D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ECC5AD28-033C-43F2-B186-5ABEF8CFB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Slide Title"/>
          <p:cNvSpPr txBox="1"/>
          <p:nvPr/>
        </p:nvSpPr>
        <p:spPr>
          <a:xfrm>
            <a:off x="1500000" y="1009113"/>
            <a:ext cx="8800000" cy="430887"/>
          </a:xfrm>
          <a:prstGeom prst="rect">
            <a:avLst/>
          </a:prstGeom>
          <a:noFill/>
        </p:spPr>
        <p:txBody>
          <a:bodyPr wrap="square" lIns="0" tIns="0" rIns="0" bIns="0" anchor="b">
            <a:spAutoFit/>
          </a:bodyPr>
          <a:lstStyle/>
          <a:p>
            <a:pPr algn="l">
              <a:spcAft>
                <a:spcPts val="0"/>
              </a:spcAft>
            </a:pPr>
            <a:r>
              <a:rPr sz="2800" b="1" i="0" dirty="0">
                <a:solidFill>
                  <a:srgbClr val="1A1A1A"/>
                </a:solidFill>
                <a:latin typeface="Times New Roman"/>
              </a:rPr>
              <a:t>Key Terms</a:t>
            </a:r>
            <a:endParaRPr sz="1900" b="0" i="0" dirty="0">
              <a:solidFill>
                <a:srgbClr val="4A4A4A"/>
              </a:solidFill>
              <a:latin typeface="Times New Roman"/>
            </a:endParaRPr>
          </a:p>
        </p:txBody>
      </p:sp>
      <p:sp>
        <p:nvSpPr>
          <p:cNvPr id="15"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Plain-word meanings used in the rest of this talk</a:t>
            </a:r>
          </a:p>
        </p:txBody>
      </p:sp>
      <p:sp>
        <p:nvSpPr>
          <p:cNvPr id="16" name="Rounded Rectangle 15"/>
          <p:cNvSpPr/>
          <p:nvPr/>
        </p:nvSpPr>
        <p:spPr>
          <a:xfrm>
            <a:off x="1500000" y="1950000"/>
            <a:ext cx="2850000" cy="22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630000" y="2080000"/>
            <a:ext cx="2590000" cy="380000"/>
          </a:xfrm>
          <a:prstGeom prst="roundRect">
            <a:avLst>
              <a:gd name="adj" fmla="val 5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1A1A1A"/>
                </a:solidFill>
                <a:latin typeface="Times New Roman"/>
              </a:rPr>
              <a:t>Persistence</a:t>
            </a:r>
          </a:p>
        </p:txBody>
      </p:sp>
      <p:sp>
        <p:nvSpPr>
          <p:cNvPr id="18" name="TextBox 17"/>
          <p:cNvSpPr txBox="1"/>
          <p:nvPr/>
        </p:nvSpPr>
        <p:spPr>
          <a:xfrm>
            <a:off x="1630000" y="2570000"/>
            <a:ext cx="2590000" cy="1500000"/>
          </a:xfrm>
          <a:prstGeom prst="rect">
            <a:avLst/>
          </a:prstGeom>
          <a:noFill/>
        </p:spPr>
        <p:txBody>
          <a:bodyPr wrap="square" lIns="0" tIns="0" rIns="0" bIns="0" anchor="t">
            <a:spAutoFit/>
          </a:bodyPr>
          <a:lstStyle/>
          <a:p>
            <a:pPr algn="l">
              <a:spcAft>
                <a:spcPts val="400"/>
              </a:spcAft>
            </a:pPr>
            <a:r>
              <a:rPr sz="1600" b="0" i="0">
                <a:solidFill>
                  <a:srgbClr val="1A1A1A"/>
                </a:solidFill>
                <a:latin typeface="Times New Roman"/>
              </a:rPr>
              <a:t>• Simplest forecast: next cases = the latest count</a:t>
            </a:r>
          </a:p>
          <a:p>
            <a:pPr algn="l">
              <a:spcAft>
                <a:spcPts val="400"/>
              </a:spcAft>
            </a:pPr>
            <a:r>
              <a:rPr sz="1600" b="0" i="0">
                <a:solidFill>
                  <a:srgbClr val="1A1A1A"/>
                </a:solidFill>
                <a:latin typeface="Times New Roman"/>
              </a:rPr>
              <a:t>• No learning involved</a:t>
            </a:r>
          </a:p>
          <a:p>
            <a:pPr algn="l">
              <a:spcAft>
                <a:spcPts val="400"/>
              </a:spcAft>
            </a:pPr>
            <a:r>
              <a:rPr sz="1600" b="0" i="0">
                <a:solidFill>
                  <a:srgbClr val="1A1A1A"/>
                </a:solidFill>
                <a:latin typeface="Times New Roman"/>
              </a:rPr>
              <a:t>• The score to beat</a:t>
            </a:r>
          </a:p>
        </p:txBody>
      </p:sp>
      <p:sp>
        <p:nvSpPr>
          <p:cNvPr id="19" name="Rounded Rectangle 18"/>
          <p:cNvSpPr/>
          <p:nvPr/>
        </p:nvSpPr>
        <p:spPr>
          <a:xfrm>
            <a:off x="4475000" y="1950000"/>
            <a:ext cx="2850000" cy="22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605000" y="2080000"/>
            <a:ext cx="2590000" cy="380000"/>
          </a:xfrm>
          <a:prstGeom prst="roundRect">
            <a:avLst>
              <a:gd name="adj" fmla="val 50000"/>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Lagged weather</a:t>
            </a:r>
          </a:p>
        </p:txBody>
      </p:sp>
      <p:sp>
        <p:nvSpPr>
          <p:cNvPr id="21" name="TextBox 20"/>
          <p:cNvSpPr txBox="1"/>
          <p:nvPr/>
        </p:nvSpPr>
        <p:spPr>
          <a:xfrm>
            <a:off x="4605000" y="2570000"/>
            <a:ext cx="2590000" cy="1500000"/>
          </a:xfrm>
          <a:prstGeom prst="rect">
            <a:avLst/>
          </a:prstGeom>
          <a:noFill/>
        </p:spPr>
        <p:txBody>
          <a:bodyPr wrap="square" lIns="0" tIns="0" rIns="0" bIns="0" anchor="t">
            <a:spAutoFit/>
          </a:bodyPr>
          <a:lstStyle/>
          <a:p>
            <a:pPr algn="l">
              <a:spcAft>
                <a:spcPts val="400"/>
              </a:spcAft>
            </a:pPr>
            <a:r>
              <a:rPr sz="1600" b="0" i="0">
                <a:solidFill>
                  <a:srgbClr val="1A1A1A"/>
                </a:solidFill>
                <a:latin typeface="Times New Roman"/>
              </a:rPr>
              <a:t>• Weather from 1 to 4 weeks before the week we forecast</a:t>
            </a:r>
          </a:p>
          <a:p>
            <a:pPr algn="l">
              <a:spcAft>
                <a:spcPts val="400"/>
              </a:spcAft>
            </a:pPr>
            <a:r>
              <a:rPr sz="1600" b="0" i="0">
                <a:solidFill>
                  <a:srgbClr val="1A1A1A"/>
                </a:solidFill>
                <a:latin typeface="Times New Roman"/>
              </a:rPr>
              <a:t>• Its effect on dengue is delayed</a:t>
            </a:r>
          </a:p>
        </p:txBody>
      </p:sp>
      <p:sp>
        <p:nvSpPr>
          <p:cNvPr id="22" name="Rounded Rectangle 21"/>
          <p:cNvSpPr/>
          <p:nvPr/>
        </p:nvSpPr>
        <p:spPr>
          <a:xfrm>
            <a:off x="7450000" y="1950000"/>
            <a:ext cx="2850000" cy="22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580000" y="2080000"/>
            <a:ext cx="2590000" cy="3800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XGBoost</a:t>
            </a:r>
          </a:p>
        </p:txBody>
      </p:sp>
      <p:sp>
        <p:nvSpPr>
          <p:cNvPr id="24" name="TextBox 23"/>
          <p:cNvSpPr txBox="1"/>
          <p:nvPr/>
        </p:nvSpPr>
        <p:spPr>
          <a:xfrm>
            <a:off x="7580000" y="2570000"/>
            <a:ext cx="2590000" cy="1500000"/>
          </a:xfrm>
          <a:prstGeom prst="rect">
            <a:avLst/>
          </a:prstGeom>
          <a:noFill/>
        </p:spPr>
        <p:txBody>
          <a:bodyPr wrap="square" lIns="0" tIns="0" rIns="0" bIns="0" anchor="t">
            <a:spAutoFit/>
          </a:bodyPr>
          <a:lstStyle/>
          <a:p>
            <a:pPr algn="l">
              <a:spcAft>
                <a:spcPts val="400"/>
              </a:spcAft>
            </a:pPr>
            <a:r>
              <a:rPr sz="1600" b="0" i="0">
                <a:solidFill>
                  <a:srgbClr val="1A1A1A"/>
                </a:solidFill>
                <a:latin typeface="Times New Roman"/>
              </a:rPr>
              <a:t>• Machine-learning method</a:t>
            </a:r>
          </a:p>
          <a:p>
            <a:pPr algn="l">
              <a:spcAft>
                <a:spcPts val="400"/>
              </a:spcAft>
            </a:pPr>
            <a:r>
              <a:rPr sz="1600" b="0" i="0">
                <a:solidFill>
                  <a:srgbClr val="1A1A1A"/>
                </a:solidFill>
                <a:latin typeface="Times New Roman"/>
              </a:rPr>
              <a:t>• Builds many small decision trees, each fixing the last one's mistakes</a:t>
            </a:r>
          </a:p>
        </p:txBody>
      </p:sp>
      <p:sp>
        <p:nvSpPr>
          <p:cNvPr id="25" name="TextBox 24"/>
          <p:cNvSpPr txBox="1"/>
          <p:nvPr/>
        </p:nvSpPr>
        <p:spPr>
          <a:xfrm>
            <a:off x="1500000" y="4450000"/>
            <a:ext cx="8800000" cy="1800000"/>
          </a:xfrm>
          <a:prstGeom prst="rect">
            <a:avLst/>
          </a:prstGeom>
          <a:noFill/>
        </p:spPr>
        <p:txBody>
          <a:bodyPr wrap="square" lIns="0" tIns="0" rIns="0" bIns="0" anchor="t">
            <a:spAutoFit/>
          </a:bodyPr>
          <a:lstStyle/>
          <a:p>
            <a:pPr algn="l">
              <a:spcAft>
                <a:spcPts val="700"/>
              </a:spcAft>
            </a:pPr>
            <a:r>
              <a:rPr sz="1700" b="1" i="0">
                <a:solidFill>
                  <a:srgbClr val="1A1A1A"/>
                </a:solidFill>
                <a:latin typeface="Times New Roman"/>
              </a:rPr>
              <a:t>MAE (error): </a:t>
            </a:r>
            <a:r>
              <a:rPr sz="1700" b="0" i="0">
                <a:solidFill>
                  <a:srgbClr val="1A1A1A"/>
                </a:solidFill>
                <a:latin typeface="Times New Roman"/>
              </a:rPr>
              <a:t>the average number of cases a forecast is off by. Lower is better.</a:t>
            </a:r>
          </a:p>
          <a:p>
            <a:pPr algn="l">
              <a:spcAft>
                <a:spcPts val="700"/>
              </a:spcAft>
            </a:pPr>
            <a:r>
              <a:rPr sz="1700" b="1" i="0">
                <a:solidFill>
                  <a:srgbClr val="1A1A1A"/>
                </a:solidFill>
                <a:latin typeface="Times New Roman"/>
              </a:rPr>
              <a:t>R² (fit): </a:t>
            </a:r>
            <a:r>
              <a:rPr sz="1700" b="0" i="0">
                <a:solidFill>
                  <a:srgbClr val="1A1A1A"/>
                </a:solidFill>
                <a:latin typeface="Times New Roman"/>
              </a:rPr>
              <a:t>how much of the weekly ups and downs a model explains. Below 0 means worse than always guessing the average.</a:t>
            </a:r>
          </a:p>
          <a:p>
            <a:pPr algn="l">
              <a:spcAft>
                <a:spcPts val="700"/>
              </a:spcAft>
            </a:pPr>
            <a:r>
              <a:rPr sz="1700" b="1" i="0">
                <a:solidFill>
                  <a:srgbClr val="1A1A1A"/>
                </a:solidFill>
                <a:latin typeface="Times New Roman"/>
              </a:rPr>
              <a:t>Case-only vs. full: </a:t>
            </a:r>
            <a:r>
              <a:rPr sz="1700" b="0" i="0">
                <a:solidFill>
                  <a:srgbClr val="1A1A1A"/>
                </a:solidFill>
                <a:latin typeface="Times New Roman"/>
              </a:rPr>
              <a:t>case-only XGBoost sees recent cases and season; full XGBoost adds the weather.</a:t>
            </a:r>
          </a:p>
        </p:txBody>
      </p:sp>
    </p:spTree>
    <p:extLst>
      <p:ext uri="{BB962C8B-B14F-4D97-AF65-F5344CB8AC3E}">
        <p14:creationId xmlns:p14="http://schemas.microsoft.com/office/powerpoint/2010/main" val="1211635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2C6F3A68-3C17-4234-86A1-7EF890E657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Slide Title"/>
          <p:cNvSpPr txBox="1"/>
          <p:nvPr/>
        </p:nvSpPr>
        <p:spPr>
          <a:xfrm>
            <a:off x="1500000" y="1009113"/>
            <a:ext cx="8800000" cy="430887"/>
          </a:xfrm>
          <a:prstGeom prst="rect">
            <a:avLst/>
          </a:prstGeom>
          <a:noFill/>
        </p:spPr>
        <p:txBody>
          <a:bodyPr wrap="square" lIns="0" tIns="0" rIns="0" bIns="0" anchor="b">
            <a:spAutoFit/>
          </a:bodyPr>
          <a:lstStyle/>
          <a:p>
            <a:pPr algn="l">
              <a:spcAft>
                <a:spcPts val="0"/>
              </a:spcAft>
            </a:pPr>
            <a:r>
              <a:rPr sz="2800" b="1" i="0" dirty="0">
                <a:solidFill>
                  <a:srgbClr val="1A1A1A"/>
                </a:solidFill>
                <a:latin typeface="Times New Roman"/>
              </a:rPr>
              <a:t>Methodology</a:t>
            </a:r>
            <a:endParaRPr sz="1900" b="0" i="0" dirty="0">
              <a:solidFill>
                <a:srgbClr val="4A4A4A"/>
              </a:solidFill>
              <a:latin typeface="Times New Roman"/>
            </a:endParaRPr>
          </a:p>
        </p:txBody>
      </p:sp>
      <p:sp>
        <p:nvSpPr>
          <p:cNvPr id="15"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Dataset and locale</a:t>
            </a:r>
          </a:p>
        </p:txBody>
      </p:sp>
      <p:sp>
        <p:nvSpPr>
          <p:cNvPr id="16" name="Rounded Rectangle 15"/>
          <p:cNvSpPr/>
          <p:nvPr/>
        </p:nvSpPr>
        <p:spPr>
          <a:xfrm>
            <a:off x="1500000" y="1950000"/>
            <a:ext cx="4350000" cy="13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620000" y="2070000"/>
            <a:ext cx="4110000" cy="330000"/>
          </a:xfrm>
          <a:prstGeom prst="roundRect">
            <a:avLst>
              <a:gd name="adj" fmla="val 50000"/>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DOH PIDSR</a:t>
            </a:r>
          </a:p>
        </p:txBody>
      </p:sp>
      <p:sp>
        <p:nvSpPr>
          <p:cNvPr id="18" name="TextBox 17"/>
          <p:cNvSpPr txBox="1"/>
          <p:nvPr/>
        </p:nvSpPr>
        <p:spPr>
          <a:xfrm>
            <a:off x="1620000" y="2510000"/>
            <a:ext cx="4110000" cy="670000"/>
          </a:xfrm>
          <a:prstGeom prst="rect">
            <a:avLst/>
          </a:prstGeom>
          <a:noFill/>
        </p:spPr>
        <p:txBody>
          <a:bodyPr wrap="square" lIns="0" tIns="0" rIns="0" bIns="0" anchor="t">
            <a:spAutoFit/>
          </a:bodyPr>
          <a:lstStyle/>
          <a:p>
            <a:pPr algn="l">
              <a:spcAft>
                <a:spcPts val="400"/>
              </a:spcAft>
            </a:pPr>
            <a:r>
              <a:rPr sz="1600" b="0" i="0">
                <a:solidFill>
                  <a:srgbClr val="1A1A1A"/>
                </a:solidFill>
                <a:latin typeface="Times New Roman"/>
              </a:rPr>
              <a:t>Weekly dengue cases per city from DOH disease surveillance (PIDSR): the target and the case-history features.</a:t>
            </a:r>
          </a:p>
        </p:txBody>
      </p:sp>
      <p:sp>
        <p:nvSpPr>
          <p:cNvPr id="19" name="Rounded Rectangle 18"/>
          <p:cNvSpPr/>
          <p:nvPr/>
        </p:nvSpPr>
        <p:spPr>
          <a:xfrm>
            <a:off x="5950000" y="1950000"/>
            <a:ext cx="4350000" cy="13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070000" y="2070000"/>
            <a:ext cx="4110000" cy="3300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Project CCHAIN</a:t>
            </a:r>
          </a:p>
        </p:txBody>
      </p:sp>
      <p:sp>
        <p:nvSpPr>
          <p:cNvPr id="21" name="TextBox 20"/>
          <p:cNvSpPr txBox="1"/>
          <p:nvPr/>
        </p:nvSpPr>
        <p:spPr>
          <a:xfrm>
            <a:off x="6070000" y="2510000"/>
            <a:ext cx="4110000" cy="670000"/>
          </a:xfrm>
          <a:prstGeom prst="rect">
            <a:avLst/>
          </a:prstGeom>
          <a:noFill/>
        </p:spPr>
        <p:txBody>
          <a:bodyPr wrap="square" lIns="0" tIns="0" rIns="0" bIns="0" anchor="t">
            <a:spAutoFit/>
          </a:bodyPr>
          <a:lstStyle/>
          <a:p>
            <a:pPr algn="l">
              <a:spcAft>
                <a:spcPts val="400"/>
              </a:spcAft>
            </a:pPr>
            <a:r>
              <a:rPr sz="1600" b="0" i="0">
                <a:solidFill>
                  <a:srgbClr val="1A1A1A"/>
                </a:solidFill>
                <a:latin typeface="Times New Roman"/>
              </a:rPr>
              <a:t>Open climate–health dataset: rainfall, temperature, humidity, bioclimatic indices and satellite greenness (NDVI), weekly.</a:t>
            </a:r>
          </a:p>
        </p:txBody>
      </p:sp>
      <p:graphicFrame>
        <p:nvGraphicFramePr>
          <p:cNvPr id="22" name="Dataset table"/>
          <p:cNvGraphicFramePr>
            <a:graphicFrameLocks noGrp="1"/>
          </p:cNvGraphicFramePr>
          <p:nvPr/>
        </p:nvGraphicFramePr>
        <p:xfrm>
          <a:off x="1500000" y="3450000"/>
          <a:ext cx="8800000" cy="1950000"/>
        </p:xfrm>
        <a:graphic>
          <a:graphicData uri="http://schemas.openxmlformats.org/drawingml/2006/table">
            <a:tbl>
              <a:tblPr firstRow="1"/>
              <a:tblGrid>
                <a:gridCol w="2300000">
                  <a:extLst>
                    <a:ext uri="{9D8B030D-6E8A-4147-A177-3AD203B41FA5}">
                      <a16:colId xmlns:a16="http://schemas.microsoft.com/office/drawing/2014/main" val="20000"/>
                    </a:ext>
                  </a:extLst>
                </a:gridCol>
                <a:gridCol w="2300000">
                  <a:extLst>
                    <a:ext uri="{9D8B030D-6E8A-4147-A177-3AD203B41FA5}">
                      <a16:colId xmlns:a16="http://schemas.microsoft.com/office/drawing/2014/main" val="20001"/>
                    </a:ext>
                  </a:extLst>
                </a:gridCol>
                <a:gridCol w="1300000">
                  <a:extLst>
                    <a:ext uri="{9D8B030D-6E8A-4147-A177-3AD203B41FA5}">
                      <a16:colId xmlns:a16="http://schemas.microsoft.com/office/drawing/2014/main" val="20002"/>
                    </a:ext>
                  </a:extLst>
                </a:gridCol>
                <a:gridCol w="1700000">
                  <a:extLst>
                    <a:ext uri="{9D8B030D-6E8A-4147-A177-3AD203B41FA5}">
                      <a16:colId xmlns:a16="http://schemas.microsoft.com/office/drawing/2014/main" val="20003"/>
                    </a:ext>
                  </a:extLst>
                </a:gridCol>
                <a:gridCol w="1200000">
                  <a:extLst>
                    <a:ext uri="{9D8B030D-6E8A-4147-A177-3AD203B41FA5}">
                      <a16:colId xmlns:a16="http://schemas.microsoft.com/office/drawing/2014/main" val="20004"/>
                    </a:ext>
                  </a:extLst>
                </a:gridCol>
              </a:tblGrid>
              <a:tr h="390000">
                <a:tc>
                  <a:txBody>
                    <a:bodyPr/>
                    <a:lstStyle/>
                    <a:p>
                      <a:r>
                        <a:rPr sz="1400" b="1">
                          <a:solidFill>
                            <a:srgbClr val="FFFFFF"/>
                          </a:solidFill>
                          <a:latin typeface="Times New Roman"/>
                        </a:rPr>
                        <a:t>City</a:t>
                      </a:r>
                    </a:p>
                  </a:txBody>
                  <a:tcPr marL="80000" marR="80000" marT="30000" marB="30000" anchor="ctr">
                    <a:solidFill>
                      <a:srgbClr val="2F5597"/>
                    </a:solidFill>
                  </a:tcPr>
                </a:tc>
                <a:tc>
                  <a:txBody>
                    <a:bodyPr/>
                    <a:lstStyle/>
                    <a:p>
                      <a:r>
                        <a:rPr sz="1400" b="1">
                          <a:solidFill>
                            <a:srgbClr val="FFFFFF"/>
                          </a:solidFill>
                          <a:latin typeface="Times New Roman"/>
                        </a:rPr>
                        <a:t>Setting</a:t>
                      </a:r>
                    </a:p>
                  </a:txBody>
                  <a:tcPr marL="80000" marR="80000" marT="30000" marB="30000" anchor="ctr">
                    <a:solidFill>
                      <a:srgbClr val="2F5597"/>
                    </a:solidFill>
                  </a:tcPr>
                </a:tc>
                <a:tc>
                  <a:txBody>
                    <a:bodyPr/>
                    <a:lstStyle/>
                    <a:p>
                      <a:pPr algn="ctr"/>
                      <a:r>
                        <a:rPr sz="1400" b="1">
                          <a:solidFill>
                            <a:srgbClr val="FFFFFF"/>
                          </a:solidFill>
                          <a:latin typeface="Times New Roman"/>
                        </a:rPr>
                        <a:t>City-weeks</a:t>
                      </a:r>
                    </a:p>
                  </a:txBody>
                  <a:tcPr marL="80000" marR="80000" marT="30000" marB="30000" anchor="ctr">
                    <a:solidFill>
                      <a:srgbClr val="2F5597"/>
                    </a:solidFill>
                  </a:tcPr>
                </a:tc>
                <a:tc>
                  <a:txBody>
                    <a:bodyPr/>
                    <a:lstStyle/>
                    <a:p>
                      <a:pPr algn="ctr"/>
                      <a:r>
                        <a:rPr sz="1400" b="1">
                          <a:solidFill>
                            <a:srgbClr val="FFFFFF"/>
                          </a:solidFill>
                          <a:latin typeface="Times New Roman"/>
                        </a:rPr>
                        <a:t>Mean cases/week</a:t>
                      </a:r>
                    </a:p>
                  </a:txBody>
                  <a:tcPr marL="80000" marR="80000" marT="30000" marB="30000" anchor="ctr">
                    <a:solidFill>
                      <a:srgbClr val="2F5597"/>
                    </a:solidFill>
                  </a:tcPr>
                </a:tc>
                <a:tc>
                  <a:txBody>
                    <a:bodyPr/>
                    <a:lstStyle/>
                    <a:p>
                      <a:pPr algn="ctr"/>
                      <a:r>
                        <a:rPr sz="1400" b="1">
                          <a:solidFill>
                            <a:srgbClr val="FFFFFF"/>
                          </a:solidFill>
                          <a:latin typeface="Times New Roman"/>
                        </a:rPr>
                        <a:t>Peak week</a:t>
                      </a:r>
                    </a:p>
                  </a:txBody>
                  <a:tcPr marL="80000" marR="80000" marT="30000" marB="30000" anchor="ctr">
                    <a:solidFill>
                      <a:srgbClr val="2F5597"/>
                    </a:solidFill>
                  </a:tcPr>
                </a:tc>
                <a:extLst>
                  <a:ext uri="{0D108BD9-81ED-4DB2-BD59-A6C34878D82A}">
                    <a16:rowId xmlns:a16="http://schemas.microsoft.com/office/drawing/2014/main" val="10000"/>
                  </a:ext>
                </a:extLst>
              </a:tr>
              <a:tr h="390000">
                <a:tc>
                  <a:txBody>
                    <a:bodyPr/>
                    <a:lstStyle/>
                    <a:p>
                      <a:r>
                        <a:rPr sz="1400" b="1">
                          <a:solidFill>
                            <a:srgbClr val="1A1A1A"/>
                          </a:solidFill>
                          <a:latin typeface="Times New Roman"/>
                        </a:rPr>
                        <a:t>Davao City</a:t>
                      </a:r>
                    </a:p>
                  </a:txBody>
                  <a:tcPr marL="80000" marR="80000" marT="30000" marB="30000" anchor="ctr">
                    <a:solidFill>
                      <a:srgbClr val="FFFFFF"/>
                    </a:solidFill>
                  </a:tcPr>
                </a:tc>
                <a:tc>
                  <a:txBody>
                    <a:bodyPr/>
                    <a:lstStyle/>
                    <a:p>
                      <a:r>
                        <a:rPr sz="1400" b="0">
                          <a:solidFill>
                            <a:srgbClr val="1A1A1A"/>
                          </a:solidFill>
                          <a:latin typeface="Times New Roman"/>
                        </a:rPr>
                        <a:t>Southern Mindanao</a:t>
                      </a:r>
                    </a:p>
                  </a:txBody>
                  <a:tcPr marL="80000" marR="80000" marT="30000" marB="30000" anchor="ctr">
                    <a:solidFill>
                      <a:srgbClr val="FFFFFF"/>
                    </a:solidFill>
                  </a:tcPr>
                </a:tc>
                <a:tc>
                  <a:txBody>
                    <a:bodyPr/>
                    <a:lstStyle/>
                    <a:p>
                      <a:pPr algn="ctr"/>
                      <a:r>
                        <a:rPr sz="1400" b="0">
                          <a:solidFill>
                            <a:srgbClr val="1A1A1A"/>
                          </a:solidFill>
                          <a:latin typeface="Times New Roman"/>
                        </a:rPr>
                        <a:t>257</a:t>
                      </a:r>
                    </a:p>
                  </a:txBody>
                  <a:tcPr marL="80000" marR="80000" marT="30000" marB="30000" anchor="ctr">
                    <a:solidFill>
                      <a:srgbClr val="FFFFFF"/>
                    </a:solidFill>
                  </a:tcPr>
                </a:tc>
                <a:tc>
                  <a:txBody>
                    <a:bodyPr/>
                    <a:lstStyle/>
                    <a:p>
                      <a:pPr algn="ctr"/>
                      <a:r>
                        <a:rPr sz="1400" b="0">
                          <a:solidFill>
                            <a:srgbClr val="1A1A1A"/>
                          </a:solidFill>
                          <a:latin typeface="Times New Roman"/>
                        </a:rPr>
                        <a:t>58.9</a:t>
                      </a:r>
                    </a:p>
                  </a:txBody>
                  <a:tcPr marL="80000" marR="80000" marT="30000" marB="30000" anchor="ctr">
                    <a:solidFill>
                      <a:srgbClr val="FFFFFF"/>
                    </a:solidFill>
                  </a:tcPr>
                </a:tc>
                <a:tc>
                  <a:txBody>
                    <a:bodyPr/>
                    <a:lstStyle/>
                    <a:p>
                      <a:pPr algn="ctr"/>
                      <a:r>
                        <a:rPr sz="1400" b="0">
                          <a:solidFill>
                            <a:srgbClr val="1A1A1A"/>
                          </a:solidFill>
                          <a:latin typeface="Times New Roman"/>
                        </a:rPr>
                        <a:t>392</a:t>
                      </a:r>
                    </a:p>
                  </a:txBody>
                  <a:tcPr marL="80000" marR="80000" marT="30000" marB="30000" anchor="ctr">
                    <a:solidFill>
                      <a:srgbClr val="FFFFFF"/>
                    </a:solidFill>
                  </a:tcPr>
                </a:tc>
                <a:extLst>
                  <a:ext uri="{0D108BD9-81ED-4DB2-BD59-A6C34878D82A}">
                    <a16:rowId xmlns:a16="http://schemas.microsoft.com/office/drawing/2014/main" val="10001"/>
                  </a:ext>
                </a:extLst>
              </a:tr>
              <a:tr h="390000">
                <a:tc>
                  <a:txBody>
                    <a:bodyPr/>
                    <a:lstStyle/>
                    <a:p>
                      <a:r>
                        <a:rPr sz="1400" b="1">
                          <a:solidFill>
                            <a:srgbClr val="1A1A1A"/>
                          </a:solidFill>
                          <a:latin typeface="Times New Roman"/>
                        </a:rPr>
                        <a:t>Cagayan de Oro City</a:t>
                      </a:r>
                    </a:p>
                  </a:txBody>
                  <a:tcPr marL="80000" marR="80000" marT="30000" marB="30000" anchor="ctr">
                    <a:solidFill>
                      <a:srgbClr val="F8F1E0"/>
                    </a:solidFill>
                  </a:tcPr>
                </a:tc>
                <a:tc>
                  <a:txBody>
                    <a:bodyPr/>
                    <a:lstStyle/>
                    <a:p>
                      <a:r>
                        <a:rPr sz="1400" b="0">
                          <a:solidFill>
                            <a:srgbClr val="1A1A1A"/>
                          </a:solidFill>
                          <a:latin typeface="Times New Roman"/>
                        </a:rPr>
                        <a:t>Northern Mindanao</a:t>
                      </a:r>
                    </a:p>
                  </a:txBody>
                  <a:tcPr marL="80000" marR="80000" marT="30000" marB="30000" anchor="ctr">
                    <a:solidFill>
                      <a:srgbClr val="F8F1E0"/>
                    </a:solidFill>
                  </a:tcPr>
                </a:tc>
                <a:tc>
                  <a:txBody>
                    <a:bodyPr/>
                    <a:lstStyle/>
                    <a:p>
                      <a:pPr algn="ctr"/>
                      <a:r>
                        <a:rPr sz="1400" b="0">
                          <a:solidFill>
                            <a:srgbClr val="1A1A1A"/>
                          </a:solidFill>
                          <a:latin typeface="Times New Roman"/>
                        </a:rPr>
                        <a:t>257</a:t>
                      </a:r>
                    </a:p>
                  </a:txBody>
                  <a:tcPr marL="80000" marR="80000" marT="30000" marB="30000" anchor="ctr">
                    <a:solidFill>
                      <a:srgbClr val="F8F1E0"/>
                    </a:solidFill>
                  </a:tcPr>
                </a:tc>
                <a:tc>
                  <a:txBody>
                    <a:bodyPr/>
                    <a:lstStyle/>
                    <a:p>
                      <a:pPr algn="ctr"/>
                      <a:r>
                        <a:rPr sz="1400" b="0">
                          <a:solidFill>
                            <a:srgbClr val="1A1A1A"/>
                          </a:solidFill>
                          <a:latin typeface="Times New Roman"/>
                        </a:rPr>
                        <a:t>51.4</a:t>
                      </a:r>
                    </a:p>
                  </a:txBody>
                  <a:tcPr marL="80000" marR="80000" marT="30000" marB="30000" anchor="ctr">
                    <a:solidFill>
                      <a:srgbClr val="F8F1E0"/>
                    </a:solidFill>
                  </a:tcPr>
                </a:tc>
                <a:tc>
                  <a:txBody>
                    <a:bodyPr/>
                    <a:lstStyle/>
                    <a:p>
                      <a:pPr algn="ctr"/>
                      <a:r>
                        <a:rPr sz="1400" b="0">
                          <a:solidFill>
                            <a:srgbClr val="1A1A1A"/>
                          </a:solidFill>
                          <a:latin typeface="Times New Roman"/>
                        </a:rPr>
                        <a:t>484</a:t>
                      </a:r>
                    </a:p>
                  </a:txBody>
                  <a:tcPr marL="80000" marR="80000" marT="30000" marB="30000" anchor="ctr">
                    <a:solidFill>
                      <a:srgbClr val="F8F1E0"/>
                    </a:solidFill>
                  </a:tcPr>
                </a:tc>
                <a:extLst>
                  <a:ext uri="{0D108BD9-81ED-4DB2-BD59-A6C34878D82A}">
                    <a16:rowId xmlns:a16="http://schemas.microsoft.com/office/drawing/2014/main" val="10002"/>
                  </a:ext>
                </a:extLst>
              </a:tr>
              <a:tr h="390000">
                <a:tc>
                  <a:txBody>
                    <a:bodyPr/>
                    <a:lstStyle/>
                    <a:p>
                      <a:r>
                        <a:rPr sz="1400" b="1">
                          <a:solidFill>
                            <a:srgbClr val="1A1A1A"/>
                          </a:solidFill>
                          <a:latin typeface="Times New Roman"/>
                        </a:rPr>
                        <a:t>Zamboanga City</a:t>
                      </a:r>
                    </a:p>
                  </a:txBody>
                  <a:tcPr marL="80000" marR="80000" marT="30000" marB="30000" anchor="ctr">
                    <a:solidFill>
                      <a:srgbClr val="FFFFFF"/>
                    </a:solidFill>
                  </a:tcPr>
                </a:tc>
                <a:tc>
                  <a:txBody>
                    <a:bodyPr/>
                    <a:lstStyle/>
                    <a:p>
                      <a:r>
                        <a:rPr sz="1400" b="0">
                          <a:solidFill>
                            <a:srgbClr val="1A1A1A"/>
                          </a:solidFill>
                          <a:latin typeface="Times New Roman"/>
                        </a:rPr>
                        <a:t>Western Mindanao</a:t>
                      </a:r>
                    </a:p>
                  </a:txBody>
                  <a:tcPr marL="80000" marR="80000" marT="30000" marB="30000" anchor="ctr">
                    <a:solidFill>
                      <a:srgbClr val="FFFFFF"/>
                    </a:solidFill>
                  </a:tcPr>
                </a:tc>
                <a:tc>
                  <a:txBody>
                    <a:bodyPr/>
                    <a:lstStyle/>
                    <a:p>
                      <a:pPr algn="ctr"/>
                      <a:r>
                        <a:rPr sz="1400" b="0">
                          <a:solidFill>
                            <a:srgbClr val="1A1A1A"/>
                          </a:solidFill>
                          <a:latin typeface="Times New Roman"/>
                        </a:rPr>
                        <a:t>257</a:t>
                      </a:r>
                    </a:p>
                  </a:txBody>
                  <a:tcPr marL="80000" marR="80000" marT="30000" marB="30000" anchor="ctr">
                    <a:solidFill>
                      <a:srgbClr val="FFFFFF"/>
                    </a:solidFill>
                  </a:tcPr>
                </a:tc>
                <a:tc>
                  <a:txBody>
                    <a:bodyPr/>
                    <a:lstStyle/>
                    <a:p>
                      <a:pPr algn="ctr"/>
                      <a:r>
                        <a:rPr sz="1400" b="0">
                          <a:solidFill>
                            <a:srgbClr val="1A1A1A"/>
                          </a:solidFill>
                          <a:latin typeface="Times New Roman"/>
                        </a:rPr>
                        <a:t>58.1</a:t>
                      </a:r>
                    </a:p>
                  </a:txBody>
                  <a:tcPr marL="80000" marR="80000" marT="30000" marB="30000" anchor="ctr">
                    <a:solidFill>
                      <a:srgbClr val="FFFFFF"/>
                    </a:solidFill>
                  </a:tcPr>
                </a:tc>
                <a:tc>
                  <a:txBody>
                    <a:bodyPr/>
                    <a:lstStyle/>
                    <a:p>
                      <a:pPr algn="ctr"/>
                      <a:r>
                        <a:rPr sz="1400" b="0">
                          <a:solidFill>
                            <a:srgbClr val="1A1A1A"/>
                          </a:solidFill>
                          <a:latin typeface="Times New Roman"/>
                        </a:rPr>
                        <a:t>513</a:t>
                      </a:r>
                    </a:p>
                  </a:txBody>
                  <a:tcPr marL="80000" marR="80000" marT="30000" marB="30000" anchor="ctr">
                    <a:solidFill>
                      <a:srgbClr val="FFFFFF"/>
                    </a:solidFill>
                  </a:tcPr>
                </a:tc>
                <a:extLst>
                  <a:ext uri="{0D108BD9-81ED-4DB2-BD59-A6C34878D82A}">
                    <a16:rowId xmlns:a16="http://schemas.microsoft.com/office/drawing/2014/main" val="10003"/>
                  </a:ext>
                </a:extLst>
              </a:tr>
              <a:tr h="390000">
                <a:tc>
                  <a:txBody>
                    <a:bodyPr/>
                    <a:lstStyle/>
                    <a:p>
                      <a:r>
                        <a:rPr sz="1400" b="1">
                          <a:solidFill>
                            <a:srgbClr val="1A1A1A"/>
                          </a:solidFill>
                          <a:latin typeface="Times New Roman"/>
                        </a:rPr>
                        <a:t>All three cities</a:t>
                      </a:r>
                    </a:p>
                  </a:txBody>
                  <a:tcPr marL="80000" marR="80000" marT="30000" marB="30000" anchor="ctr">
                    <a:solidFill>
                      <a:srgbClr val="F8F1E0"/>
                    </a:solidFill>
                  </a:tcPr>
                </a:tc>
                <a:tc>
                  <a:txBody>
                    <a:bodyPr/>
                    <a:lstStyle/>
                    <a:p>
                      <a:endParaRPr/>
                    </a:p>
                  </a:txBody>
                  <a:tcPr marL="80000" marR="80000" marT="30000" marB="30000" anchor="ctr">
                    <a:solidFill>
                      <a:srgbClr val="F8F1E0"/>
                    </a:solidFill>
                  </a:tcPr>
                </a:tc>
                <a:tc>
                  <a:txBody>
                    <a:bodyPr/>
                    <a:lstStyle/>
                    <a:p>
                      <a:pPr algn="ctr"/>
                      <a:r>
                        <a:rPr sz="1400" b="1">
                          <a:solidFill>
                            <a:srgbClr val="1A1A1A"/>
                          </a:solidFill>
                          <a:latin typeface="Times New Roman"/>
                        </a:rPr>
                        <a:t>771</a:t>
                      </a:r>
                    </a:p>
                  </a:txBody>
                  <a:tcPr marL="80000" marR="80000" marT="30000" marB="30000" anchor="ctr">
                    <a:solidFill>
                      <a:srgbClr val="F8F1E0"/>
                    </a:solidFill>
                  </a:tcPr>
                </a:tc>
                <a:tc>
                  <a:txBody>
                    <a:bodyPr/>
                    <a:lstStyle/>
                    <a:p>
                      <a:pPr algn="ctr"/>
                      <a:r>
                        <a:rPr sz="1400" b="1">
                          <a:solidFill>
                            <a:srgbClr val="1A1A1A"/>
                          </a:solidFill>
                          <a:latin typeface="Times New Roman"/>
                        </a:rPr>
                        <a:t>56.1</a:t>
                      </a:r>
                    </a:p>
                  </a:txBody>
                  <a:tcPr marL="80000" marR="80000" marT="30000" marB="30000" anchor="ctr">
                    <a:solidFill>
                      <a:srgbClr val="F8F1E0"/>
                    </a:solidFill>
                  </a:tcPr>
                </a:tc>
                <a:tc>
                  <a:txBody>
                    <a:bodyPr/>
                    <a:lstStyle/>
                    <a:p>
                      <a:pPr algn="ctr"/>
                      <a:r>
                        <a:rPr sz="1400" b="1">
                          <a:solidFill>
                            <a:srgbClr val="1A1A1A"/>
                          </a:solidFill>
                          <a:latin typeface="Times New Roman"/>
                        </a:rPr>
                        <a:t>513</a:t>
                      </a:r>
                    </a:p>
                  </a:txBody>
                  <a:tcPr marL="80000" marR="80000" marT="30000" marB="30000" anchor="ctr">
                    <a:solidFill>
                      <a:srgbClr val="F8F1E0"/>
                    </a:solidFill>
                  </a:tcPr>
                </a:tc>
                <a:extLst>
                  <a:ext uri="{0D108BD9-81ED-4DB2-BD59-A6C34878D82A}">
                    <a16:rowId xmlns:a16="http://schemas.microsoft.com/office/drawing/2014/main" val="10004"/>
                  </a:ext>
                </a:extLst>
              </a:tr>
            </a:tbl>
          </a:graphicData>
        </a:graphic>
      </p:graphicFrame>
      <p:sp>
        <p:nvSpPr>
          <p:cNvPr id="23" name="TextBox 22"/>
          <p:cNvSpPr txBox="1"/>
          <p:nvPr/>
        </p:nvSpPr>
        <p:spPr>
          <a:xfrm>
            <a:off x="1500000" y="5550000"/>
            <a:ext cx="8800000" cy="700000"/>
          </a:xfrm>
          <a:prstGeom prst="rect">
            <a:avLst/>
          </a:prstGeom>
          <a:noFill/>
        </p:spPr>
        <p:txBody>
          <a:bodyPr wrap="square" lIns="0" tIns="0" rIns="0" bIns="0" anchor="t">
            <a:spAutoFit/>
          </a:bodyPr>
          <a:lstStyle/>
          <a:p>
            <a:pPr algn="l">
              <a:spcAft>
                <a:spcPts val="0"/>
              </a:spcAft>
            </a:pPr>
            <a:r>
              <a:rPr sz="1600" b="0" i="0">
                <a:solidFill>
                  <a:srgbClr val="1A1A1A"/>
                </a:solidFill>
                <a:latin typeface="Times New Roman"/>
              </a:rPr>
              <a:t>786 raw city-weeks became 771 usable after cleaning, giving 753 modeling rows with 28 predictors. The source files run to 2021, but 2021 holds only two empty weeks per city, so usable data end in December 2020.</a:t>
            </a:r>
          </a:p>
        </p:txBody>
      </p:sp>
    </p:spTree>
    <p:extLst>
      <p:ext uri="{BB962C8B-B14F-4D97-AF65-F5344CB8AC3E}">
        <p14:creationId xmlns:p14="http://schemas.microsoft.com/office/powerpoint/2010/main" val="569545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1500000" y="1009113"/>
            <a:ext cx="8800000" cy="430887"/>
          </a:xfrm>
          <a:prstGeom prst="rect">
            <a:avLst/>
          </a:prstGeom>
          <a:noFill/>
        </p:spPr>
        <p:txBody>
          <a:bodyPr wrap="square" lIns="0" tIns="0" rIns="0" bIns="0" anchor="b">
            <a:spAutoFit/>
          </a:bodyPr>
          <a:lstStyle/>
          <a:p>
            <a:pPr algn="l">
              <a:spcAft>
                <a:spcPts val="0"/>
              </a:spcAft>
            </a:pPr>
            <a:r>
              <a:rPr sz="2800" b="1" i="0" dirty="0">
                <a:solidFill>
                  <a:srgbClr val="1A1A1A"/>
                </a:solidFill>
                <a:latin typeface="Times New Roman" panose="02020603050405020304" pitchFamily="18" charset="0"/>
                <a:cs typeface="Times New Roman" panose="02020603050405020304" pitchFamily="18" charset="0"/>
              </a:rPr>
              <a:t>Data Collection Procedures</a:t>
            </a:r>
          </a:p>
        </p:txBody>
      </p:sp>
      <p:sp>
        <p:nvSpPr>
          <p:cNvPr id="7" name="Slide Subtitle"/>
          <p:cNvSpPr txBox="1"/>
          <p:nvPr/>
        </p:nvSpPr>
        <p:spPr>
          <a:xfrm>
            <a:off x="1500000" y="1500000"/>
            <a:ext cx="8800000" cy="276999"/>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panose="02020603050405020304" pitchFamily="18" charset="0"/>
                <a:cs typeface="Times New Roman" panose="02020603050405020304" pitchFamily="18" charset="0"/>
              </a:rPr>
              <a:t>Dataset: two open data streams merged into one weekly panel</a:t>
            </a:r>
          </a:p>
        </p:txBody>
      </p:sp>
      <p:sp>
        <p:nvSpPr>
          <p:cNvPr id="8" name="Rounded Rectangle 7"/>
          <p:cNvSpPr/>
          <p:nvPr/>
        </p:nvSpPr>
        <p:spPr>
          <a:xfrm>
            <a:off x="1500000" y="1950000"/>
            <a:ext cx="4350000" cy="190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Rounded Rectangle 8"/>
          <p:cNvSpPr/>
          <p:nvPr/>
        </p:nvSpPr>
        <p:spPr>
          <a:xfrm>
            <a:off x="1630000" y="2080000"/>
            <a:ext cx="4090000" cy="340000"/>
          </a:xfrm>
          <a:prstGeom prst="roundRect">
            <a:avLst>
              <a:gd name="adj" fmla="val 50000"/>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panose="02020603050405020304" pitchFamily="18" charset="0"/>
                <a:cs typeface="Times New Roman" panose="02020603050405020304" pitchFamily="18" charset="0"/>
              </a:rPr>
              <a:t>DOH PIDSR</a:t>
            </a:r>
          </a:p>
        </p:txBody>
      </p:sp>
      <p:sp>
        <p:nvSpPr>
          <p:cNvPr id="10" name="TextBox 9"/>
          <p:cNvSpPr txBox="1"/>
          <p:nvPr/>
        </p:nvSpPr>
        <p:spPr>
          <a:xfrm>
            <a:off x="1630000" y="2530000"/>
            <a:ext cx="4090000" cy="543739"/>
          </a:xfrm>
          <a:prstGeom prst="rect">
            <a:avLst/>
          </a:prstGeom>
          <a:noFill/>
        </p:spPr>
        <p:txBody>
          <a:bodyPr wrap="square" lIns="0" tIns="0" rIns="0" bIns="0" anchor="t">
            <a:spAutoFit/>
          </a:bodyPr>
          <a:lstStyle/>
          <a:p>
            <a:pPr algn="l">
              <a:spcAft>
                <a:spcPts val="400"/>
              </a:spcAft>
            </a:pPr>
            <a:r>
              <a:rPr sz="1600" b="0" i="0" dirty="0">
                <a:solidFill>
                  <a:srgbClr val="1A1A1A"/>
                </a:solidFill>
                <a:latin typeface="Times New Roman" panose="02020603050405020304" pitchFamily="18" charset="0"/>
                <a:cs typeface="Times New Roman" panose="02020603050405020304" pitchFamily="18" charset="0"/>
              </a:rPr>
              <a:t>• Weekly dengue cases per city, from DOH disease surveillance</a:t>
            </a:r>
          </a:p>
          <a:p>
            <a:pPr algn="l">
              <a:spcAft>
                <a:spcPts val="400"/>
              </a:spcAft>
            </a:pPr>
            <a:r>
              <a:rPr sz="1600" b="0" i="0" dirty="0">
                <a:solidFill>
                  <a:srgbClr val="1A1A1A"/>
                </a:solidFill>
                <a:latin typeface="Times New Roman" panose="02020603050405020304" pitchFamily="18" charset="0"/>
                <a:cs typeface="Times New Roman" panose="02020603050405020304" pitchFamily="18" charset="0"/>
              </a:rPr>
              <a:t>• Gives the target and the case-history features</a:t>
            </a:r>
          </a:p>
        </p:txBody>
      </p:sp>
      <p:sp>
        <p:nvSpPr>
          <p:cNvPr id="11" name="Rounded Rectangle 10"/>
          <p:cNvSpPr/>
          <p:nvPr/>
        </p:nvSpPr>
        <p:spPr>
          <a:xfrm>
            <a:off x="5950000" y="1950000"/>
            <a:ext cx="4350000" cy="190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Rounded Rectangle 11"/>
          <p:cNvSpPr/>
          <p:nvPr/>
        </p:nvSpPr>
        <p:spPr>
          <a:xfrm>
            <a:off x="6080000" y="2080000"/>
            <a:ext cx="4090000" cy="3400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panose="02020603050405020304" pitchFamily="18" charset="0"/>
                <a:cs typeface="Times New Roman" panose="02020603050405020304" pitchFamily="18" charset="0"/>
              </a:rPr>
              <a:t>Project CCHAIN</a:t>
            </a:r>
          </a:p>
        </p:txBody>
      </p:sp>
      <p:sp>
        <p:nvSpPr>
          <p:cNvPr id="13" name="TextBox 12"/>
          <p:cNvSpPr txBox="1"/>
          <p:nvPr/>
        </p:nvSpPr>
        <p:spPr>
          <a:xfrm>
            <a:off x="6080000" y="2530000"/>
            <a:ext cx="4090000" cy="543739"/>
          </a:xfrm>
          <a:prstGeom prst="rect">
            <a:avLst/>
          </a:prstGeom>
          <a:noFill/>
        </p:spPr>
        <p:txBody>
          <a:bodyPr wrap="square" lIns="0" tIns="0" rIns="0" bIns="0" anchor="t">
            <a:spAutoFit/>
          </a:bodyPr>
          <a:lstStyle/>
          <a:p>
            <a:pPr algn="l">
              <a:spcAft>
                <a:spcPts val="400"/>
              </a:spcAft>
            </a:pPr>
            <a:r>
              <a:rPr sz="1600" b="0" i="0">
                <a:solidFill>
                  <a:srgbClr val="1A1A1A"/>
                </a:solidFill>
                <a:latin typeface="Times New Roman" panose="02020603050405020304" pitchFamily="18" charset="0"/>
                <a:cs typeface="Times New Roman" panose="02020603050405020304" pitchFamily="18" charset="0"/>
              </a:rPr>
              <a:t>• Rainfall, temperature, humidity (ERA5 reanalysis)</a:t>
            </a:r>
          </a:p>
          <a:p>
            <a:pPr algn="l">
              <a:spcAft>
                <a:spcPts val="400"/>
              </a:spcAft>
            </a:pPr>
            <a:r>
              <a:rPr sz="1600" b="0" i="0">
                <a:solidFill>
                  <a:srgbClr val="1A1A1A"/>
                </a:solidFill>
                <a:latin typeface="Times New Roman" panose="02020603050405020304" pitchFamily="18" charset="0"/>
                <a:cs typeface="Times New Roman" panose="02020603050405020304" pitchFamily="18" charset="0"/>
              </a:rPr>
              <a:t>• Heat index, drought index (SPI-3), percent of normal rain (PNP), satellite greenness (NDVI)</a:t>
            </a:r>
          </a:p>
        </p:txBody>
      </p:sp>
      <p:sp>
        <p:nvSpPr>
          <p:cNvPr id="14" name="Rounded Rectangle 13"/>
          <p:cNvSpPr/>
          <p:nvPr/>
        </p:nvSpPr>
        <p:spPr>
          <a:xfrm>
            <a:off x="1500000" y="4200000"/>
            <a:ext cx="1950000" cy="600000"/>
          </a:xfrm>
          <a:prstGeom prst="roundRect">
            <a:avLst>
              <a:gd name="adj" fmla="val 5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300" b="1">
                <a:solidFill>
                  <a:srgbClr val="1A1A1A"/>
                </a:solidFill>
                <a:latin typeface="Times New Roman" panose="02020603050405020304" pitchFamily="18" charset="0"/>
                <a:cs typeface="Times New Roman" panose="02020603050405020304" pitchFamily="18" charset="0"/>
              </a:rPr>
              <a:t>Join on city + ISO week</a:t>
            </a:r>
          </a:p>
        </p:txBody>
      </p:sp>
      <p:sp>
        <p:nvSpPr>
          <p:cNvPr id="15" name="Rounded Rectangle 14"/>
          <p:cNvSpPr/>
          <p:nvPr/>
        </p:nvSpPr>
        <p:spPr>
          <a:xfrm>
            <a:off x="3783333" y="4200000"/>
            <a:ext cx="1950000" cy="600000"/>
          </a:xfrm>
          <a:prstGeom prst="roundRect">
            <a:avLst>
              <a:gd name="adj" fmla="val 5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300" b="1">
                <a:solidFill>
                  <a:srgbClr val="1A1A1A"/>
                </a:solidFill>
                <a:latin typeface="Times New Roman" panose="02020603050405020304" pitchFamily="18" charset="0"/>
                <a:cs typeface="Times New Roman" panose="02020603050405020304" pitchFamily="18" charset="0"/>
              </a:rPr>
              <a:t>Aggregate to weekly values</a:t>
            </a:r>
          </a:p>
        </p:txBody>
      </p:sp>
      <p:sp>
        <p:nvSpPr>
          <p:cNvPr id="16" name="Rounded Rectangle 15"/>
          <p:cNvSpPr/>
          <p:nvPr/>
        </p:nvSpPr>
        <p:spPr>
          <a:xfrm>
            <a:off x="6066666" y="4200000"/>
            <a:ext cx="1950000" cy="600000"/>
          </a:xfrm>
          <a:prstGeom prst="roundRect">
            <a:avLst>
              <a:gd name="adj" fmla="val 5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300" b="1">
                <a:solidFill>
                  <a:srgbClr val="1A1A1A"/>
                </a:solidFill>
                <a:latin typeface="Times New Roman" panose="02020603050405020304" pitchFamily="18" charset="0"/>
                <a:cs typeface="Times New Roman" panose="02020603050405020304" pitchFamily="18" charset="0"/>
              </a:rPr>
              <a:t>Shift lags before the target week</a:t>
            </a:r>
          </a:p>
        </p:txBody>
      </p:sp>
      <p:sp>
        <p:nvSpPr>
          <p:cNvPr id="17" name="Rounded Rectangle 16"/>
          <p:cNvSpPr/>
          <p:nvPr/>
        </p:nvSpPr>
        <p:spPr>
          <a:xfrm>
            <a:off x="8349999" y="4200000"/>
            <a:ext cx="1950000" cy="600000"/>
          </a:xfrm>
          <a:prstGeom prst="roundRect">
            <a:avLst>
              <a:gd name="adj" fmla="val 5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300" b="1">
                <a:solidFill>
                  <a:srgbClr val="1A1A1A"/>
                </a:solidFill>
                <a:latin typeface="Times New Roman" panose="02020603050405020304" pitchFamily="18" charset="0"/>
                <a:cs typeface="Times New Roman" panose="02020603050405020304" pitchFamily="18" charset="0"/>
              </a:rPr>
              <a:t>Cap extreme values (winsorize)</a:t>
            </a:r>
          </a:p>
        </p:txBody>
      </p:sp>
      <p:sp>
        <p:nvSpPr>
          <p:cNvPr id="18" name="TextBox 17"/>
          <p:cNvSpPr txBox="1"/>
          <p:nvPr/>
        </p:nvSpPr>
        <p:spPr>
          <a:xfrm>
            <a:off x="1500000" y="5050000"/>
            <a:ext cx="8800000" cy="492443"/>
          </a:xfrm>
          <a:prstGeom prst="rect">
            <a:avLst/>
          </a:prstGeom>
          <a:noFill/>
        </p:spPr>
        <p:txBody>
          <a:bodyPr wrap="square" lIns="0" tIns="0" rIns="0" bIns="0" anchor="t">
            <a:spAutoFit/>
          </a:bodyPr>
          <a:lstStyle/>
          <a:p>
            <a:pPr algn="l">
              <a:spcAft>
                <a:spcPts val="0"/>
              </a:spcAft>
            </a:pPr>
            <a:r>
              <a:rPr sz="1600" b="0" i="0">
                <a:solidFill>
                  <a:srgbClr val="1A1A1A"/>
                </a:solidFill>
                <a:latin typeface="Times New Roman" panose="02020603050405020304" pitchFamily="18" charset="0"/>
                <a:cs typeface="Times New Roman" panose="02020603050405020304" pitchFamily="18" charset="0"/>
              </a:rPr>
              <a:t>Three per-city weekly panels (2016 to 2020 usable weeks) are merged by a documented loader. A prediction for week t uses only data from week t−1 or earlier.</a:t>
            </a:r>
          </a:p>
        </p:txBody>
      </p:sp>
    </p:spTree>
    <p:extLst>
      <p:ext uri="{BB962C8B-B14F-4D97-AF65-F5344CB8AC3E}">
        <p14:creationId xmlns:p14="http://schemas.microsoft.com/office/powerpoint/2010/main" val="1488586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B7AF1-AD13-9627-EBE8-CDEF4CBCDBB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86D14B6-C93F-DF2E-9533-0316BECD9D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ECC5AD28-033C-43F2-B186-5ABEF8CFB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Slide Title"/>
          <p:cNvSpPr txBox="1"/>
          <p:nvPr/>
        </p:nvSpPr>
        <p:spPr>
          <a:xfrm>
            <a:off x="1500000" y="1009113"/>
            <a:ext cx="8800000" cy="430887"/>
          </a:xfrm>
          <a:prstGeom prst="rect">
            <a:avLst/>
          </a:prstGeom>
          <a:noFill/>
        </p:spPr>
        <p:txBody>
          <a:bodyPr wrap="square" lIns="0" tIns="0" rIns="0" bIns="0" anchor="b">
            <a:spAutoFit/>
          </a:bodyPr>
          <a:lstStyle/>
          <a:p>
            <a:pPr algn="l">
              <a:spcAft>
                <a:spcPts val="0"/>
              </a:spcAft>
            </a:pPr>
            <a:r>
              <a:rPr sz="2800" b="1" i="0" dirty="0">
                <a:solidFill>
                  <a:srgbClr val="1A1A1A"/>
                </a:solidFill>
                <a:latin typeface="Times New Roman"/>
              </a:rPr>
              <a:t>Methodology</a:t>
            </a:r>
            <a:endParaRPr sz="1900" b="0" i="0" dirty="0">
              <a:solidFill>
                <a:srgbClr val="4A4A4A"/>
              </a:solidFill>
              <a:latin typeface="Times New Roman"/>
            </a:endParaRPr>
          </a:p>
        </p:txBody>
      </p:sp>
      <p:sp>
        <p:nvSpPr>
          <p:cNvPr id="15"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Algorithm: three models compared</a:t>
            </a:r>
          </a:p>
        </p:txBody>
      </p:sp>
      <p:sp>
        <p:nvSpPr>
          <p:cNvPr id="16" name="Rounded Rectangle 15"/>
          <p:cNvSpPr/>
          <p:nvPr/>
        </p:nvSpPr>
        <p:spPr>
          <a:xfrm>
            <a:off x="1500000" y="1950000"/>
            <a:ext cx="2850000" cy="22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630000" y="2080000"/>
            <a:ext cx="2590000" cy="380000"/>
          </a:xfrm>
          <a:prstGeom prst="roundRect">
            <a:avLst>
              <a:gd name="adj" fmla="val 5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1A1A1A"/>
                </a:solidFill>
                <a:latin typeface="Times New Roman"/>
              </a:rPr>
              <a:t>Persistence</a:t>
            </a:r>
          </a:p>
        </p:txBody>
      </p:sp>
      <p:sp>
        <p:nvSpPr>
          <p:cNvPr id="18" name="TextBox 17"/>
          <p:cNvSpPr txBox="1"/>
          <p:nvPr/>
        </p:nvSpPr>
        <p:spPr>
          <a:xfrm>
            <a:off x="1630000" y="2570000"/>
            <a:ext cx="2590000" cy="1500000"/>
          </a:xfrm>
          <a:prstGeom prst="rect">
            <a:avLst/>
          </a:prstGeom>
          <a:noFill/>
        </p:spPr>
        <p:txBody>
          <a:bodyPr wrap="square" lIns="0" tIns="0" rIns="0" bIns="0" anchor="t">
            <a:spAutoFit/>
          </a:bodyPr>
          <a:lstStyle/>
          <a:p>
            <a:pPr algn="l">
              <a:spcAft>
                <a:spcPts val="400"/>
              </a:spcAft>
            </a:pPr>
            <a:r>
              <a:rPr sz="1600" b="0" i="0">
                <a:solidFill>
                  <a:srgbClr val="1A1A1A"/>
                </a:solidFill>
                <a:latin typeface="Times New Roman"/>
              </a:rPr>
              <a:t>• Predicts the latest observed count</a:t>
            </a:r>
          </a:p>
          <a:p>
            <a:pPr algn="l">
              <a:spcAft>
                <a:spcPts val="400"/>
              </a:spcAft>
            </a:pPr>
            <a:r>
              <a:rPr sz="1600" b="0" i="0">
                <a:solidFill>
                  <a:srgbClr val="1A1A1A"/>
                </a:solidFill>
                <a:latin typeface="Times New Roman"/>
              </a:rPr>
              <a:t>• No training</a:t>
            </a:r>
          </a:p>
          <a:p>
            <a:pPr algn="l">
              <a:spcAft>
                <a:spcPts val="400"/>
              </a:spcAft>
            </a:pPr>
            <a:r>
              <a:rPr sz="1600" b="0" i="0">
                <a:solidFill>
                  <a:srgbClr val="1A1A1A"/>
                </a:solidFill>
                <a:latin typeface="Times New Roman"/>
              </a:rPr>
              <a:t>• The floor to beat</a:t>
            </a:r>
          </a:p>
        </p:txBody>
      </p:sp>
      <p:sp>
        <p:nvSpPr>
          <p:cNvPr id="19" name="Rounded Rectangle 18"/>
          <p:cNvSpPr/>
          <p:nvPr/>
        </p:nvSpPr>
        <p:spPr>
          <a:xfrm>
            <a:off x="4475000" y="1950000"/>
            <a:ext cx="2850000" cy="22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605000" y="2080000"/>
            <a:ext cx="2590000" cy="380000"/>
          </a:xfrm>
          <a:prstGeom prst="roundRect">
            <a:avLst>
              <a:gd name="adj" fmla="val 50000"/>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Case-only XGBoost</a:t>
            </a:r>
          </a:p>
        </p:txBody>
      </p:sp>
      <p:sp>
        <p:nvSpPr>
          <p:cNvPr id="21" name="TextBox 20"/>
          <p:cNvSpPr txBox="1"/>
          <p:nvPr/>
        </p:nvSpPr>
        <p:spPr>
          <a:xfrm>
            <a:off x="4605000" y="2570000"/>
            <a:ext cx="2590000" cy="1500000"/>
          </a:xfrm>
          <a:prstGeom prst="rect">
            <a:avLst/>
          </a:prstGeom>
          <a:noFill/>
        </p:spPr>
        <p:txBody>
          <a:bodyPr wrap="square" lIns="0" tIns="0" rIns="0" bIns="0" anchor="t">
            <a:spAutoFit/>
          </a:bodyPr>
          <a:lstStyle/>
          <a:p>
            <a:pPr algn="l">
              <a:spcAft>
                <a:spcPts val="400"/>
              </a:spcAft>
            </a:pPr>
            <a:r>
              <a:rPr sz="1600" b="0" i="0">
                <a:solidFill>
                  <a:srgbClr val="1A1A1A"/>
                </a:solidFill>
                <a:latin typeface="Times New Roman"/>
              </a:rPr>
              <a:t>• 6 features: case momentum + season</a:t>
            </a:r>
          </a:p>
          <a:p>
            <a:pPr algn="l">
              <a:spcAft>
                <a:spcPts val="400"/>
              </a:spcAft>
            </a:pPr>
            <a:r>
              <a:rPr sz="1600" b="0" i="0">
                <a:solidFill>
                  <a:srgbClr val="1A1A1A"/>
                </a:solidFill>
                <a:latin typeface="Times New Roman"/>
              </a:rPr>
              <a:t>• Learns the change from the latest count</a:t>
            </a:r>
          </a:p>
          <a:p>
            <a:pPr algn="l">
              <a:spcAft>
                <a:spcPts val="400"/>
              </a:spcAft>
            </a:pPr>
            <a:r>
              <a:rPr sz="1600" b="0" i="0">
                <a:solidFill>
                  <a:srgbClr val="1A1A1A"/>
                </a:solidFill>
                <a:latin typeface="Times New Roman"/>
              </a:rPr>
              <a:t>• Ablation baseline</a:t>
            </a:r>
          </a:p>
        </p:txBody>
      </p:sp>
      <p:sp>
        <p:nvSpPr>
          <p:cNvPr id="22" name="Rounded Rectangle 21"/>
          <p:cNvSpPr/>
          <p:nvPr/>
        </p:nvSpPr>
        <p:spPr>
          <a:xfrm>
            <a:off x="7450000" y="1950000"/>
            <a:ext cx="2850000" cy="22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580000" y="2080000"/>
            <a:ext cx="2590000" cy="3800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Full XGBoost</a:t>
            </a:r>
          </a:p>
        </p:txBody>
      </p:sp>
      <p:sp>
        <p:nvSpPr>
          <p:cNvPr id="24" name="TextBox 23"/>
          <p:cNvSpPr txBox="1"/>
          <p:nvPr/>
        </p:nvSpPr>
        <p:spPr>
          <a:xfrm>
            <a:off x="7580000" y="2570000"/>
            <a:ext cx="2590000" cy="1500000"/>
          </a:xfrm>
          <a:prstGeom prst="rect">
            <a:avLst/>
          </a:prstGeom>
          <a:noFill/>
        </p:spPr>
        <p:txBody>
          <a:bodyPr wrap="square" lIns="0" tIns="0" rIns="0" bIns="0" anchor="t">
            <a:spAutoFit/>
          </a:bodyPr>
          <a:lstStyle/>
          <a:p>
            <a:pPr algn="l">
              <a:spcAft>
                <a:spcPts val="400"/>
              </a:spcAft>
            </a:pPr>
            <a:r>
              <a:rPr sz="1600" b="0" i="0">
                <a:solidFill>
                  <a:srgbClr val="1A1A1A"/>
                </a:solidFill>
                <a:latin typeface="Times New Roman"/>
              </a:rPr>
              <a:t>• 28 features: adds 22 weather</a:t>
            </a:r>
          </a:p>
          <a:p>
            <a:pPr algn="l">
              <a:spcAft>
                <a:spcPts val="400"/>
              </a:spcAft>
            </a:pPr>
            <a:r>
              <a:rPr sz="1600" b="0" i="0">
                <a:solidFill>
                  <a:srgbClr val="1A1A1A"/>
                </a:solidFill>
                <a:latin typeface="Times New Roman"/>
              </a:rPr>
              <a:t>• Same formulation and settings</a:t>
            </a:r>
          </a:p>
          <a:p>
            <a:pPr algn="l">
              <a:spcAft>
                <a:spcPts val="400"/>
              </a:spcAft>
            </a:pPr>
            <a:r>
              <a:rPr sz="1600" b="0" i="0">
                <a:solidFill>
                  <a:srgbClr val="1A1A1A"/>
                </a:solidFill>
                <a:latin typeface="Times New Roman"/>
              </a:rPr>
              <a:t>• Main model</a:t>
            </a:r>
          </a:p>
        </p:txBody>
      </p:sp>
      <p:sp>
        <p:nvSpPr>
          <p:cNvPr id="25" name="TextBox 24"/>
          <p:cNvSpPr txBox="1"/>
          <p:nvPr/>
        </p:nvSpPr>
        <p:spPr>
          <a:xfrm>
            <a:off x="1500000" y="4370832"/>
            <a:ext cx="8800000" cy="1800000"/>
          </a:xfrm>
          <a:prstGeom prst="rect">
            <a:avLst/>
          </a:prstGeom>
          <a:noFill/>
        </p:spPr>
        <p:txBody>
          <a:bodyPr wrap="square" lIns="0" tIns="0" rIns="0" bIns="0" anchor="t">
            <a:spAutoFit/>
          </a:bodyPr>
          <a:lstStyle/>
          <a:p>
            <a:pPr algn="l">
              <a:spcAft>
                <a:spcPts val="700"/>
              </a:spcAft>
            </a:pPr>
            <a:r>
              <a:rPr sz="1500" b="1" i="0">
                <a:solidFill>
                  <a:srgbClr val="1A1A1A"/>
                </a:solidFill>
                <a:latin typeface="Times New Roman"/>
              </a:rPr>
              <a:t>Formulation: </a:t>
            </a:r>
            <a:r>
              <a:rPr sz="1500" b="0" i="0">
                <a:solidFill>
                  <a:srgbClr val="1A1A1A"/>
                </a:solidFill>
                <a:latin typeface="Times New Roman"/>
              </a:rPr>
              <a:t>forecast = latest count + λ × predicted change, floored at 0 (λ = 0.3).</a:t>
            </a:r>
          </a:p>
          <a:p>
            <a:pPr algn="l">
              <a:spcAft>
                <a:spcPts val="700"/>
              </a:spcAft>
            </a:pPr>
            <a:r>
              <a:rPr sz="1500" b="1" i="0">
                <a:solidFill>
                  <a:srgbClr val="1A1A1A"/>
                </a:solidFill>
                <a:latin typeface="Times New Roman"/>
              </a:rPr>
              <a:t>Settings: </a:t>
            </a:r>
            <a:r>
              <a:rPr sz="1500" b="0" i="0">
                <a:solidFill>
                  <a:srgbClr val="1A1A1A"/>
                </a:solidFill>
                <a:latin typeface="Times New Roman"/>
              </a:rPr>
              <a:t>L1 loss, depth 3, 30 trees, learning rate 0.03, subsample 0.8, column sample 0.8, min child weight 3, L1 = L2 = 5.</a:t>
            </a:r>
          </a:p>
          <a:p>
            <a:pPr algn="l">
              <a:spcAft>
                <a:spcPts val="700"/>
              </a:spcAft>
            </a:pPr>
            <a:r>
              <a:rPr sz="1500" b="1" i="0">
                <a:solidFill>
                  <a:srgbClr val="1A1A1A"/>
                </a:solidFill>
                <a:latin typeface="Times New Roman"/>
              </a:rPr>
              <a:t>Tuning: </a:t>
            </a:r>
            <a:r>
              <a:rPr sz="1500" b="0" i="0">
                <a:solidFill>
                  <a:srgbClr val="1A1A1A"/>
                </a:solidFill>
                <a:latin typeface="Times New Roman"/>
              </a:rPr>
              <a:t>λ, learning rate and tree count are chosen by forward-chaining CV (3 folds) on training data only.</a:t>
            </a:r>
          </a:p>
          <a:p>
            <a:pPr algn="l">
              <a:spcAft>
                <a:spcPts val="700"/>
              </a:spcAft>
            </a:pPr>
            <a:r>
              <a:rPr sz="1500" b="1" i="0">
                <a:solidFill>
                  <a:srgbClr val="1A1A1A"/>
                </a:solidFill>
                <a:latin typeface="Times New Roman"/>
              </a:rPr>
              <a:t>Tools: </a:t>
            </a:r>
            <a:r>
              <a:rPr sz="1500" b="0" i="0">
                <a:solidFill>
                  <a:srgbClr val="1A1A1A"/>
                </a:solidFill>
                <a:latin typeface="Times New Roman"/>
              </a:rPr>
              <a:t>Python, pandas, scikit-learn, XGBoost.</a:t>
            </a:r>
          </a:p>
        </p:txBody>
      </p:sp>
    </p:spTree>
    <p:extLst>
      <p:ext uri="{BB962C8B-B14F-4D97-AF65-F5344CB8AC3E}">
        <p14:creationId xmlns:p14="http://schemas.microsoft.com/office/powerpoint/2010/main" val="1211635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7B496-0DDF-C1E9-2144-0321201E61C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0F7BC93-9117-9320-E230-963B80392E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9D8A7C5D-DA9A-2B0A-5A4E-C4650C37B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Slide Title"/>
          <p:cNvSpPr txBox="1"/>
          <p:nvPr/>
        </p:nvSpPr>
        <p:spPr>
          <a:xfrm>
            <a:off x="1500000" y="1009113"/>
            <a:ext cx="8800000" cy="430887"/>
          </a:xfrm>
          <a:prstGeom prst="rect">
            <a:avLst/>
          </a:prstGeom>
          <a:noFill/>
        </p:spPr>
        <p:txBody>
          <a:bodyPr wrap="square" lIns="0" tIns="0" rIns="0" bIns="0" anchor="b">
            <a:spAutoFit/>
          </a:bodyPr>
          <a:lstStyle/>
          <a:p>
            <a:pPr algn="l">
              <a:spcAft>
                <a:spcPts val="0"/>
              </a:spcAft>
            </a:pPr>
            <a:r>
              <a:rPr sz="2800" b="1" i="0" dirty="0">
                <a:solidFill>
                  <a:srgbClr val="1A1A1A"/>
                </a:solidFill>
                <a:latin typeface="Times New Roman"/>
              </a:rPr>
              <a:t>Methodology</a:t>
            </a:r>
            <a:endParaRPr sz="1900" b="0" i="0" dirty="0">
              <a:solidFill>
                <a:srgbClr val="4A4A4A"/>
              </a:solidFill>
              <a:latin typeface="Times New Roman"/>
            </a:endParaRPr>
          </a:p>
        </p:txBody>
      </p:sp>
      <p:sp>
        <p:nvSpPr>
          <p:cNvPr id="15"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Experiment setup: strict chronological split</a:t>
            </a:r>
          </a:p>
        </p:txBody>
      </p:sp>
      <p:sp>
        <p:nvSpPr>
          <p:cNvPr id="16" name="TextBox 15"/>
          <p:cNvSpPr txBox="1"/>
          <p:nvPr/>
        </p:nvSpPr>
        <p:spPr>
          <a:xfrm>
            <a:off x="1500000" y="1950000"/>
            <a:ext cx="8800000" cy="280000"/>
          </a:xfrm>
          <a:prstGeom prst="rect">
            <a:avLst/>
          </a:prstGeom>
          <a:noFill/>
        </p:spPr>
        <p:txBody>
          <a:bodyPr wrap="square" lIns="0" tIns="0" rIns="0" bIns="0" anchor="t">
            <a:spAutoFit/>
          </a:bodyPr>
          <a:lstStyle/>
          <a:p>
            <a:pPr algn="l">
              <a:spcAft>
                <a:spcPts val="0"/>
              </a:spcAft>
            </a:pPr>
            <a:r>
              <a:rPr sz="1700" b="1" i="0">
                <a:solidFill>
                  <a:srgbClr val="4A4A4A"/>
                </a:solidFill>
                <a:latin typeface="Times New Roman"/>
              </a:rPr>
              <a:t>Train 606 city-weeks  |  2-week embargo (3)  |  Test 144</a:t>
            </a:r>
          </a:p>
        </p:txBody>
      </p:sp>
      <p:sp>
        <p:nvSpPr>
          <p:cNvPr id="17" name="Rectangle 16"/>
          <p:cNvSpPr/>
          <p:nvPr/>
        </p:nvSpPr>
        <p:spPr>
          <a:xfrm>
            <a:off x="1500000" y="2300000"/>
            <a:ext cx="7014819" cy="640000"/>
          </a:xfrm>
          <a:prstGeom prst="rect">
            <a:avLst/>
          </a:prstGeom>
          <a:solidFill>
            <a:srgbClr val="2F559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400" b="1">
                <a:solidFill>
                  <a:srgbClr val="FFFFFF"/>
                </a:solidFill>
                <a:latin typeface="Times New Roman"/>
              </a:rPr>
              <a:t>Train 2016–2019</a:t>
            </a:r>
          </a:p>
        </p:txBody>
      </p:sp>
      <p:sp>
        <p:nvSpPr>
          <p:cNvPr id="18" name="Rectangle 17"/>
          <p:cNvSpPr/>
          <p:nvPr/>
        </p:nvSpPr>
        <p:spPr>
          <a:xfrm>
            <a:off x="8514819" y="2300000"/>
            <a:ext cx="110000" cy="640000"/>
          </a:xfrm>
          <a:prstGeom prst="rect">
            <a:avLst/>
          </a:prstGeom>
          <a:solidFill>
            <a:srgbClr val="FFC0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624819" y="2300000"/>
            <a:ext cx="1675181" cy="640000"/>
          </a:xfrm>
          <a:prstGeom prst="rect">
            <a:avLst/>
          </a:prstGeom>
          <a:solidFill>
            <a:srgbClr val="2E7D3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lIns="30000" rIns="30000" rtlCol="0" anchor="ctr"/>
          <a:lstStyle/>
          <a:p>
            <a:pPr algn="ctr"/>
            <a:r>
              <a:rPr sz="1400" b="1">
                <a:solidFill>
                  <a:srgbClr val="FFFFFF"/>
                </a:solidFill>
                <a:latin typeface="Times New Roman"/>
              </a:rPr>
              <a:t>Test 2020</a:t>
            </a:r>
          </a:p>
        </p:txBody>
      </p:sp>
      <p:sp>
        <p:nvSpPr>
          <p:cNvPr id="20" name="TextBox 19"/>
          <p:cNvSpPr txBox="1"/>
          <p:nvPr/>
        </p:nvSpPr>
        <p:spPr>
          <a:xfrm>
            <a:off x="1500000" y="3050000"/>
            <a:ext cx="8800000" cy="520000"/>
          </a:xfrm>
          <a:prstGeom prst="rect">
            <a:avLst/>
          </a:prstGeom>
          <a:noFill/>
        </p:spPr>
        <p:txBody>
          <a:bodyPr wrap="square" lIns="0" tIns="0" rIns="0" bIns="0" anchor="t">
            <a:spAutoFit/>
          </a:bodyPr>
          <a:lstStyle/>
          <a:p>
            <a:pPr algn="l">
              <a:spcAft>
                <a:spcPts val="0"/>
              </a:spcAft>
            </a:pPr>
            <a:r>
              <a:rPr sz="1600" b="0" i="0">
                <a:solidFill>
                  <a:srgbClr val="4A4A4A"/>
                </a:solidFill>
                <a:latin typeface="Times New Roman"/>
              </a:rPr>
              <a:t>About 81% train and 19% test by rows. The proposal's 70/30 split assumed 2021 data, but the source files hold no usable 2021 weeks, so the 2020–2021 test window reduces to 2020 (weeks 3 to 50).</a:t>
            </a:r>
          </a:p>
        </p:txBody>
      </p:sp>
      <p:sp>
        <p:nvSpPr>
          <p:cNvPr id="21" name="Rounded Rectangle 20"/>
          <p:cNvSpPr/>
          <p:nvPr/>
        </p:nvSpPr>
        <p:spPr>
          <a:xfrm>
            <a:off x="1500000" y="3800000"/>
            <a:ext cx="2080000" cy="230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620000" y="3920000"/>
            <a:ext cx="1840000" cy="330000"/>
          </a:xfrm>
          <a:prstGeom prst="rect">
            <a:avLst/>
          </a:prstGeom>
          <a:noFill/>
        </p:spPr>
        <p:txBody>
          <a:bodyPr wrap="square" lIns="0" tIns="0" rIns="0" bIns="0" anchor="t">
            <a:spAutoFit/>
          </a:bodyPr>
          <a:lstStyle/>
          <a:p>
            <a:pPr algn="l">
              <a:spcAft>
                <a:spcPts val="0"/>
              </a:spcAft>
            </a:pPr>
            <a:r>
              <a:rPr sz="1900" b="1" i="0">
                <a:solidFill>
                  <a:srgbClr val="2F5597"/>
                </a:solidFill>
                <a:latin typeface="Times New Roman"/>
              </a:rPr>
              <a:t>Tuning</a:t>
            </a:r>
          </a:p>
        </p:txBody>
      </p:sp>
      <p:sp>
        <p:nvSpPr>
          <p:cNvPr id="23" name="TextBox 22"/>
          <p:cNvSpPr txBox="1"/>
          <p:nvPr/>
        </p:nvSpPr>
        <p:spPr>
          <a:xfrm>
            <a:off x="1620000" y="4350000"/>
            <a:ext cx="1840000" cy="1650000"/>
          </a:xfrm>
          <a:prstGeom prst="rect">
            <a:avLst/>
          </a:prstGeom>
          <a:noFill/>
        </p:spPr>
        <p:txBody>
          <a:bodyPr wrap="square" lIns="0" tIns="0" rIns="0" bIns="0" anchor="t">
            <a:spAutoFit/>
          </a:bodyPr>
          <a:lstStyle/>
          <a:p>
            <a:pPr algn="l">
              <a:spcAft>
                <a:spcPts val="0"/>
              </a:spcAft>
            </a:pPr>
            <a:r>
              <a:rPr sz="1700" b="0" i="0">
                <a:solidFill>
                  <a:srgbClr val="1A1A1A"/>
                </a:solidFill>
                <a:latin typeface="Times New Roman"/>
              </a:rPr>
              <a:t>3 expanding folds on training data only (forward-chaining CV)</a:t>
            </a:r>
          </a:p>
        </p:txBody>
      </p:sp>
      <p:sp>
        <p:nvSpPr>
          <p:cNvPr id="24" name="Rounded Rectangle 23"/>
          <p:cNvSpPr/>
          <p:nvPr/>
        </p:nvSpPr>
        <p:spPr>
          <a:xfrm>
            <a:off x="3740000" y="3800000"/>
            <a:ext cx="2080000" cy="230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60000" y="3920000"/>
            <a:ext cx="1840000" cy="330000"/>
          </a:xfrm>
          <a:prstGeom prst="rect">
            <a:avLst/>
          </a:prstGeom>
          <a:noFill/>
        </p:spPr>
        <p:txBody>
          <a:bodyPr wrap="square" lIns="0" tIns="0" rIns="0" bIns="0" anchor="t">
            <a:spAutoFit/>
          </a:bodyPr>
          <a:lstStyle/>
          <a:p>
            <a:pPr algn="l">
              <a:spcAft>
                <a:spcPts val="0"/>
              </a:spcAft>
            </a:pPr>
            <a:r>
              <a:rPr sz="1900" b="1" i="0">
                <a:solidFill>
                  <a:srgbClr val="2F5597"/>
                </a:solidFill>
                <a:latin typeface="Times New Roman"/>
              </a:rPr>
              <a:t>Repeats</a:t>
            </a:r>
          </a:p>
        </p:txBody>
      </p:sp>
      <p:sp>
        <p:nvSpPr>
          <p:cNvPr id="26" name="TextBox 25"/>
          <p:cNvSpPr txBox="1"/>
          <p:nvPr/>
        </p:nvSpPr>
        <p:spPr>
          <a:xfrm>
            <a:off x="3860000" y="4350000"/>
            <a:ext cx="1840000" cy="1650000"/>
          </a:xfrm>
          <a:prstGeom prst="rect">
            <a:avLst/>
          </a:prstGeom>
          <a:noFill/>
        </p:spPr>
        <p:txBody>
          <a:bodyPr wrap="square" lIns="0" tIns="0" rIns="0" bIns="0" anchor="t">
            <a:spAutoFit/>
          </a:bodyPr>
          <a:lstStyle/>
          <a:p>
            <a:pPr algn="l">
              <a:spcAft>
                <a:spcPts val="0"/>
              </a:spcAft>
            </a:pPr>
            <a:r>
              <a:rPr sz="1700" b="0" i="0">
                <a:solidFill>
                  <a:srgbClr val="1A1A1A"/>
                </a:solidFill>
                <a:latin typeface="Times New Roman"/>
              </a:rPr>
              <a:t>10 random seeds (42 to 51)</a:t>
            </a:r>
          </a:p>
        </p:txBody>
      </p:sp>
      <p:sp>
        <p:nvSpPr>
          <p:cNvPr id="27" name="Rounded Rectangle 26"/>
          <p:cNvSpPr/>
          <p:nvPr/>
        </p:nvSpPr>
        <p:spPr>
          <a:xfrm>
            <a:off x="5980000" y="3800000"/>
            <a:ext cx="2080000" cy="230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00000" y="3920000"/>
            <a:ext cx="1840000" cy="330000"/>
          </a:xfrm>
          <a:prstGeom prst="rect">
            <a:avLst/>
          </a:prstGeom>
          <a:noFill/>
        </p:spPr>
        <p:txBody>
          <a:bodyPr wrap="square" lIns="0" tIns="0" rIns="0" bIns="0" anchor="t">
            <a:spAutoFit/>
          </a:bodyPr>
          <a:lstStyle/>
          <a:p>
            <a:pPr algn="l">
              <a:spcAft>
                <a:spcPts val="0"/>
              </a:spcAft>
            </a:pPr>
            <a:r>
              <a:rPr sz="1900" b="1" i="0">
                <a:solidFill>
                  <a:srgbClr val="2F5597"/>
                </a:solidFill>
                <a:latin typeface="Times New Roman"/>
              </a:rPr>
              <a:t>Uncertainty</a:t>
            </a:r>
          </a:p>
        </p:txBody>
      </p:sp>
      <p:sp>
        <p:nvSpPr>
          <p:cNvPr id="29" name="TextBox 28"/>
          <p:cNvSpPr txBox="1"/>
          <p:nvPr/>
        </p:nvSpPr>
        <p:spPr>
          <a:xfrm>
            <a:off x="6100000" y="4350000"/>
            <a:ext cx="1840000" cy="1650000"/>
          </a:xfrm>
          <a:prstGeom prst="rect">
            <a:avLst/>
          </a:prstGeom>
          <a:noFill/>
        </p:spPr>
        <p:txBody>
          <a:bodyPr wrap="square" lIns="0" tIns="0" rIns="0" bIns="0" anchor="t">
            <a:spAutoFit/>
          </a:bodyPr>
          <a:lstStyle/>
          <a:p>
            <a:pPr algn="l">
              <a:spcAft>
                <a:spcPts val="0"/>
              </a:spcAft>
            </a:pPr>
            <a:r>
              <a:rPr sz="1700" b="0" i="0">
                <a:solidFill>
                  <a:srgbClr val="1A1A1A"/>
                </a:solidFill>
                <a:latin typeface="Times New Roman"/>
              </a:rPr>
              <a:t>Resamples 4-week blocks 2,000 times to get a 95% range (block bootstrap)</a:t>
            </a:r>
          </a:p>
        </p:txBody>
      </p:sp>
      <p:sp>
        <p:nvSpPr>
          <p:cNvPr id="30" name="Rounded Rectangle 29"/>
          <p:cNvSpPr/>
          <p:nvPr/>
        </p:nvSpPr>
        <p:spPr>
          <a:xfrm>
            <a:off x="8220000" y="3800000"/>
            <a:ext cx="2080000" cy="230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0000" y="3920000"/>
            <a:ext cx="1840000" cy="330000"/>
          </a:xfrm>
          <a:prstGeom prst="rect">
            <a:avLst/>
          </a:prstGeom>
          <a:noFill/>
        </p:spPr>
        <p:txBody>
          <a:bodyPr wrap="square" lIns="0" tIns="0" rIns="0" bIns="0" anchor="t">
            <a:spAutoFit/>
          </a:bodyPr>
          <a:lstStyle/>
          <a:p>
            <a:pPr algn="l">
              <a:spcAft>
                <a:spcPts val="0"/>
              </a:spcAft>
            </a:pPr>
            <a:r>
              <a:rPr sz="1900" b="1" i="0">
                <a:solidFill>
                  <a:srgbClr val="2F5597"/>
                </a:solidFill>
                <a:latin typeface="Times New Roman"/>
              </a:rPr>
              <a:t>Leakage control</a:t>
            </a:r>
          </a:p>
        </p:txBody>
      </p:sp>
      <p:sp>
        <p:nvSpPr>
          <p:cNvPr id="32" name="TextBox 31"/>
          <p:cNvSpPr txBox="1"/>
          <p:nvPr/>
        </p:nvSpPr>
        <p:spPr>
          <a:xfrm>
            <a:off x="8340000" y="4350000"/>
            <a:ext cx="1840000" cy="1650000"/>
          </a:xfrm>
          <a:prstGeom prst="rect">
            <a:avLst/>
          </a:prstGeom>
          <a:noFill/>
        </p:spPr>
        <p:txBody>
          <a:bodyPr wrap="square" lIns="0" tIns="0" rIns="0" bIns="0" anchor="t">
            <a:spAutoFit/>
          </a:bodyPr>
          <a:lstStyle/>
          <a:p>
            <a:pPr algn="l">
              <a:spcAft>
                <a:spcPts val="0"/>
              </a:spcAft>
            </a:pPr>
            <a:r>
              <a:rPr sz="1700" b="0" i="0">
                <a:solidFill>
                  <a:srgbClr val="1A1A1A"/>
                </a:solidFill>
                <a:latin typeface="Times New Roman"/>
              </a:rPr>
              <a:t>2-week gap between train and test (embargo); features use week t or earlier</a:t>
            </a:r>
          </a:p>
        </p:txBody>
      </p:sp>
    </p:spTree>
    <p:extLst>
      <p:ext uri="{BB962C8B-B14F-4D97-AF65-F5344CB8AC3E}">
        <p14:creationId xmlns:p14="http://schemas.microsoft.com/office/powerpoint/2010/main" val="2632633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F3725-E7E1-0A32-0B4E-369C9E2DCB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5E2453D-686F-814C-11F7-9980CEF5DC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4EFCC94E-F335-9C47-ECAA-8D57CBDE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Slide Title"/>
          <p:cNvSpPr txBox="1"/>
          <p:nvPr/>
        </p:nvSpPr>
        <p:spPr>
          <a:xfrm>
            <a:off x="1500000" y="1009113"/>
            <a:ext cx="8800000" cy="430887"/>
          </a:xfrm>
          <a:prstGeom prst="rect">
            <a:avLst/>
          </a:prstGeom>
          <a:noFill/>
        </p:spPr>
        <p:txBody>
          <a:bodyPr wrap="square" lIns="0" tIns="0" rIns="0" bIns="0" anchor="b">
            <a:spAutoFit/>
          </a:bodyPr>
          <a:lstStyle/>
          <a:p>
            <a:pPr algn="l">
              <a:spcAft>
                <a:spcPts val="0"/>
              </a:spcAft>
            </a:pPr>
            <a:r>
              <a:rPr sz="2800" b="1" i="0" dirty="0">
                <a:solidFill>
                  <a:srgbClr val="1A1A1A"/>
                </a:solidFill>
                <a:latin typeface="Times New Roman"/>
              </a:rPr>
              <a:t>Methodology</a:t>
            </a:r>
            <a:endParaRPr sz="1900" b="0" i="0" dirty="0">
              <a:solidFill>
                <a:srgbClr val="4A4A4A"/>
              </a:solidFill>
              <a:latin typeface="Times New Roman"/>
            </a:endParaRPr>
          </a:p>
        </p:txBody>
      </p:sp>
      <p:sp>
        <p:nvSpPr>
          <p:cNvPr id="15"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Metrics and how results are reported</a:t>
            </a:r>
          </a:p>
        </p:txBody>
      </p:sp>
      <p:sp>
        <p:nvSpPr>
          <p:cNvPr id="16" name="Rounded Rectangle 15"/>
          <p:cNvSpPr/>
          <p:nvPr/>
        </p:nvSpPr>
        <p:spPr>
          <a:xfrm>
            <a:off x="1500000" y="1950000"/>
            <a:ext cx="2850000" cy="14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630000" y="2060000"/>
            <a:ext cx="2590000" cy="330000"/>
          </a:xfrm>
          <a:prstGeom prst="roundRect">
            <a:avLst>
              <a:gd name="adj" fmla="val 50000"/>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MAE</a:t>
            </a:r>
          </a:p>
        </p:txBody>
      </p:sp>
      <p:sp>
        <p:nvSpPr>
          <p:cNvPr id="18" name="TextBox 17"/>
          <p:cNvSpPr txBox="1"/>
          <p:nvPr/>
        </p:nvSpPr>
        <p:spPr>
          <a:xfrm>
            <a:off x="1630000" y="2500000"/>
            <a:ext cx="2590000" cy="330000"/>
          </a:xfrm>
          <a:prstGeom prst="rect">
            <a:avLst/>
          </a:prstGeom>
          <a:noFill/>
        </p:spPr>
        <p:txBody>
          <a:bodyPr wrap="square" lIns="0" tIns="0" rIns="0" bIns="0" anchor="t">
            <a:spAutoFit/>
          </a:bodyPr>
          <a:lstStyle/>
          <a:p>
            <a:pPr algn="l">
              <a:spcAft>
                <a:spcPts val="0"/>
              </a:spcAft>
            </a:pPr>
            <a:r>
              <a:rPr sz="1700" b="0" i="0">
                <a:solidFill>
                  <a:srgbClr val="1A1A1A"/>
                </a:solidFill>
                <a:latin typeface="Times New Roman"/>
              </a:rPr>
              <a:t>Average cases off</a:t>
            </a:r>
          </a:p>
        </p:txBody>
      </p:sp>
      <p:sp>
        <p:nvSpPr>
          <p:cNvPr id="19" name="TextBox 18"/>
          <p:cNvSpPr txBox="1"/>
          <p:nvPr/>
        </p:nvSpPr>
        <p:spPr>
          <a:xfrm>
            <a:off x="1630000" y="2950000"/>
            <a:ext cx="2590000" cy="330000"/>
          </a:xfrm>
          <a:prstGeom prst="rect">
            <a:avLst/>
          </a:prstGeom>
          <a:noFill/>
        </p:spPr>
        <p:txBody>
          <a:bodyPr wrap="square" lIns="0" tIns="0" rIns="0" bIns="0" anchor="t">
            <a:spAutoFit/>
          </a:bodyPr>
          <a:lstStyle/>
          <a:p>
            <a:pPr algn="l">
              <a:spcAft>
                <a:spcPts val="0"/>
              </a:spcAft>
            </a:pPr>
            <a:r>
              <a:rPr sz="1700" b="1" i="0">
                <a:solidFill>
                  <a:srgbClr val="2F5597"/>
                </a:solidFill>
                <a:latin typeface="Times New Roman"/>
              </a:rPr>
              <a:t>mean( |y − ŷ| )</a:t>
            </a:r>
          </a:p>
        </p:txBody>
      </p:sp>
      <p:sp>
        <p:nvSpPr>
          <p:cNvPr id="20" name="Rounded Rectangle 19"/>
          <p:cNvSpPr/>
          <p:nvPr/>
        </p:nvSpPr>
        <p:spPr>
          <a:xfrm>
            <a:off x="4475000" y="1950000"/>
            <a:ext cx="2850000" cy="14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605000" y="2060000"/>
            <a:ext cx="2590000" cy="3300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RMSE</a:t>
            </a:r>
          </a:p>
        </p:txBody>
      </p:sp>
      <p:sp>
        <p:nvSpPr>
          <p:cNvPr id="22" name="TextBox 21"/>
          <p:cNvSpPr txBox="1"/>
          <p:nvPr/>
        </p:nvSpPr>
        <p:spPr>
          <a:xfrm>
            <a:off x="4605000" y="2500000"/>
            <a:ext cx="2590000" cy="330000"/>
          </a:xfrm>
          <a:prstGeom prst="rect">
            <a:avLst/>
          </a:prstGeom>
          <a:noFill/>
        </p:spPr>
        <p:txBody>
          <a:bodyPr wrap="square" lIns="0" tIns="0" rIns="0" bIns="0" anchor="t">
            <a:spAutoFit/>
          </a:bodyPr>
          <a:lstStyle/>
          <a:p>
            <a:pPr algn="l">
              <a:spcAft>
                <a:spcPts val="0"/>
              </a:spcAft>
            </a:pPr>
            <a:r>
              <a:rPr sz="1700" b="0" i="0">
                <a:solidFill>
                  <a:srgbClr val="1A1A1A"/>
                </a:solidFill>
                <a:latin typeface="Times New Roman"/>
              </a:rPr>
              <a:t>Penalizes large misses</a:t>
            </a:r>
          </a:p>
        </p:txBody>
      </p:sp>
      <p:sp>
        <p:nvSpPr>
          <p:cNvPr id="23" name="TextBox 22"/>
          <p:cNvSpPr txBox="1"/>
          <p:nvPr/>
        </p:nvSpPr>
        <p:spPr>
          <a:xfrm>
            <a:off x="4605000" y="2950000"/>
            <a:ext cx="2590000" cy="330000"/>
          </a:xfrm>
          <a:prstGeom prst="rect">
            <a:avLst/>
          </a:prstGeom>
          <a:noFill/>
        </p:spPr>
        <p:txBody>
          <a:bodyPr wrap="square" lIns="0" tIns="0" rIns="0" bIns="0" anchor="t">
            <a:spAutoFit/>
          </a:bodyPr>
          <a:lstStyle/>
          <a:p>
            <a:pPr algn="l">
              <a:spcAft>
                <a:spcPts val="0"/>
              </a:spcAft>
            </a:pPr>
            <a:r>
              <a:rPr sz="1700" b="1" i="0">
                <a:solidFill>
                  <a:srgbClr val="2F5597"/>
                </a:solidFill>
                <a:latin typeface="Times New Roman"/>
              </a:rPr>
              <a:t>√ mean( (y − ŷ)² )</a:t>
            </a:r>
          </a:p>
        </p:txBody>
      </p:sp>
      <p:sp>
        <p:nvSpPr>
          <p:cNvPr id="24" name="Rounded Rectangle 23"/>
          <p:cNvSpPr/>
          <p:nvPr/>
        </p:nvSpPr>
        <p:spPr>
          <a:xfrm>
            <a:off x="7450000" y="1950000"/>
            <a:ext cx="2850000" cy="14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580000" y="2060000"/>
            <a:ext cx="2590000" cy="330000"/>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a:rPr>
              <a:t>R²</a:t>
            </a:r>
          </a:p>
        </p:txBody>
      </p:sp>
      <p:sp>
        <p:nvSpPr>
          <p:cNvPr id="26" name="TextBox 25"/>
          <p:cNvSpPr txBox="1"/>
          <p:nvPr/>
        </p:nvSpPr>
        <p:spPr>
          <a:xfrm>
            <a:off x="7580000" y="2500000"/>
            <a:ext cx="2590000" cy="330000"/>
          </a:xfrm>
          <a:prstGeom prst="rect">
            <a:avLst/>
          </a:prstGeom>
          <a:noFill/>
        </p:spPr>
        <p:txBody>
          <a:bodyPr wrap="square" lIns="0" tIns="0" rIns="0" bIns="0" anchor="t">
            <a:spAutoFit/>
          </a:bodyPr>
          <a:lstStyle/>
          <a:p>
            <a:pPr algn="l">
              <a:spcAft>
                <a:spcPts val="0"/>
              </a:spcAft>
            </a:pPr>
            <a:r>
              <a:rPr sz="1700" b="0" i="0">
                <a:solidFill>
                  <a:srgbClr val="1A1A1A"/>
                </a:solidFill>
                <a:latin typeface="Times New Roman"/>
              </a:rPr>
              <a:t>Share of change explained</a:t>
            </a:r>
          </a:p>
        </p:txBody>
      </p:sp>
      <p:sp>
        <p:nvSpPr>
          <p:cNvPr id="27" name="TextBox 26"/>
          <p:cNvSpPr txBox="1"/>
          <p:nvPr/>
        </p:nvSpPr>
        <p:spPr>
          <a:xfrm>
            <a:off x="7580000" y="2950000"/>
            <a:ext cx="2590000" cy="330000"/>
          </a:xfrm>
          <a:prstGeom prst="rect">
            <a:avLst/>
          </a:prstGeom>
          <a:noFill/>
        </p:spPr>
        <p:txBody>
          <a:bodyPr wrap="square" lIns="0" tIns="0" rIns="0" bIns="0" anchor="t">
            <a:spAutoFit/>
          </a:bodyPr>
          <a:lstStyle/>
          <a:p>
            <a:pPr algn="l">
              <a:spcAft>
                <a:spcPts val="0"/>
              </a:spcAft>
            </a:pPr>
            <a:r>
              <a:rPr sz="1700" b="1" i="0">
                <a:solidFill>
                  <a:srgbClr val="2F5597"/>
                </a:solidFill>
                <a:latin typeface="Times New Roman"/>
              </a:rPr>
              <a:t>1 − SS_res / SS_tot</a:t>
            </a:r>
          </a:p>
        </p:txBody>
      </p:sp>
      <p:sp>
        <p:nvSpPr>
          <p:cNvPr id="28" name="Reading card"/>
          <p:cNvSpPr/>
          <p:nvPr/>
        </p:nvSpPr>
        <p:spPr>
          <a:xfrm>
            <a:off x="1499616" y="3611880"/>
            <a:ext cx="2852928" cy="178308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Pill"/>
          <p:cNvSpPr/>
          <p:nvPr/>
        </p:nvSpPr>
        <p:spPr>
          <a:xfrm>
            <a:off x="1627631" y="3721608"/>
            <a:ext cx="2587752" cy="329184"/>
          </a:xfrm>
          <a:prstGeom prst="roundRect">
            <a:avLst>
              <a:gd name="adj" fmla="val 50000"/>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400" b="1" i="0">
                <a:solidFill>
                  <a:srgbClr val="FFFFFF"/>
                </a:solidFill>
                <a:latin typeface="Times New Roman"/>
              </a:rPr>
              <a:t>How to read it</a:t>
            </a:r>
          </a:p>
        </p:txBody>
      </p:sp>
      <p:sp>
        <p:nvSpPr>
          <p:cNvPr id="30" name="TextBox 29"/>
          <p:cNvSpPr txBox="1"/>
          <p:nvPr/>
        </p:nvSpPr>
        <p:spPr>
          <a:xfrm>
            <a:off x="1627631" y="4206240"/>
            <a:ext cx="2587752" cy="1143000"/>
          </a:xfrm>
          <a:prstGeom prst="rect">
            <a:avLst/>
          </a:prstGeom>
          <a:noFill/>
        </p:spPr>
        <p:txBody>
          <a:bodyPr wrap="square" lIns="0" tIns="0" rIns="0" bIns="0" anchor="t">
            <a:spAutoFit/>
          </a:bodyPr>
          <a:lstStyle/>
          <a:p>
            <a:pPr algn="l">
              <a:spcAft>
                <a:spcPts val="0"/>
              </a:spcAft>
            </a:pPr>
            <a:r>
              <a:rPr sz="1600" b="0" i="0">
                <a:solidFill>
                  <a:srgbClr val="1A1A1A"/>
                </a:solidFill>
                <a:latin typeface="Times New Roman"/>
              </a:rPr>
              <a:t>Lower MAE and RMSE are better. R² below 0 is worse than always guessing the average.</a:t>
            </a:r>
          </a:p>
        </p:txBody>
      </p:sp>
      <p:sp>
        <p:nvSpPr>
          <p:cNvPr id="31" name="Reading card"/>
          <p:cNvSpPr/>
          <p:nvPr/>
        </p:nvSpPr>
        <p:spPr>
          <a:xfrm>
            <a:off x="4471416" y="3611880"/>
            <a:ext cx="2852928" cy="178308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Pill"/>
          <p:cNvSpPr/>
          <p:nvPr/>
        </p:nvSpPr>
        <p:spPr>
          <a:xfrm>
            <a:off x="4599431" y="3721608"/>
            <a:ext cx="2587752" cy="32918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400" b="1" i="0">
                <a:solidFill>
                  <a:srgbClr val="FFFFFF"/>
                </a:solidFill>
                <a:latin typeface="Times New Roman"/>
              </a:rPr>
              <a:t>How it is reported</a:t>
            </a:r>
          </a:p>
        </p:txBody>
      </p:sp>
      <p:sp>
        <p:nvSpPr>
          <p:cNvPr id="33" name="TextBox 32"/>
          <p:cNvSpPr txBox="1"/>
          <p:nvPr/>
        </p:nvSpPr>
        <p:spPr>
          <a:xfrm>
            <a:off x="4599431" y="4206240"/>
            <a:ext cx="2587752" cy="1143000"/>
          </a:xfrm>
          <a:prstGeom prst="rect">
            <a:avLst/>
          </a:prstGeom>
          <a:noFill/>
        </p:spPr>
        <p:txBody>
          <a:bodyPr wrap="square" lIns="0" tIns="0" rIns="0" bIns="0" anchor="t">
            <a:spAutoFit/>
          </a:bodyPr>
          <a:lstStyle/>
          <a:p>
            <a:pPr algn="l">
              <a:spcAft>
                <a:spcPts val="0"/>
              </a:spcAft>
            </a:pPr>
            <a:r>
              <a:rPr sz="1600" b="0" i="0">
                <a:solidFill>
                  <a:srgbClr val="1A1A1A"/>
                </a:solidFill>
                <a:latin typeface="Times New Roman"/>
              </a:rPr>
              <a:t>A tuned run (seed 42) with a 95% bootstrap range, and a 10-run benchmark (seeds 42 to 51), mean ± SD.</a:t>
            </a:r>
          </a:p>
        </p:txBody>
      </p:sp>
      <p:sp>
        <p:nvSpPr>
          <p:cNvPr id="34" name="Reading card"/>
          <p:cNvSpPr/>
          <p:nvPr/>
        </p:nvSpPr>
        <p:spPr>
          <a:xfrm>
            <a:off x="7443216" y="3611880"/>
            <a:ext cx="2852928" cy="178308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Pill"/>
          <p:cNvSpPr/>
          <p:nvPr/>
        </p:nvSpPr>
        <p:spPr>
          <a:xfrm>
            <a:off x="7571232" y="3721608"/>
            <a:ext cx="2587752" cy="329184"/>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400" b="1" i="0">
                <a:solidFill>
                  <a:srgbClr val="FFFFFF"/>
                </a:solidFill>
                <a:latin typeface="Times New Roman"/>
              </a:rPr>
              <a:t>Relative MAE</a:t>
            </a:r>
          </a:p>
        </p:txBody>
      </p:sp>
      <p:sp>
        <p:nvSpPr>
          <p:cNvPr id="36" name="TextBox 35"/>
          <p:cNvSpPr txBox="1"/>
          <p:nvPr/>
        </p:nvSpPr>
        <p:spPr>
          <a:xfrm>
            <a:off x="7571232" y="4206240"/>
            <a:ext cx="2587752" cy="1143000"/>
          </a:xfrm>
          <a:prstGeom prst="rect">
            <a:avLst/>
          </a:prstGeom>
          <a:noFill/>
        </p:spPr>
        <p:txBody>
          <a:bodyPr wrap="square" lIns="0" tIns="0" rIns="0" bIns="0" anchor="t">
            <a:spAutoFit/>
          </a:bodyPr>
          <a:lstStyle/>
          <a:p>
            <a:pPr algn="l">
              <a:spcAft>
                <a:spcPts val="0"/>
              </a:spcAft>
            </a:pPr>
            <a:r>
              <a:rPr sz="1600" b="0" i="0">
                <a:solidFill>
                  <a:srgbClr val="1A1A1A"/>
                </a:solidFill>
                <a:latin typeface="Times New Roman"/>
              </a:rPr>
              <a:t>Model MAE ÷ persistence MAE. Below 1.0 means the model beats persistence.</a:t>
            </a:r>
          </a:p>
        </p:txBody>
      </p:sp>
    </p:spTree>
    <p:extLst>
      <p:ext uri="{BB962C8B-B14F-4D97-AF65-F5344CB8AC3E}">
        <p14:creationId xmlns:p14="http://schemas.microsoft.com/office/powerpoint/2010/main" val="22744871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1500000" y="1009113"/>
            <a:ext cx="8800000" cy="430887"/>
          </a:xfrm>
          <a:prstGeom prst="rect">
            <a:avLst/>
          </a:prstGeom>
          <a:noFill/>
        </p:spPr>
        <p:txBody>
          <a:bodyPr wrap="square" lIns="0" tIns="0" rIns="0" bIns="0" anchor="b">
            <a:spAutoFit/>
          </a:bodyPr>
          <a:lstStyle/>
          <a:p>
            <a:pPr algn="l">
              <a:spcAft>
                <a:spcPts val="0"/>
              </a:spcAft>
            </a:pPr>
            <a:r>
              <a:rPr lang="en-US" sz="2800" b="1" i="0" dirty="0">
                <a:solidFill>
                  <a:srgbClr val="1A1A1A"/>
                </a:solidFill>
                <a:latin typeface="Times New Roman" panose="02020603050405020304" pitchFamily="18" charset="0"/>
                <a:cs typeface="Times New Roman" panose="02020603050405020304" pitchFamily="18" charset="0"/>
              </a:rPr>
              <a:t>Procedure</a:t>
            </a:r>
            <a:endParaRPr sz="2800" b="1" i="0" dirty="0">
              <a:solidFill>
                <a:srgbClr val="1A1A1A"/>
              </a:solidFill>
              <a:latin typeface="Times New Roman" panose="02020603050405020304" pitchFamily="18" charset="0"/>
              <a:cs typeface="Times New Roman" panose="02020603050405020304" pitchFamily="18" charset="0"/>
            </a:endParaRPr>
          </a:p>
        </p:txBody>
      </p:sp>
      <p:sp>
        <p:nvSpPr>
          <p:cNvPr id="7" name="Slide Subtitle"/>
          <p:cNvSpPr txBox="1"/>
          <p:nvPr/>
        </p:nvSpPr>
        <p:spPr>
          <a:xfrm>
            <a:off x="1500000" y="1500000"/>
            <a:ext cx="8800000" cy="276999"/>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panose="02020603050405020304" pitchFamily="18" charset="0"/>
                <a:cs typeface="Times New Roman" panose="02020603050405020304" pitchFamily="18" charset="0"/>
              </a:rPr>
              <a:t>Quantitative, supervised time-series regression</a:t>
            </a:r>
          </a:p>
        </p:txBody>
      </p:sp>
      <p:sp>
        <p:nvSpPr>
          <p:cNvPr id="8" name="Rounded Rectangle 7"/>
          <p:cNvSpPr/>
          <p:nvPr/>
        </p:nvSpPr>
        <p:spPr>
          <a:xfrm>
            <a:off x="1500000" y="1950000"/>
            <a:ext cx="2050000" cy="19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Oval 8"/>
          <p:cNvSpPr/>
          <p:nvPr/>
        </p:nvSpPr>
        <p:spPr>
          <a:xfrm>
            <a:off x="1630000" y="2080000"/>
            <a:ext cx="460000" cy="460000"/>
          </a:xfrm>
          <a:prstGeom prst="ellipse">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Times New Roman" panose="02020603050405020304" pitchFamily="18" charset="0"/>
                <a:cs typeface="Times New Roman" panose="02020603050405020304" pitchFamily="18" charset="0"/>
              </a:rPr>
              <a:t>1</a:t>
            </a:r>
          </a:p>
        </p:txBody>
      </p:sp>
      <p:sp>
        <p:nvSpPr>
          <p:cNvPr id="10" name="TextBox 9"/>
          <p:cNvSpPr txBox="1"/>
          <p:nvPr/>
        </p:nvSpPr>
        <p:spPr>
          <a:xfrm>
            <a:off x="2200000" y="2140000"/>
            <a:ext cx="1270000" cy="276999"/>
          </a:xfrm>
          <a:prstGeom prst="rect">
            <a:avLst/>
          </a:prstGeom>
          <a:noFill/>
        </p:spPr>
        <p:txBody>
          <a:bodyPr wrap="square" lIns="0" tIns="0" rIns="0" bIns="0" anchor="t">
            <a:spAutoFit/>
          </a:bodyPr>
          <a:lstStyle/>
          <a:p>
            <a:pPr algn="l">
              <a:spcAft>
                <a:spcPts val="0"/>
              </a:spcAft>
            </a:pPr>
            <a:r>
              <a:rPr sz="1800" b="1" i="0">
                <a:solidFill>
                  <a:srgbClr val="1A1A1A"/>
                </a:solidFill>
                <a:latin typeface="Times New Roman" panose="02020603050405020304" pitchFamily="18" charset="0"/>
                <a:cs typeface="Times New Roman" panose="02020603050405020304" pitchFamily="18" charset="0"/>
              </a:rPr>
              <a:t>Merge</a:t>
            </a:r>
          </a:p>
        </p:txBody>
      </p:sp>
      <p:sp>
        <p:nvSpPr>
          <p:cNvPr id="11" name="TextBox 10"/>
          <p:cNvSpPr txBox="1"/>
          <p:nvPr/>
        </p:nvSpPr>
        <p:spPr>
          <a:xfrm>
            <a:off x="1630000" y="2680000"/>
            <a:ext cx="1790000" cy="738664"/>
          </a:xfrm>
          <a:prstGeom prst="rect">
            <a:avLst/>
          </a:prstGeom>
          <a:noFill/>
        </p:spPr>
        <p:txBody>
          <a:bodyPr wrap="square" lIns="0" tIns="0" rIns="0" bIns="0" anchor="t">
            <a:spAutoFit/>
          </a:bodyPr>
          <a:lstStyle/>
          <a:p>
            <a:pPr algn="l">
              <a:spcAft>
                <a:spcPts val="0"/>
              </a:spcAft>
            </a:pPr>
            <a:r>
              <a:rPr sz="1600" b="0" i="0" dirty="0">
                <a:solidFill>
                  <a:srgbClr val="4A4A4A"/>
                </a:solidFill>
                <a:latin typeface="Times New Roman" panose="02020603050405020304" pitchFamily="18" charset="0"/>
                <a:cs typeface="Times New Roman" panose="02020603050405020304" pitchFamily="18" charset="0"/>
              </a:rPr>
              <a:t>DOH cases + Project CCHAIN weather, by city and week</a:t>
            </a:r>
          </a:p>
        </p:txBody>
      </p:sp>
      <p:sp>
        <p:nvSpPr>
          <p:cNvPr id="12" name="Rounded Rectangle 11"/>
          <p:cNvSpPr/>
          <p:nvPr/>
        </p:nvSpPr>
        <p:spPr>
          <a:xfrm>
            <a:off x="3750000" y="1950000"/>
            <a:ext cx="2050000" cy="19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 name="Oval 12"/>
          <p:cNvSpPr/>
          <p:nvPr/>
        </p:nvSpPr>
        <p:spPr>
          <a:xfrm>
            <a:off x="3880000" y="20800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Times New Roman" panose="02020603050405020304" pitchFamily="18" charset="0"/>
                <a:cs typeface="Times New Roman" panose="02020603050405020304" pitchFamily="18" charset="0"/>
              </a:rPr>
              <a:t>2</a:t>
            </a:r>
          </a:p>
        </p:txBody>
      </p:sp>
      <p:sp>
        <p:nvSpPr>
          <p:cNvPr id="14" name="TextBox 13"/>
          <p:cNvSpPr txBox="1"/>
          <p:nvPr/>
        </p:nvSpPr>
        <p:spPr>
          <a:xfrm>
            <a:off x="4450000" y="2140000"/>
            <a:ext cx="1270000" cy="276999"/>
          </a:xfrm>
          <a:prstGeom prst="rect">
            <a:avLst/>
          </a:prstGeom>
          <a:noFill/>
        </p:spPr>
        <p:txBody>
          <a:bodyPr wrap="square" lIns="0" tIns="0" rIns="0" bIns="0" anchor="t">
            <a:spAutoFit/>
          </a:bodyPr>
          <a:lstStyle/>
          <a:p>
            <a:pPr algn="l">
              <a:spcAft>
                <a:spcPts val="0"/>
              </a:spcAft>
            </a:pPr>
            <a:r>
              <a:rPr sz="1800" b="1" i="0">
                <a:solidFill>
                  <a:srgbClr val="1A1A1A"/>
                </a:solidFill>
                <a:latin typeface="Times New Roman" panose="02020603050405020304" pitchFamily="18" charset="0"/>
                <a:cs typeface="Times New Roman" panose="02020603050405020304" pitchFamily="18" charset="0"/>
              </a:rPr>
              <a:t>Engineer</a:t>
            </a:r>
          </a:p>
        </p:txBody>
      </p:sp>
      <p:sp>
        <p:nvSpPr>
          <p:cNvPr id="15" name="TextBox 14"/>
          <p:cNvSpPr txBox="1"/>
          <p:nvPr/>
        </p:nvSpPr>
        <p:spPr>
          <a:xfrm>
            <a:off x="3880000" y="2680000"/>
            <a:ext cx="1790000" cy="738664"/>
          </a:xfrm>
          <a:prstGeom prst="rect">
            <a:avLst/>
          </a:prstGeom>
          <a:noFill/>
        </p:spPr>
        <p:txBody>
          <a:bodyPr wrap="square" lIns="0" tIns="0" rIns="0" bIns="0" anchor="t">
            <a:spAutoFit/>
          </a:bodyPr>
          <a:lstStyle/>
          <a:p>
            <a:pPr algn="l">
              <a:spcAft>
                <a:spcPts val="0"/>
              </a:spcAft>
            </a:pPr>
            <a:r>
              <a:rPr sz="1600" b="0" i="0">
                <a:solidFill>
                  <a:srgbClr val="4A4A4A"/>
                </a:solidFill>
                <a:latin typeface="Times New Roman" panose="02020603050405020304" pitchFamily="18" charset="0"/>
                <a:cs typeface="Times New Roman" panose="02020603050405020304" pitchFamily="18" charset="0"/>
              </a:rPr>
              <a:t>28 lagged, rolling, bioclimatic and seasonal features</a:t>
            </a:r>
          </a:p>
        </p:txBody>
      </p:sp>
      <p:sp>
        <p:nvSpPr>
          <p:cNvPr id="16" name="Rounded Rectangle 15"/>
          <p:cNvSpPr/>
          <p:nvPr/>
        </p:nvSpPr>
        <p:spPr>
          <a:xfrm>
            <a:off x="6000000" y="1950000"/>
            <a:ext cx="2050000" cy="19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Oval 16"/>
          <p:cNvSpPr/>
          <p:nvPr/>
        </p:nvSpPr>
        <p:spPr>
          <a:xfrm>
            <a:off x="6130000" y="2080000"/>
            <a:ext cx="460000" cy="460000"/>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1A1A1A"/>
                </a:solidFill>
                <a:latin typeface="Times New Roman" panose="02020603050405020304" pitchFamily="18" charset="0"/>
                <a:cs typeface="Times New Roman" panose="02020603050405020304" pitchFamily="18" charset="0"/>
              </a:rPr>
              <a:t>3</a:t>
            </a:r>
          </a:p>
        </p:txBody>
      </p:sp>
      <p:sp>
        <p:nvSpPr>
          <p:cNvPr id="18" name="TextBox 17"/>
          <p:cNvSpPr txBox="1"/>
          <p:nvPr/>
        </p:nvSpPr>
        <p:spPr>
          <a:xfrm>
            <a:off x="6700000" y="2140000"/>
            <a:ext cx="1270000" cy="276999"/>
          </a:xfrm>
          <a:prstGeom prst="rect">
            <a:avLst/>
          </a:prstGeom>
          <a:noFill/>
        </p:spPr>
        <p:txBody>
          <a:bodyPr wrap="square" lIns="0" tIns="0" rIns="0" bIns="0" anchor="t">
            <a:spAutoFit/>
          </a:bodyPr>
          <a:lstStyle/>
          <a:p>
            <a:pPr algn="l">
              <a:spcAft>
                <a:spcPts val="0"/>
              </a:spcAft>
            </a:pPr>
            <a:r>
              <a:rPr sz="1800" b="1" i="0">
                <a:solidFill>
                  <a:srgbClr val="1A1A1A"/>
                </a:solidFill>
                <a:latin typeface="Times New Roman" panose="02020603050405020304" pitchFamily="18" charset="0"/>
                <a:cs typeface="Times New Roman" panose="02020603050405020304" pitchFamily="18" charset="0"/>
              </a:rPr>
              <a:t>Train</a:t>
            </a:r>
          </a:p>
        </p:txBody>
      </p:sp>
      <p:sp>
        <p:nvSpPr>
          <p:cNvPr id="19" name="TextBox 18"/>
          <p:cNvSpPr txBox="1"/>
          <p:nvPr/>
        </p:nvSpPr>
        <p:spPr>
          <a:xfrm>
            <a:off x="6130000" y="2680000"/>
            <a:ext cx="1790000" cy="492443"/>
          </a:xfrm>
          <a:prstGeom prst="rect">
            <a:avLst/>
          </a:prstGeom>
          <a:noFill/>
        </p:spPr>
        <p:txBody>
          <a:bodyPr wrap="square" lIns="0" tIns="0" rIns="0" bIns="0" anchor="t">
            <a:spAutoFit/>
          </a:bodyPr>
          <a:lstStyle/>
          <a:p>
            <a:pPr algn="l">
              <a:spcAft>
                <a:spcPts val="0"/>
              </a:spcAft>
            </a:pPr>
            <a:r>
              <a:rPr sz="1600" b="0" i="0">
                <a:solidFill>
                  <a:srgbClr val="4A4A4A"/>
                </a:solidFill>
                <a:latin typeface="Times New Roman" panose="02020603050405020304" pitchFamily="18" charset="0"/>
                <a:cs typeface="Times New Roman" panose="02020603050405020304" pitchFamily="18" charset="0"/>
              </a:rPr>
              <a:t>Three models on 2016 to 2019 data</a:t>
            </a:r>
          </a:p>
        </p:txBody>
      </p:sp>
      <p:sp>
        <p:nvSpPr>
          <p:cNvPr id="20" name="Rounded Rectangle 19"/>
          <p:cNvSpPr/>
          <p:nvPr/>
        </p:nvSpPr>
        <p:spPr>
          <a:xfrm>
            <a:off x="8250000" y="1950000"/>
            <a:ext cx="2050000" cy="19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Oval 20"/>
          <p:cNvSpPr/>
          <p:nvPr/>
        </p:nvSpPr>
        <p:spPr>
          <a:xfrm>
            <a:off x="8380000" y="2080000"/>
            <a:ext cx="460000" cy="46000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Times New Roman" panose="02020603050405020304" pitchFamily="18" charset="0"/>
                <a:cs typeface="Times New Roman" panose="02020603050405020304" pitchFamily="18" charset="0"/>
              </a:rPr>
              <a:t>4</a:t>
            </a:r>
          </a:p>
        </p:txBody>
      </p:sp>
      <p:sp>
        <p:nvSpPr>
          <p:cNvPr id="22" name="TextBox 21"/>
          <p:cNvSpPr txBox="1"/>
          <p:nvPr/>
        </p:nvSpPr>
        <p:spPr>
          <a:xfrm>
            <a:off x="8950000" y="2140000"/>
            <a:ext cx="1270000" cy="276999"/>
          </a:xfrm>
          <a:prstGeom prst="rect">
            <a:avLst/>
          </a:prstGeom>
          <a:noFill/>
        </p:spPr>
        <p:txBody>
          <a:bodyPr wrap="square" lIns="0" tIns="0" rIns="0" bIns="0" anchor="t">
            <a:spAutoFit/>
          </a:bodyPr>
          <a:lstStyle/>
          <a:p>
            <a:pPr algn="l">
              <a:spcAft>
                <a:spcPts val="0"/>
              </a:spcAft>
            </a:pPr>
            <a:r>
              <a:rPr sz="1800" b="1" i="0">
                <a:solidFill>
                  <a:srgbClr val="1A1A1A"/>
                </a:solidFill>
                <a:latin typeface="Times New Roman" panose="02020603050405020304" pitchFamily="18" charset="0"/>
                <a:cs typeface="Times New Roman" panose="02020603050405020304" pitchFamily="18" charset="0"/>
              </a:rPr>
              <a:t>Evaluate</a:t>
            </a:r>
          </a:p>
        </p:txBody>
      </p:sp>
      <p:sp>
        <p:nvSpPr>
          <p:cNvPr id="23" name="TextBox 22"/>
          <p:cNvSpPr txBox="1"/>
          <p:nvPr/>
        </p:nvSpPr>
        <p:spPr>
          <a:xfrm>
            <a:off x="8380000" y="2680000"/>
            <a:ext cx="1790000" cy="492443"/>
          </a:xfrm>
          <a:prstGeom prst="rect">
            <a:avLst/>
          </a:prstGeom>
          <a:noFill/>
        </p:spPr>
        <p:txBody>
          <a:bodyPr wrap="square" lIns="0" tIns="0" rIns="0" bIns="0" anchor="t">
            <a:spAutoFit/>
          </a:bodyPr>
          <a:lstStyle/>
          <a:p>
            <a:pPr algn="l">
              <a:spcAft>
                <a:spcPts val="0"/>
              </a:spcAft>
            </a:pPr>
            <a:r>
              <a:rPr sz="1600" b="0" i="0">
                <a:solidFill>
                  <a:srgbClr val="4A4A4A"/>
                </a:solidFill>
                <a:latin typeface="Times New Roman" panose="02020603050405020304" pitchFamily="18" charset="0"/>
                <a:cs typeface="Times New Roman" panose="02020603050405020304" pitchFamily="18" charset="0"/>
              </a:rPr>
              <a:t>Held-out 2020 test year</a:t>
            </a:r>
          </a:p>
        </p:txBody>
      </p:sp>
      <p:sp>
        <p:nvSpPr>
          <p:cNvPr id="24" name="TextBox 23"/>
          <p:cNvSpPr txBox="1"/>
          <p:nvPr/>
        </p:nvSpPr>
        <p:spPr>
          <a:xfrm>
            <a:off x="1500000" y="4200000"/>
            <a:ext cx="8800000" cy="887422"/>
          </a:xfrm>
          <a:prstGeom prst="rect">
            <a:avLst/>
          </a:prstGeom>
          <a:noFill/>
        </p:spPr>
        <p:txBody>
          <a:bodyPr wrap="square" lIns="0" tIns="0" rIns="0" bIns="0" anchor="t">
            <a:spAutoFit/>
          </a:bodyPr>
          <a:lstStyle/>
          <a:p>
            <a:pPr algn="l">
              <a:spcAft>
                <a:spcPts val="800"/>
              </a:spcAft>
            </a:pPr>
            <a:r>
              <a:rPr sz="1700" b="1" i="0" dirty="0">
                <a:solidFill>
                  <a:srgbClr val="1A1A1A"/>
                </a:solidFill>
                <a:latin typeface="Times New Roman" panose="02020603050405020304" pitchFamily="18" charset="0"/>
                <a:cs typeface="Times New Roman" panose="02020603050405020304" pitchFamily="18" charset="0"/>
              </a:rPr>
              <a:t>Target: </a:t>
            </a:r>
            <a:r>
              <a:rPr sz="1700" b="0" i="0" dirty="0">
                <a:solidFill>
                  <a:srgbClr val="1A1A1A"/>
                </a:solidFill>
                <a:latin typeface="Times New Roman" panose="02020603050405020304" pitchFamily="18" charset="0"/>
                <a:cs typeface="Times New Roman" panose="02020603050405020304" pitchFamily="18" charset="0"/>
              </a:rPr>
              <a:t>weekly dengue cases per city, two weeks ahead (t+2).</a:t>
            </a:r>
          </a:p>
          <a:p>
            <a:pPr algn="l">
              <a:spcAft>
                <a:spcPts val="800"/>
              </a:spcAft>
            </a:pPr>
            <a:r>
              <a:rPr sz="1700" b="1" i="0" dirty="0">
                <a:solidFill>
                  <a:srgbClr val="1A1A1A"/>
                </a:solidFill>
                <a:latin typeface="Times New Roman" panose="02020603050405020304" pitchFamily="18" charset="0"/>
                <a:cs typeface="Times New Roman" panose="02020603050405020304" pitchFamily="18" charset="0"/>
              </a:rPr>
              <a:t>Design: </a:t>
            </a:r>
            <a:r>
              <a:rPr sz="1700" b="0" i="0" dirty="0">
                <a:solidFill>
                  <a:srgbClr val="1A1A1A"/>
                </a:solidFill>
                <a:latin typeface="Times New Roman" panose="02020603050405020304" pitchFamily="18" charset="0"/>
                <a:cs typeface="Times New Roman" panose="02020603050405020304" pitchFamily="18" charset="0"/>
              </a:rPr>
              <a:t>the metric, split and statistical tests are fixed before the data are seen; results are reported in whichever direction they fall.</a:t>
            </a:r>
          </a:p>
        </p:txBody>
      </p:sp>
    </p:spTree>
    <p:extLst>
      <p:ext uri="{BB962C8B-B14F-4D97-AF65-F5344CB8AC3E}">
        <p14:creationId xmlns:p14="http://schemas.microsoft.com/office/powerpoint/2010/main" val="137042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1500000" y="1009113"/>
            <a:ext cx="8800000" cy="430887"/>
          </a:xfrm>
          <a:prstGeom prst="rect">
            <a:avLst/>
          </a:prstGeom>
          <a:noFill/>
        </p:spPr>
        <p:txBody>
          <a:bodyPr wrap="square" lIns="0" tIns="0" rIns="0" bIns="0" anchor="b">
            <a:spAutoFit/>
          </a:bodyPr>
          <a:lstStyle/>
          <a:p>
            <a:pPr algn="l">
              <a:spcAft>
                <a:spcPts val="0"/>
              </a:spcAft>
            </a:pPr>
            <a:r>
              <a:rPr sz="2800" b="1" i="0" dirty="0">
                <a:solidFill>
                  <a:srgbClr val="1A1A1A"/>
                </a:solidFill>
                <a:latin typeface="Times New Roman" panose="02020603050405020304" pitchFamily="18" charset="0"/>
                <a:cs typeface="Times New Roman" panose="02020603050405020304" pitchFamily="18" charset="0"/>
              </a:rPr>
              <a:t>Operationalization of the Variables</a:t>
            </a:r>
          </a:p>
        </p:txBody>
      </p:sp>
      <p:sp>
        <p:nvSpPr>
          <p:cNvPr id="7" name="Slide Subtitle"/>
          <p:cNvSpPr txBox="1"/>
          <p:nvPr/>
        </p:nvSpPr>
        <p:spPr>
          <a:xfrm>
            <a:off x="1500000" y="1500000"/>
            <a:ext cx="8800000" cy="276999"/>
          </a:xfrm>
          <a:prstGeom prst="rect">
            <a:avLst/>
          </a:prstGeom>
          <a:noFill/>
        </p:spPr>
        <p:txBody>
          <a:bodyPr wrap="square" lIns="0" tIns="0" rIns="0" bIns="0" anchor="t">
            <a:spAutoFit/>
          </a:bodyPr>
          <a:lstStyle/>
          <a:p>
            <a:pPr algn="l">
              <a:spcAft>
                <a:spcPts val="0"/>
              </a:spcAft>
            </a:pPr>
            <a:r>
              <a:rPr sz="1800" b="1" i="0" dirty="0">
                <a:solidFill>
                  <a:srgbClr val="2F5597"/>
                </a:solidFill>
                <a:latin typeface="Times New Roman" panose="02020603050405020304" pitchFamily="18" charset="0"/>
                <a:cs typeface="Times New Roman" panose="02020603050405020304" pitchFamily="18" charset="0"/>
              </a:rPr>
              <a:t>One target and 28 predictors in five categories</a:t>
            </a:r>
          </a:p>
        </p:txBody>
      </p:sp>
      <p:graphicFrame>
        <p:nvGraphicFramePr>
          <p:cNvPr id="8" name="Variables table"/>
          <p:cNvGraphicFramePr>
            <a:graphicFrameLocks noGrp="1"/>
          </p:cNvGraphicFramePr>
          <p:nvPr>
            <p:extLst>
              <p:ext uri="{D42A27DB-BD31-4B8C-83A1-F6EECF244321}">
                <p14:modId xmlns:p14="http://schemas.microsoft.com/office/powerpoint/2010/main" val="2924839889"/>
              </p:ext>
            </p:extLst>
          </p:nvPr>
        </p:nvGraphicFramePr>
        <p:xfrm>
          <a:off x="1500000" y="1950000"/>
          <a:ext cx="8800000" cy="3760000"/>
        </p:xfrm>
        <a:graphic>
          <a:graphicData uri="http://schemas.openxmlformats.org/drawingml/2006/table">
            <a:tbl>
              <a:tblPr firstRow="1"/>
              <a:tblGrid>
                <a:gridCol w="2300000">
                  <a:extLst>
                    <a:ext uri="{9D8B030D-6E8A-4147-A177-3AD203B41FA5}">
                      <a16:colId xmlns:a16="http://schemas.microsoft.com/office/drawing/2014/main" val="20000"/>
                    </a:ext>
                  </a:extLst>
                </a:gridCol>
                <a:gridCol w="5700000">
                  <a:extLst>
                    <a:ext uri="{9D8B030D-6E8A-4147-A177-3AD203B41FA5}">
                      <a16:colId xmlns:a16="http://schemas.microsoft.com/office/drawing/2014/main" val="20001"/>
                    </a:ext>
                  </a:extLst>
                </a:gridCol>
                <a:gridCol w="800000">
                  <a:extLst>
                    <a:ext uri="{9D8B030D-6E8A-4147-A177-3AD203B41FA5}">
                      <a16:colId xmlns:a16="http://schemas.microsoft.com/office/drawing/2014/main" val="20002"/>
                    </a:ext>
                  </a:extLst>
                </a:gridCol>
              </a:tblGrid>
              <a:tr h="470000">
                <a:tc>
                  <a:txBody>
                    <a:bodyPr/>
                    <a:lstStyle/>
                    <a:p>
                      <a:r>
                        <a:rPr lang="en-SG" sz="1400" b="1" dirty="0">
                          <a:solidFill>
                            <a:srgbClr val="FFFFFF"/>
                          </a:solidFill>
                          <a:latin typeface="Arial"/>
                        </a:rPr>
                        <a:t>Category</a:t>
                      </a:r>
                      <a:endParaRPr sz="1400" b="1" dirty="0">
                        <a:solidFill>
                          <a:srgbClr val="FFFFFF"/>
                        </a:solidFill>
                        <a:latin typeface="Arial"/>
                      </a:endParaRPr>
                    </a:p>
                  </a:txBody>
                  <a:tcPr marL="80000" marR="80000" marT="30000" marB="30000" anchor="ctr">
                    <a:solidFill>
                      <a:srgbClr val="2F5597"/>
                    </a:solidFill>
                  </a:tcPr>
                </a:tc>
                <a:tc>
                  <a:txBody>
                    <a:bodyPr/>
                    <a:lstStyle/>
                    <a:p>
                      <a:r>
                        <a:rPr sz="1400" b="1">
                          <a:solidFill>
                            <a:srgbClr val="FFFFFF"/>
                          </a:solidFill>
                          <a:latin typeface="Arial"/>
                        </a:rPr>
                        <a:t>Variables</a:t>
                      </a:r>
                    </a:p>
                  </a:txBody>
                  <a:tcPr marL="80000" marR="80000" marT="30000" marB="30000" anchor="ctr">
                    <a:solidFill>
                      <a:srgbClr val="2F5597"/>
                    </a:solidFill>
                  </a:tcPr>
                </a:tc>
                <a:tc>
                  <a:txBody>
                    <a:bodyPr/>
                    <a:lstStyle/>
                    <a:p>
                      <a:pPr algn="ctr"/>
                      <a:r>
                        <a:rPr sz="1400" b="1">
                          <a:solidFill>
                            <a:srgbClr val="FFFFFF"/>
                          </a:solidFill>
                          <a:latin typeface="Arial"/>
                        </a:rPr>
                        <a:t>Count</a:t>
                      </a:r>
                    </a:p>
                  </a:txBody>
                  <a:tcPr marL="80000" marR="80000" marT="30000" marB="30000" anchor="ctr">
                    <a:solidFill>
                      <a:srgbClr val="2F5597"/>
                    </a:solidFill>
                  </a:tcPr>
                </a:tc>
                <a:extLst>
                  <a:ext uri="{0D108BD9-81ED-4DB2-BD59-A6C34878D82A}">
                    <a16:rowId xmlns:a16="http://schemas.microsoft.com/office/drawing/2014/main" val="10000"/>
                  </a:ext>
                </a:extLst>
              </a:tr>
              <a:tr h="470000">
                <a:tc>
                  <a:txBody>
                    <a:bodyPr/>
                    <a:lstStyle/>
                    <a:p>
                      <a:r>
                        <a:rPr sz="1400" b="1" dirty="0">
                          <a:solidFill>
                            <a:srgbClr val="1A1A1A"/>
                          </a:solidFill>
                          <a:latin typeface="Times New Roman" panose="02020603050405020304" pitchFamily="18" charset="0"/>
                          <a:cs typeface="Times New Roman" panose="02020603050405020304" pitchFamily="18" charset="0"/>
                        </a:rPr>
                        <a:t>Target (y)</a:t>
                      </a:r>
                    </a:p>
                  </a:txBody>
                  <a:tcPr marL="80000" marR="80000" marT="30000" marB="30000" anchor="ctr">
                    <a:solidFill>
                      <a:srgbClr val="FFFFFF"/>
                    </a:solidFill>
                  </a:tcPr>
                </a:tc>
                <a:tc>
                  <a:txBody>
                    <a:bodyPr/>
                    <a:lstStyle/>
                    <a:p>
                      <a:r>
                        <a:rPr sz="1400" b="0">
                          <a:solidFill>
                            <a:srgbClr val="1A1A1A"/>
                          </a:solidFill>
                          <a:latin typeface="Times New Roman" panose="02020603050405020304" pitchFamily="18" charset="0"/>
                          <a:cs typeface="Times New Roman" panose="02020603050405020304" pitchFamily="18" charset="0"/>
                        </a:rPr>
                        <a:t>target_cases_t2: reported cases two weeks ahead</a:t>
                      </a:r>
                    </a:p>
                  </a:txBody>
                  <a:tcPr marL="80000" marR="80000" marT="30000" marB="30000" anchor="ctr">
                    <a:solidFill>
                      <a:srgbClr val="FFFFFF"/>
                    </a:solidFill>
                  </a:tcPr>
                </a:tc>
                <a:tc>
                  <a:txBody>
                    <a:bodyPr/>
                    <a:lstStyle/>
                    <a:p>
                      <a:pPr algn="ctr"/>
                      <a:r>
                        <a:rPr sz="1400" b="0">
                          <a:solidFill>
                            <a:srgbClr val="1A1A1A"/>
                          </a:solidFill>
                          <a:latin typeface="Times New Roman" panose="02020603050405020304" pitchFamily="18" charset="0"/>
                          <a:cs typeface="Times New Roman" panose="02020603050405020304" pitchFamily="18" charset="0"/>
                        </a:rPr>
                        <a:t>1</a:t>
                      </a:r>
                    </a:p>
                  </a:txBody>
                  <a:tcPr marL="80000" marR="80000" marT="30000" marB="30000" anchor="ctr">
                    <a:solidFill>
                      <a:srgbClr val="FFFFFF"/>
                    </a:solidFill>
                  </a:tcPr>
                </a:tc>
                <a:extLst>
                  <a:ext uri="{0D108BD9-81ED-4DB2-BD59-A6C34878D82A}">
                    <a16:rowId xmlns:a16="http://schemas.microsoft.com/office/drawing/2014/main" val="10001"/>
                  </a:ext>
                </a:extLst>
              </a:tr>
              <a:tr h="470000">
                <a:tc>
                  <a:txBody>
                    <a:bodyPr/>
                    <a:lstStyle/>
                    <a:p>
                      <a:r>
                        <a:rPr sz="1400" b="1">
                          <a:solidFill>
                            <a:srgbClr val="1A1A1A"/>
                          </a:solidFill>
                          <a:latin typeface="Times New Roman" panose="02020603050405020304" pitchFamily="18" charset="0"/>
                          <a:cs typeface="Times New Roman" panose="02020603050405020304" pitchFamily="18" charset="0"/>
                        </a:rPr>
                        <a:t>A. Meteorological lags</a:t>
                      </a:r>
                    </a:p>
                  </a:txBody>
                  <a:tcPr marL="80000" marR="80000" marT="30000" marB="30000" anchor="ctr">
                    <a:solidFill>
                      <a:srgbClr val="F8F1E0"/>
                    </a:solidFill>
                  </a:tcPr>
                </a:tc>
                <a:tc>
                  <a:txBody>
                    <a:bodyPr/>
                    <a:lstStyle/>
                    <a:p>
                      <a:r>
                        <a:rPr sz="1400" b="0">
                          <a:solidFill>
                            <a:srgbClr val="1A1A1A"/>
                          </a:solidFill>
                          <a:latin typeface="Times New Roman" panose="02020603050405020304" pitchFamily="18" charset="0"/>
                          <a:cs typeface="Times New Roman" panose="02020603050405020304" pitchFamily="18" charset="0"/>
                        </a:rPr>
                        <a:t>rainfall, temperature, humidity, each lagged 1 to 4 weeks</a:t>
                      </a:r>
                    </a:p>
                  </a:txBody>
                  <a:tcPr marL="80000" marR="80000" marT="30000" marB="30000" anchor="ctr">
                    <a:solidFill>
                      <a:srgbClr val="F8F1E0"/>
                    </a:solidFill>
                  </a:tcPr>
                </a:tc>
                <a:tc>
                  <a:txBody>
                    <a:bodyPr/>
                    <a:lstStyle/>
                    <a:p>
                      <a:pPr algn="ctr"/>
                      <a:r>
                        <a:rPr sz="1400" b="0">
                          <a:solidFill>
                            <a:srgbClr val="1A1A1A"/>
                          </a:solidFill>
                          <a:latin typeface="Times New Roman" panose="02020603050405020304" pitchFamily="18" charset="0"/>
                          <a:cs typeface="Times New Roman" panose="02020603050405020304" pitchFamily="18" charset="0"/>
                        </a:rPr>
                        <a:t>12</a:t>
                      </a:r>
                    </a:p>
                  </a:txBody>
                  <a:tcPr marL="80000" marR="80000" marT="30000" marB="30000" anchor="ctr">
                    <a:solidFill>
                      <a:srgbClr val="F8F1E0"/>
                    </a:solidFill>
                  </a:tcPr>
                </a:tc>
                <a:extLst>
                  <a:ext uri="{0D108BD9-81ED-4DB2-BD59-A6C34878D82A}">
                    <a16:rowId xmlns:a16="http://schemas.microsoft.com/office/drawing/2014/main" val="10002"/>
                  </a:ext>
                </a:extLst>
              </a:tr>
              <a:tr h="470000">
                <a:tc>
                  <a:txBody>
                    <a:bodyPr/>
                    <a:lstStyle/>
                    <a:p>
                      <a:r>
                        <a:rPr sz="1400" b="1">
                          <a:solidFill>
                            <a:srgbClr val="1A1A1A"/>
                          </a:solidFill>
                          <a:latin typeface="Times New Roman" panose="02020603050405020304" pitchFamily="18" charset="0"/>
                          <a:cs typeface="Times New Roman" panose="02020603050405020304" pitchFamily="18" charset="0"/>
                        </a:rPr>
                        <a:t>B. Rolling aggregates</a:t>
                      </a:r>
                    </a:p>
                  </a:txBody>
                  <a:tcPr marL="80000" marR="80000" marT="30000" marB="30000" anchor="ctr">
                    <a:solidFill>
                      <a:srgbClr val="FFFFFF"/>
                    </a:solidFill>
                  </a:tcPr>
                </a:tc>
                <a:tc>
                  <a:txBody>
                    <a:bodyPr/>
                    <a:lstStyle/>
                    <a:p>
                      <a:r>
                        <a:rPr sz="1400" b="0" dirty="0">
                          <a:solidFill>
                            <a:srgbClr val="1A1A1A"/>
                          </a:solidFill>
                          <a:latin typeface="Times New Roman" panose="02020603050405020304" pitchFamily="18" charset="0"/>
                          <a:cs typeface="Times New Roman" panose="02020603050405020304" pitchFamily="18" charset="0"/>
                        </a:rPr>
                        <a:t>rainfall_rollsum4, temperature_rollmean4, humidity_rollmean4</a:t>
                      </a:r>
                    </a:p>
                  </a:txBody>
                  <a:tcPr marL="80000" marR="80000" marT="30000" marB="30000" anchor="ctr">
                    <a:solidFill>
                      <a:srgbClr val="FFFFFF"/>
                    </a:solidFill>
                  </a:tcPr>
                </a:tc>
                <a:tc>
                  <a:txBody>
                    <a:bodyPr/>
                    <a:lstStyle/>
                    <a:p>
                      <a:pPr algn="ctr"/>
                      <a:r>
                        <a:rPr sz="1400" b="0">
                          <a:solidFill>
                            <a:srgbClr val="1A1A1A"/>
                          </a:solidFill>
                          <a:latin typeface="Times New Roman" panose="02020603050405020304" pitchFamily="18" charset="0"/>
                          <a:cs typeface="Times New Roman" panose="02020603050405020304" pitchFamily="18" charset="0"/>
                        </a:rPr>
                        <a:t>3</a:t>
                      </a:r>
                    </a:p>
                  </a:txBody>
                  <a:tcPr marL="80000" marR="80000" marT="30000" marB="30000" anchor="ctr">
                    <a:solidFill>
                      <a:srgbClr val="FFFFFF"/>
                    </a:solidFill>
                  </a:tcPr>
                </a:tc>
                <a:extLst>
                  <a:ext uri="{0D108BD9-81ED-4DB2-BD59-A6C34878D82A}">
                    <a16:rowId xmlns:a16="http://schemas.microsoft.com/office/drawing/2014/main" val="10003"/>
                  </a:ext>
                </a:extLst>
              </a:tr>
              <a:tr h="470000">
                <a:tc>
                  <a:txBody>
                    <a:bodyPr/>
                    <a:lstStyle/>
                    <a:p>
                      <a:r>
                        <a:rPr sz="1400" b="1">
                          <a:solidFill>
                            <a:srgbClr val="1A1A1A"/>
                          </a:solidFill>
                          <a:latin typeface="Times New Roman" panose="02020603050405020304" pitchFamily="18" charset="0"/>
                          <a:cs typeface="Times New Roman" panose="02020603050405020304" pitchFamily="18" charset="0"/>
                        </a:rPr>
                        <a:t>C. Case momentum</a:t>
                      </a:r>
                    </a:p>
                  </a:txBody>
                  <a:tcPr marL="80000" marR="80000" marT="30000" marB="30000" anchor="ctr">
                    <a:solidFill>
                      <a:srgbClr val="F8F1E0"/>
                    </a:solidFill>
                  </a:tcPr>
                </a:tc>
                <a:tc>
                  <a:txBody>
                    <a:bodyPr/>
                    <a:lstStyle/>
                    <a:p>
                      <a:r>
                        <a:rPr sz="1400" b="0">
                          <a:solidFill>
                            <a:srgbClr val="1A1A1A"/>
                          </a:solidFill>
                          <a:latin typeface="Times New Roman" panose="02020603050405020304" pitchFamily="18" charset="0"/>
                          <a:cs typeface="Times New Roman" panose="02020603050405020304" pitchFamily="18" charset="0"/>
                        </a:rPr>
                        <a:t>cases_lag1, cases_lag2, cases_lag4, cases_rollmean4</a:t>
                      </a:r>
                    </a:p>
                  </a:txBody>
                  <a:tcPr marL="80000" marR="80000" marT="30000" marB="30000" anchor="ctr">
                    <a:solidFill>
                      <a:srgbClr val="F8F1E0"/>
                    </a:solidFill>
                  </a:tcPr>
                </a:tc>
                <a:tc>
                  <a:txBody>
                    <a:bodyPr/>
                    <a:lstStyle/>
                    <a:p>
                      <a:pPr algn="ctr"/>
                      <a:r>
                        <a:rPr sz="1400" b="0">
                          <a:solidFill>
                            <a:srgbClr val="1A1A1A"/>
                          </a:solidFill>
                          <a:latin typeface="Times New Roman" panose="02020603050405020304" pitchFamily="18" charset="0"/>
                          <a:cs typeface="Times New Roman" panose="02020603050405020304" pitchFamily="18" charset="0"/>
                        </a:rPr>
                        <a:t>4</a:t>
                      </a:r>
                    </a:p>
                  </a:txBody>
                  <a:tcPr marL="80000" marR="80000" marT="30000" marB="30000" anchor="ctr">
                    <a:solidFill>
                      <a:srgbClr val="F8F1E0"/>
                    </a:solidFill>
                  </a:tcPr>
                </a:tc>
                <a:extLst>
                  <a:ext uri="{0D108BD9-81ED-4DB2-BD59-A6C34878D82A}">
                    <a16:rowId xmlns:a16="http://schemas.microsoft.com/office/drawing/2014/main" val="10004"/>
                  </a:ext>
                </a:extLst>
              </a:tr>
              <a:tr h="470000">
                <a:tc>
                  <a:txBody>
                    <a:bodyPr/>
                    <a:lstStyle/>
                    <a:p>
                      <a:r>
                        <a:rPr sz="1400" b="1">
                          <a:solidFill>
                            <a:srgbClr val="1A1A1A"/>
                          </a:solidFill>
                          <a:latin typeface="Times New Roman" panose="02020603050405020304" pitchFamily="18" charset="0"/>
                          <a:cs typeface="Times New Roman" panose="02020603050405020304" pitchFamily="18" charset="0"/>
                        </a:rPr>
                        <a:t>D. Bioclimatic</a:t>
                      </a:r>
                    </a:p>
                  </a:txBody>
                  <a:tcPr marL="80000" marR="80000" marT="30000" marB="30000" anchor="ctr">
                    <a:solidFill>
                      <a:srgbClr val="FFFFFF"/>
                    </a:solidFill>
                  </a:tcPr>
                </a:tc>
                <a:tc>
                  <a:txBody>
                    <a:bodyPr/>
                    <a:lstStyle/>
                    <a:p>
                      <a:r>
                        <a:rPr sz="1400" b="0">
                          <a:solidFill>
                            <a:srgbClr val="1A1A1A"/>
                          </a:solidFill>
                          <a:latin typeface="Times New Roman" panose="02020603050405020304" pitchFamily="18" charset="0"/>
                          <a:cs typeface="Times New Roman" panose="02020603050405020304" pitchFamily="18" charset="0"/>
                        </a:rPr>
                        <a:t>heat_index, tmin, tmax, diurnal_temp_range, spi3, pnp, ndvi</a:t>
                      </a:r>
                    </a:p>
                  </a:txBody>
                  <a:tcPr marL="80000" marR="80000" marT="30000" marB="30000" anchor="ctr">
                    <a:solidFill>
                      <a:srgbClr val="FFFFFF"/>
                    </a:solidFill>
                  </a:tcPr>
                </a:tc>
                <a:tc>
                  <a:txBody>
                    <a:bodyPr/>
                    <a:lstStyle/>
                    <a:p>
                      <a:pPr algn="ctr"/>
                      <a:r>
                        <a:rPr sz="1400" b="0">
                          <a:solidFill>
                            <a:srgbClr val="1A1A1A"/>
                          </a:solidFill>
                          <a:latin typeface="Times New Roman" panose="02020603050405020304" pitchFamily="18" charset="0"/>
                          <a:cs typeface="Times New Roman" panose="02020603050405020304" pitchFamily="18" charset="0"/>
                        </a:rPr>
                        <a:t>7</a:t>
                      </a:r>
                    </a:p>
                  </a:txBody>
                  <a:tcPr marL="80000" marR="80000" marT="30000" marB="30000" anchor="ctr">
                    <a:solidFill>
                      <a:srgbClr val="FFFFFF"/>
                    </a:solidFill>
                  </a:tcPr>
                </a:tc>
                <a:extLst>
                  <a:ext uri="{0D108BD9-81ED-4DB2-BD59-A6C34878D82A}">
                    <a16:rowId xmlns:a16="http://schemas.microsoft.com/office/drawing/2014/main" val="10005"/>
                  </a:ext>
                </a:extLst>
              </a:tr>
              <a:tr h="470000">
                <a:tc>
                  <a:txBody>
                    <a:bodyPr/>
                    <a:lstStyle/>
                    <a:p>
                      <a:r>
                        <a:rPr sz="1400" b="1">
                          <a:solidFill>
                            <a:srgbClr val="1A1A1A"/>
                          </a:solidFill>
                          <a:latin typeface="Times New Roman" panose="02020603050405020304" pitchFamily="18" charset="0"/>
                          <a:cs typeface="Times New Roman" panose="02020603050405020304" pitchFamily="18" charset="0"/>
                        </a:rPr>
                        <a:t>E. Seasonality</a:t>
                      </a:r>
                    </a:p>
                  </a:txBody>
                  <a:tcPr marL="80000" marR="80000" marT="30000" marB="30000" anchor="ctr">
                    <a:solidFill>
                      <a:srgbClr val="F8F1E0"/>
                    </a:solidFill>
                  </a:tcPr>
                </a:tc>
                <a:tc>
                  <a:txBody>
                    <a:bodyPr/>
                    <a:lstStyle/>
                    <a:p>
                      <a:r>
                        <a:rPr sz="1400" b="0">
                          <a:solidFill>
                            <a:srgbClr val="1A1A1A"/>
                          </a:solidFill>
                          <a:latin typeface="Times New Roman" panose="02020603050405020304" pitchFamily="18" charset="0"/>
                          <a:cs typeface="Times New Roman" panose="02020603050405020304" pitchFamily="18" charset="0"/>
                        </a:rPr>
                        <a:t>sin_week, cos_week</a:t>
                      </a:r>
                    </a:p>
                  </a:txBody>
                  <a:tcPr marL="80000" marR="80000" marT="30000" marB="30000" anchor="ctr">
                    <a:solidFill>
                      <a:srgbClr val="F8F1E0"/>
                    </a:solidFill>
                  </a:tcPr>
                </a:tc>
                <a:tc>
                  <a:txBody>
                    <a:bodyPr/>
                    <a:lstStyle/>
                    <a:p>
                      <a:pPr algn="ctr"/>
                      <a:r>
                        <a:rPr sz="1400" b="0">
                          <a:solidFill>
                            <a:srgbClr val="1A1A1A"/>
                          </a:solidFill>
                          <a:latin typeface="Times New Roman" panose="02020603050405020304" pitchFamily="18" charset="0"/>
                          <a:cs typeface="Times New Roman" panose="02020603050405020304" pitchFamily="18" charset="0"/>
                        </a:rPr>
                        <a:t>2</a:t>
                      </a:r>
                    </a:p>
                  </a:txBody>
                  <a:tcPr marL="80000" marR="80000" marT="30000" marB="30000" anchor="ctr">
                    <a:solidFill>
                      <a:srgbClr val="F8F1E0"/>
                    </a:solidFill>
                  </a:tcPr>
                </a:tc>
                <a:extLst>
                  <a:ext uri="{0D108BD9-81ED-4DB2-BD59-A6C34878D82A}">
                    <a16:rowId xmlns:a16="http://schemas.microsoft.com/office/drawing/2014/main" val="10006"/>
                  </a:ext>
                </a:extLst>
              </a:tr>
              <a:tr h="470000">
                <a:tc>
                  <a:txBody>
                    <a:bodyPr/>
                    <a:lstStyle/>
                    <a:p>
                      <a:r>
                        <a:rPr sz="1400" b="1">
                          <a:solidFill>
                            <a:srgbClr val="1A1A1A"/>
                          </a:solidFill>
                          <a:latin typeface="Times New Roman" panose="02020603050405020304" pitchFamily="18" charset="0"/>
                          <a:cs typeface="Times New Roman" panose="02020603050405020304" pitchFamily="18" charset="0"/>
                        </a:rPr>
                        <a:t>Total predictors</a:t>
                      </a:r>
                    </a:p>
                  </a:txBody>
                  <a:tcPr marL="80000" marR="80000" marT="30000" marB="30000" anchor="ctr">
                    <a:solidFill>
                      <a:srgbClr val="FFFFFF"/>
                    </a:solidFill>
                  </a:tcPr>
                </a:tc>
                <a:tc>
                  <a:txBody>
                    <a:bodyPr/>
                    <a:lstStyle/>
                    <a:p>
                      <a:endParaRPr>
                        <a:latin typeface="Times New Roman" panose="02020603050405020304" pitchFamily="18" charset="0"/>
                        <a:cs typeface="Times New Roman" panose="02020603050405020304" pitchFamily="18" charset="0"/>
                      </a:endParaRPr>
                    </a:p>
                  </a:txBody>
                  <a:tcPr marL="80000" marR="80000" marT="30000" marB="30000" anchor="ctr">
                    <a:solidFill>
                      <a:srgbClr val="FFFFFF"/>
                    </a:solidFill>
                  </a:tcPr>
                </a:tc>
                <a:tc>
                  <a:txBody>
                    <a:bodyPr/>
                    <a:lstStyle/>
                    <a:p>
                      <a:pPr algn="ctr"/>
                      <a:r>
                        <a:rPr sz="1400" b="1" dirty="0">
                          <a:solidFill>
                            <a:srgbClr val="1A1A1A"/>
                          </a:solidFill>
                          <a:latin typeface="Times New Roman" panose="02020603050405020304" pitchFamily="18" charset="0"/>
                          <a:cs typeface="Times New Roman" panose="02020603050405020304" pitchFamily="18" charset="0"/>
                        </a:rPr>
                        <a:t>28</a:t>
                      </a:r>
                    </a:p>
                  </a:txBody>
                  <a:tcPr marL="80000" marR="80000" marT="30000" marB="30000" anchor="ctr">
                    <a:solidFill>
                      <a:srgbClr val="FFFFFF"/>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1500000" y="5850000"/>
            <a:ext cx="8800000" cy="215444"/>
          </a:xfrm>
          <a:prstGeom prst="rect">
            <a:avLst/>
          </a:prstGeom>
          <a:noFill/>
        </p:spPr>
        <p:txBody>
          <a:bodyPr wrap="square" lIns="0" tIns="0" rIns="0" bIns="0" anchor="t">
            <a:spAutoFit/>
          </a:bodyPr>
          <a:lstStyle/>
          <a:p>
            <a:pPr algn="l">
              <a:spcAft>
                <a:spcPts val="0"/>
              </a:spcAft>
            </a:pPr>
            <a:r>
              <a:rPr sz="1400" b="0" i="0">
                <a:solidFill>
                  <a:srgbClr val="4A4A4A"/>
                </a:solidFill>
                <a:latin typeface="Times New Roman" panose="02020603050405020304" pitchFamily="18" charset="0"/>
                <a:cs typeface="Times New Roman" panose="02020603050405020304" pitchFamily="18" charset="0"/>
              </a:rPr>
              <a:t>spi3 = 3-month rainfall vs. normal; pnp = percent of normal rain; ndvi = vegetation greenness; diurnal range = day–night temperature swing. Every lag ends before the forecast week.</a:t>
            </a:r>
          </a:p>
        </p:txBody>
      </p:sp>
    </p:spTree>
    <p:extLst>
      <p:ext uri="{BB962C8B-B14F-4D97-AF65-F5344CB8AC3E}">
        <p14:creationId xmlns:p14="http://schemas.microsoft.com/office/powerpoint/2010/main" val="1897307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03D5BB-7C7D-41B1-1443-02FBFA9C86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lide Title"/>
          <p:cNvSpPr txBox="1"/>
          <p:nvPr/>
        </p:nvSpPr>
        <p:spPr>
          <a:xfrm>
            <a:off x="1500000" y="540000"/>
            <a:ext cx="8800000" cy="900000"/>
          </a:xfrm>
          <a:prstGeom prst="rect">
            <a:avLst/>
          </a:prstGeom>
          <a:noFill/>
        </p:spPr>
        <p:txBody>
          <a:bodyPr wrap="square" lIns="0" tIns="0" rIns="0" bIns="0" anchor="b">
            <a:spAutoFit/>
          </a:bodyPr>
          <a:lstStyle/>
          <a:p>
            <a:pPr algn="l">
              <a:spcAft>
                <a:spcPts val="0"/>
              </a:spcAft>
            </a:pPr>
            <a:r>
              <a:rPr sz="2800" b="1" i="0">
                <a:solidFill>
                  <a:srgbClr val="1A1A1A"/>
                </a:solidFill>
                <a:latin typeface="Times New Roman"/>
              </a:rPr>
              <a:t>Data Analysis and Statistical Treatment</a:t>
            </a:r>
          </a:p>
        </p:txBody>
      </p:sp>
      <p:sp>
        <p:nvSpPr>
          <p:cNvPr id="5"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Block bootstrap and Wilcoxon signed-rank test</a:t>
            </a:r>
          </a:p>
        </p:txBody>
      </p:sp>
      <p:sp>
        <p:nvSpPr>
          <p:cNvPr id="6" name="Method card"/>
          <p:cNvSpPr/>
          <p:nvPr/>
        </p:nvSpPr>
        <p:spPr>
          <a:xfrm>
            <a:off x="1499616" y="1947672"/>
            <a:ext cx="2852928" cy="192024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ill"/>
          <p:cNvSpPr/>
          <p:nvPr/>
        </p:nvSpPr>
        <p:spPr>
          <a:xfrm>
            <a:off x="1627631" y="2057400"/>
            <a:ext cx="2587752" cy="347472"/>
          </a:xfrm>
          <a:prstGeom prst="roundRect">
            <a:avLst>
              <a:gd name="adj" fmla="val 50000"/>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400" b="1" i="0">
                <a:solidFill>
                  <a:srgbClr val="FFFFFF"/>
                </a:solidFill>
                <a:latin typeface="Times New Roman"/>
              </a:rPr>
              <a:t>Block bootstrap</a:t>
            </a:r>
          </a:p>
        </p:txBody>
      </p:sp>
      <p:sp>
        <p:nvSpPr>
          <p:cNvPr id="8" name="TextBox 7"/>
          <p:cNvSpPr txBox="1"/>
          <p:nvPr/>
        </p:nvSpPr>
        <p:spPr>
          <a:xfrm>
            <a:off x="1627631" y="2542032"/>
            <a:ext cx="2587752" cy="1508760"/>
          </a:xfrm>
          <a:prstGeom prst="rect">
            <a:avLst/>
          </a:prstGeom>
          <a:noFill/>
        </p:spPr>
        <p:txBody>
          <a:bodyPr wrap="square" lIns="0" tIns="0" rIns="0" bIns="0" anchor="t">
            <a:spAutoFit/>
          </a:bodyPr>
          <a:lstStyle/>
          <a:p>
            <a:pPr algn="l">
              <a:spcAft>
                <a:spcPts val="400"/>
              </a:spcAft>
            </a:pPr>
            <a:r>
              <a:rPr sz="1500" b="0" i="0">
                <a:solidFill>
                  <a:srgbClr val="1A1A1A"/>
                </a:solidFill>
                <a:latin typeface="Times New Roman"/>
              </a:rPr>
              <a:t>• 4-week blocks resampled 2,000 times</a:t>
            </a:r>
          </a:p>
          <a:p>
            <a:pPr algn="l">
              <a:spcAft>
                <a:spcPts val="400"/>
              </a:spcAft>
            </a:pPr>
            <a:r>
              <a:rPr sz="1500" b="0" i="0">
                <a:solidFill>
                  <a:srgbClr val="1A1A1A"/>
                </a:solidFill>
                <a:latin typeface="Times New Roman"/>
              </a:rPr>
              <a:t>• 95% range for each score</a:t>
            </a:r>
          </a:p>
          <a:p>
            <a:pPr algn="l">
              <a:spcAft>
                <a:spcPts val="400"/>
              </a:spcAft>
            </a:pPr>
            <a:r>
              <a:rPr sz="1500" b="0" i="0">
                <a:solidFill>
                  <a:srgbClr val="1A1A1A"/>
                </a:solidFill>
                <a:latin typeface="Times New Roman"/>
              </a:rPr>
              <a:t>• Keeps weekly autocorrelation (Künsch, 1989)</a:t>
            </a:r>
          </a:p>
        </p:txBody>
      </p:sp>
      <p:sp>
        <p:nvSpPr>
          <p:cNvPr id="9" name="Method card"/>
          <p:cNvSpPr/>
          <p:nvPr/>
        </p:nvSpPr>
        <p:spPr>
          <a:xfrm>
            <a:off x="4471416" y="1947672"/>
            <a:ext cx="2852928" cy="192024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ill"/>
          <p:cNvSpPr/>
          <p:nvPr/>
        </p:nvSpPr>
        <p:spPr>
          <a:xfrm>
            <a:off x="4599431" y="2057400"/>
            <a:ext cx="2587752" cy="347472"/>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400" b="1" i="0">
                <a:solidFill>
                  <a:srgbClr val="FFFFFF"/>
                </a:solidFill>
                <a:latin typeface="Times New Roman"/>
              </a:rPr>
              <a:t>Wilcoxon signed-rank</a:t>
            </a:r>
          </a:p>
        </p:txBody>
      </p:sp>
      <p:sp>
        <p:nvSpPr>
          <p:cNvPr id="11" name="TextBox 10"/>
          <p:cNvSpPr txBox="1"/>
          <p:nvPr/>
        </p:nvSpPr>
        <p:spPr>
          <a:xfrm>
            <a:off x="4599431" y="2542032"/>
            <a:ext cx="2587752" cy="1508760"/>
          </a:xfrm>
          <a:prstGeom prst="rect">
            <a:avLst/>
          </a:prstGeom>
          <a:noFill/>
        </p:spPr>
        <p:txBody>
          <a:bodyPr wrap="square" lIns="0" tIns="0" rIns="0" bIns="0" anchor="t">
            <a:spAutoFit/>
          </a:bodyPr>
          <a:lstStyle/>
          <a:p>
            <a:pPr algn="l">
              <a:spcAft>
                <a:spcPts val="400"/>
              </a:spcAft>
            </a:pPr>
            <a:r>
              <a:rPr sz="1500" b="0" i="0">
                <a:solidFill>
                  <a:srgbClr val="1A1A1A"/>
                </a:solidFill>
                <a:latin typeface="Times New Roman"/>
              </a:rPr>
              <a:t>• One-tailed, paired over 10 runs</a:t>
            </a:r>
          </a:p>
          <a:p>
            <a:pPr algn="l">
              <a:spcAft>
                <a:spcPts val="400"/>
              </a:spcAft>
            </a:pPr>
            <a:r>
              <a:rPr sz="1500" b="0" i="0">
                <a:solidFill>
                  <a:srgbClr val="1A1A1A"/>
                </a:solidFill>
                <a:latin typeface="Times New Roman"/>
              </a:rPr>
              <a:t>• Seeds 42 to 51, α = 0.05</a:t>
            </a:r>
          </a:p>
          <a:p>
            <a:pPr algn="l">
              <a:spcAft>
                <a:spcPts val="400"/>
              </a:spcAft>
            </a:pPr>
            <a:r>
              <a:rPr sz="1500" b="0" i="0">
                <a:solidFill>
                  <a:srgbClr val="1A1A1A"/>
                </a:solidFill>
                <a:latin typeface="Times New Roman"/>
              </a:rPr>
              <a:t>• Wilcoxon (1945)</a:t>
            </a:r>
          </a:p>
        </p:txBody>
      </p:sp>
      <p:sp>
        <p:nvSpPr>
          <p:cNvPr id="12" name="Method card"/>
          <p:cNvSpPr/>
          <p:nvPr/>
        </p:nvSpPr>
        <p:spPr>
          <a:xfrm>
            <a:off x="7443216" y="1947672"/>
            <a:ext cx="2852928" cy="192024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Pill"/>
          <p:cNvSpPr/>
          <p:nvPr/>
        </p:nvSpPr>
        <p:spPr>
          <a:xfrm>
            <a:off x="7571232" y="2057400"/>
            <a:ext cx="2587752" cy="347472"/>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400" b="1" i="0">
                <a:solidFill>
                  <a:srgbClr val="FFFFFF"/>
                </a:solidFill>
                <a:latin typeface="Times New Roman"/>
              </a:rPr>
              <a:t>Tests by question</a:t>
            </a:r>
          </a:p>
        </p:txBody>
      </p:sp>
      <p:sp>
        <p:nvSpPr>
          <p:cNvPr id="14" name="TextBox 13"/>
          <p:cNvSpPr txBox="1"/>
          <p:nvPr/>
        </p:nvSpPr>
        <p:spPr>
          <a:xfrm>
            <a:off x="7571232" y="2542032"/>
            <a:ext cx="2587752" cy="1508760"/>
          </a:xfrm>
          <a:prstGeom prst="rect">
            <a:avLst/>
          </a:prstGeom>
          <a:noFill/>
        </p:spPr>
        <p:txBody>
          <a:bodyPr wrap="square" lIns="0" tIns="0" rIns="0" bIns="0" anchor="t">
            <a:spAutoFit/>
          </a:bodyPr>
          <a:lstStyle/>
          <a:p>
            <a:pPr algn="l">
              <a:spcAft>
                <a:spcPts val="400"/>
              </a:spcAft>
            </a:pPr>
            <a:r>
              <a:rPr sz="1500" b="0" i="0">
                <a:solidFill>
                  <a:srgbClr val="1A1A1A"/>
                </a:solidFill>
                <a:latin typeface="Times New Roman"/>
              </a:rPr>
              <a:t>• RQ1: full XGB vs persistence</a:t>
            </a:r>
          </a:p>
          <a:p>
            <a:pPr algn="l">
              <a:spcAft>
                <a:spcPts val="400"/>
              </a:spcAft>
            </a:pPr>
            <a:r>
              <a:rPr sz="1500" b="0" i="0">
                <a:solidFill>
                  <a:srgbClr val="1A1A1A"/>
                </a:solidFill>
                <a:latin typeface="Times New Roman"/>
              </a:rPr>
              <a:t>• RQ2: full vs case-only</a:t>
            </a:r>
          </a:p>
          <a:p>
            <a:pPr algn="l">
              <a:spcAft>
                <a:spcPts val="400"/>
              </a:spcAft>
            </a:pPr>
            <a:r>
              <a:rPr sz="1500" b="0" i="0">
                <a:solidFill>
                  <a:srgbClr val="1A1A1A"/>
                </a:solidFill>
                <a:latin typeface="Times New Roman"/>
              </a:rPr>
              <a:t>• RQ3: the same, city by city</a:t>
            </a:r>
          </a:p>
        </p:txBody>
      </p:sp>
      <p:sp>
        <p:nvSpPr>
          <p:cNvPr id="15" name="TextBox 14"/>
          <p:cNvSpPr txBox="1"/>
          <p:nvPr/>
        </p:nvSpPr>
        <p:spPr>
          <a:xfrm>
            <a:off x="1499616" y="4206240"/>
            <a:ext cx="8796528" cy="1737360"/>
          </a:xfrm>
          <a:prstGeom prst="rect">
            <a:avLst/>
          </a:prstGeom>
          <a:noFill/>
        </p:spPr>
        <p:txBody>
          <a:bodyPr wrap="square" lIns="0" tIns="0" rIns="0" bIns="0" anchor="t">
            <a:spAutoFit/>
          </a:bodyPr>
          <a:lstStyle/>
          <a:p>
            <a:pPr algn="l">
              <a:spcAft>
                <a:spcPts val="800"/>
              </a:spcAft>
            </a:pPr>
            <a:r>
              <a:rPr sz="1600" b="1" i="0">
                <a:solidFill>
                  <a:srgbClr val="1A1A1A"/>
                </a:solidFill>
                <a:latin typeface="Times New Roman"/>
              </a:rPr>
              <a:t>Caution: </a:t>
            </a:r>
            <a:r>
              <a:rPr sz="1600" b="0" i="0">
                <a:solidFill>
                  <a:srgbClr val="1A1A1A"/>
                </a:solidFill>
                <a:latin typeface="Times New Roman"/>
              </a:rPr>
              <a:t>the 10 runs differ only in random seed, so a small p shows consistency across training randomness, not results for other years.</a:t>
            </a:r>
          </a:p>
          <a:p>
            <a:pPr algn="l">
              <a:spcAft>
                <a:spcPts val="800"/>
              </a:spcAft>
            </a:pPr>
            <a:r>
              <a:rPr sz="1600" b="1" i="0">
                <a:solidFill>
                  <a:srgbClr val="1A1A1A"/>
                </a:solidFill>
                <a:latin typeface="Times New Roman"/>
              </a:rPr>
              <a:t>Reporting: </a:t>
            </a:r>
            <a:r>
              <a:rPr sz="1600" b="0" i="0">
                <a:solidFill>
                  <a:srgbClr val="1A1A1A"/>
                </a:solidFill>
                <a:latin typeface="Times New Roman"/>
              </a:rPr>
              <a:t>each result is shown with the size of the change (MAE, RMSE, R²), not p alone.</a:t>
            </a:r>
          </a:p>
        </p:txBody>
      </p:sp>
    </p:spTree>
    <p:extLst>
      <p:ext uri="{BB962C8B-B14F-4D97-AF65-F5344CB8AC3E}">
        <p14:creationId xmlns:p14="http://schemas.microsoft.com/office/powerpoint/2010/main" val="2551598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1500000" y="540000"/>
            <a:ext cx="8800000" cy="900000"/>
          </a:xfrm>
          <a:prstGeom prst="rect">
            <a:avLst/>
          </a:prstGeom>
          <a:noFill/>
        </p:spPr>
        <p:txBody>
          <a:bodyPr wrap="square" lIns="0" tIns="0" rIns="0" bIns="0" anchor="b">
            <a:spAutoFit/>
          </a:bodyPr>
          <a:lstStyle/>
          <a:p>
            <a:pPr algn="l">
              <a:spcAft>
                <a:spcPts val="0"/>
              </a:spcAft>
            </a:pPr>
            <a:r>
              <a:rPr sz="2800" b="1" i="0">
                <a:solidFill>
                  <a:srgbClr val="1A1A1A"/>
                </a:solidFill>
                <a:latin typeface="Times New Roman"/>
              </a:rPr>
              <a:t>Results and Discussion</a:t>
            </a:r>
          </a:p>
        </p:txBody>
      </p:sp>
      <p:sp>
        <p:nvSpPr>
          <p:cNvPr id="7"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Organized by research question: the answers at a glance</a:t>
            </a:r>
          </a:p>
        </p:txBody>
      </p:sp>
      <p:sp>
        <p:nvSpPr>
          <p:cNvPr id="8" name="RQ1 card"/>
          <p:cNvSpPr/>
          <p:nvPr/>
        </p:nvSpPr>
        <p:spPr>
          <a:xfrm>
            <a:off x="1499616" y="1920240"/>
            <a:ext cx="8796528" cy="1261872"/>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Q label"/>
          <p:cNvSpPr/>
          <p:nvPr/>
        </p:nvSpPr>
        <p:spPr>
          <a:xfrm>
            <a:off x="1636775" y="2048256"/>
            <a:ext cx="914400" cy="384048"/>
          </a:xfrm>
          <a:prstGeom prst="roundRect">
            <a:avLst>
              <a:gd name="adj" fmla="val 5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500" b="1" i="0">
                <a:solidFill>
                  <a:srgbClr val="1A1A1A"/>
                </a:solidFill>
                <a:latin typeface="Times New Roman"/>
              </a:rPr>
              <a:t>RQ1</a:t>
            </a:r>
          </a:p>
        </p:txBody>
      </p:sp>
      <p:sp>
        <p:nvSpPr>
          <p:cNvPr id="10" name="TextBox 9"/>
          <p:cNvSpPr txBox="1"/>
          <p:nvPr/>
        </p:nvSpPr>
        <p:spPr>
          <a:xfrm>
            <a:off x="2734056" y="2048256"/>
            <a:ext cx="4937760" cy="384048"/>
          </a:xfrm>
          <a:prstGeom prst="rect">
            <a:avLst/>
          </a:prstGeom>
          <a:noFill/>
        </p:spPr>
        <p:txBody>
          <a:bodyPr wrap="square" lIns="0" tIns="0" rIns="0" bIns="0" anchor="ctr">
            <a:spAutoFit/>
          </a:bodyPr>
          <a:lstStyle/>
          <a:p>
            <a:pPr algn="l">
              <a:spcAft>
                <a:spcPts val="0"/>
              </a:spcAft>
            </a:pPr>
            <a:r>
              <a:rPr sz="2000" b="1" i="0">
                <a:solidFill>
                  <a:srgbClr val="1A1A1A"/>
                </a:solidFill>
                <a:latin typeface="Times New Roman"/>
              </a:rPr>
              <a:t>Can machine learning beat persistence?</a:t>
            </a:r>
          </a:p>
        </p:txBody>
      </p:sp>
      <p:sp>
        <p:nvSpPr>
          <p:cNvPr id="11" name="Answer pill"/>
          <p:cNvSpPr/>
          <p:nvPr/>
        </p:nvSpPr>
        <p:spPr>
          <a:xfrm>
            <a:off x="8147304" y="2048256"/>
            <a:ext cx="2011680" cy="384048"/>
          </a:xfrm>
          <a:prstGeom prst="roundRect">
            <a:avLst>
              <a:gd name="adj" fmla="val 50000"/>
            </a:avLst>
          </a:prstGeom>
          <a:solidFill>
            <a:srgbClr val="FFFFFF"/>
          </a:solidFill>
          <a:ln w="19050">
            <a:solidFill>
              <a:srgbClr val="FFC000"/>
            </a:solid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400" b="1" i="0">
                <a:solidFill>
                  <a:srgbClr val="1A1A1A"/>
                </a:solidFill>
                <a:latin typeface="Times New Roman"/>
              </a:rPr>
              <a:t>Yes, narrowly</a:t>
            </a:r>
          </a:p>
        </p:txBody>
      </p:sp>
      <p:sp>
        <p:nvSpPr>
          <p:cNvPr id="12" name="Answer text"/>
          <p:cNvSpPr txBox="1"/>
          <p:nvPr/>
        </p:nvSpPr>
        <p:spPr>
          <a:xfrm>
            <a:off x="1664207" y="2578608"/>
            <a:ext cx="8467344" cy="548640"/>
          </a:xfrm>
          <a:prstGeom prst="rect">
            <a:avLst/>
          </a:prstGeom>
          <a:noFill/>
        </p:spPr>
        <p:txBody>
          <a:bodyPr wrap="square" lIns="0" tIns="0" rIns="0" bIns="0" anchor="t">
            <a:spAutoFit/>
          </a:bodyPr>
          <a:lstStyle/>
          <a:p>
            <a:pPr algn="l">
              <a:spcAft>
                <a:spcPts val="0"/>
              </a:spcAft>
            </a:pPr>
            <a:r>
              <a:rPr sz="1500" b="0" i="0">
                <a:solidFill>
                  <a:srgbClr val="1A1A1A"/>
                </a:solidFill>
                <a:latin typeface="Times New Roman"/>
              </a:rPr>
              <a:t>Full XGBoost: MAE 5.94 vs 6.01, R² 0.271 vs 0.188; better in 10 of 10 runs (p = 0.001).</a:t>
            </a:r>
          </a:p>
        </p:txBody>
      </p:sp>
      <p:sp>
        <p:nvSpPr>
          <p:cNvPr id="13" name="RQ2 card"/>
          <p:cNvSpPr/>
          <p:nvPr/>
        </p:nvSpPr>
        <p:spPr>
          <a:xfrm>
            <a:off x="1499616" y="3291840"/>
            <a:ext cx="8796528" cy="1261872"/>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Q label"/>
          <p:cNvSpPr/>
          <p:nvPr/>
        </p:nvSpPr>
        <p:spPr>
          <a:xfrm>
            <a:off x="1636775" y="3419856"/>
            <a:ext cx="914400" cy="384048"/>
          </a:xfrm>
          <a:prstGeom prst="roundRect">
            <a:avLst>
              <a:gd name="adj" fmla="val 50000"/>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500" b="1" i="0">
                <a:solidFill>
                  <a:srgbClr val="FFFFFF"/>
                </a:solidFill>
                <a:latin typeface="Times New Roman"/>
              </a:rPr>
              <a:t>RQ2</a:t>
            </a:r>
          </a:p>
        </p:txBody>
      </p:sp>
      <p:sp>
        <p:nvSpPr>
          <p:cNvPr id="15" name="TextBox 14"/>
          <p:cNvSpPr txBox="1"/>
          <p:nvPr/>
        </p:nvSpPr>
        <p:spPr>
          <a:xfrm>
            <a:off x="2734056" y="3419856"/>
            <a:ext cx="4937760" cy="384048"/>
          </a:xfrm>
          <a:prstGeom prst="rect">
            <a:avLst/>
          </a:prstGeom>
          <a:noFill/>
        </p:spPr>
        <p:txBody>
          <a:bodyPr wrap="square" lIns="0" tIns="0" rIns="0" bIns="0" anchor="ctr">
            <a:spAutoFit/>
          </a:bodyPr>
          <a:lstStyle/>
          <a:p>
            <a:pPr algn="l">
              <a:spcAft>
                <a:spcPts val="0"/>
              </a:spcAft>
            </a:pPr>
            <a:r>
              <a:rPr sz="2000" b="1" i="0">
                <a:solidFill>
                  <a:srgbClr val="1A1A1A"/>
                </a:solidFill>
                <a:latin typeface="Times New Roman"/>
              </a:rPr>
              <a:t>Does weather add value?</a:t>
            </a:r>
          </a:p>
        </p:txBody>
      </p:sp>
      <p:sp>
        <p:nvSpPr>
          <p:cNvPr id="16" name="Answer pill"/>
          <p:cNvSpPr/>
          <p:nvPr/>
        </p:nvSpPr>
        <p:spPr>
          <a:xfrm>
            <a:off x="8147304" y="3419856"/>
            <a:ext cx="2011680" cy="384048"/>
          </a:xfrm>
          <a:prstGeom prst="roundRect">
            <a:avLst>
              <a:gd name="adj" fmla="val 50000"/>
            </a:avLst>
          </a:prstGeom>
          <a:solidFill>
            <a:srgbClr val="FFFFFF"/>
          </a:solidFill>
          <a:ln w="19050">
            <a:solidFill>
              <a:srgbClr val="2F5597"/>
            </a:solid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400" b="1" i="0">
                <a:solidFill>
                  <a:srgbClr val="1A1A1A"/>
                </a:solidFill>
                <a:latin typeface="Times New Roman"/>
              </a:rPr>
              <a:t>Yes, a little</a:t>
            </a:r>
          </a:p>
        </p:txBody>
      </p:sp>
      <p:sp>
        <p:nvSpPr>
          <p:cNvPr id="17" name="Answer text"/>
          <p:cNvSpPr txBox="1"/>
          <p:nvPr/>
        </p:nvSpPr>
        <p:spPr>
          <a:xfrm>
            <a:off x="1664207" y="3950208"/>
            <a:ext cx="8467344" cy="548640"/>
          </a:xfrm>
          <a:prstGeom prst="rect">
            <a:avLst/>
          </a:prstGeom>
          <a:noFill/>
        </p:spPr>
        <p:txBody>
          <a:bodyPr wrap="square" lIns="0" tIns="0" rIns="0" bIns="0" anchor="t">
            <a:spAutoFit/>
          </a:bodyPr>
          <a:lstStyle/>
          <a:p>
            <a:pPr algn="l">
              <a:spcAft>
                <a:spcPts val="0"/>
              </a:spcAft>
            </a:pPr>
            <a:r>
              <a:rPr sz="1500" b="0" i="0">
                <a:solidFill>
                  <a:srgbClr val="1A1A1A"/>
                </a:solidFill>
                <a:latin typeface="Times New Roman"/>
              </a:rPr>
              <a:t>Weather features lowered MAE by about 1% (6.00 to 5.94); better in 10 of 10 runs (p = 0.001).</a:t>
            </a:r>
          </a:p>
        </p:txBody>
      </p:sp>
      <p:sp>
        <p:nvSpPr>
          <p:cNvPr id="18" name="RQ3 card"/>
          <p:cNvSpPr/>
          <p:nvPr/>
        </p:nvSpPr>
        <p:spPr>
          <a:xfrm>
            <a:off x="1499616" y="4663440"/>
            <a:ext cx="8796528" cy="1261872"/>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Q label"/>
          <p:cNvSpPr/>
          <p:nvPr/>
        </p:nvSpPr>
        <p:spPr>
          <a:xfrm>
            <a:off x="1636775" y="4791455"/>
            <a:ext cx="914400" cy="38404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500" b="1" i="0">
                <a:solidFill>
                  <a:srgbClr val="FFFFFF"/>
                </a:solidFill>
                <a:latin typeface="Times New Roman"/>
              </a:rPr>
              <a:t>RQ3</a:t>
            </a:r>
          </a:p>
        </p:txBody>
      </p:sp>
      <p:sp>
        <p:nvSpPr>
          <p:cNvPr id="20" name="TextBox 19"/>
          <p:cNvSpPr txBox="1"/>
          <p:nvPr/>
        </p:nvSpPr>
        <p:spPr>
          <a:xfrm>
            <a:off x="2734056" y="4791455"/>
            <a:ext cx="4937760" cy="384048"/>
          </a:xfrm>
          <a:prstGeom prst="rect">
            <a:avLst/>
          </a:prstGeom>
          <a:noFill/>
        </p:spPr>
        <p:txBody>
          <a:bodyPr wrap="square" lIns="0" tIns="0" rIns="0" bIns="0" anchor="ctr">
            <a:spAutoFit/>
          </a:bodyPr>
          <a:lstStyle/>
          <a:p>
            <a:pPr algn="l">
              <a:spcAft>
                <a:spcPts val="0"/>
              </a:spcAft>
            </a:pPr>
            <a:r>
              <a:rPr sz="2000" b="1" i="0">
                <a:solidFill>
                  <a:srgbClr val="1A1A1A"/>
                </a:solidFill>
                <a:latin typeface="Times New Roman"/>
              </a:rPr>
              <a:t>Is it consistent across cities?</a:t>
            </a:r>
          </a:p>
        </p:txBody>
      </p:sp>
      <p:sp>
        <p:nvSpPr>
          <p:cNvPr id="21" name="Answer pill"/>
          <p:cNvSpPr/>
          <p:nvPr/>
        </p:nvSpPr>
        <p:spPr>
          <a:xfrm>
            <a:off x="8147304" y="4791455"/>
            <a:ext cx="2011680" cy="384048"/>
          </a:xfrm>
          <a:prstGeom prst="roundRect">
            <a:avLst>
              <a:gd name="adj" fmla="val 50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400" b="1" i="0">
                <a:solidFill>
                  <a:srgbClr val="1A1A1A"/>
                </a:solidFill>
                <a:latin typeface="Times New Roman"/>
              </a:rPr>
              <a:t>Partly</a:t>
            </a:r>
          </a:p>
        </p:txBody>
      </p:sp>
      <p:sp>
        <p:nvSpPr>
          <p:cNvPr id="22" name="Answer text"/>
          <p:cNvSpPr txBox="1"/>
          <p:nvPr/>
        </p:nvSpPr>
        <p:spPr>
          <a:xfrm>
            <a:off x="1664207" y="5321807"/>
            <a:ext cx="8467344" cy="548640"/>
          </a:xfrm>
          <a:prstGeom prst="rect">
            <a:avLst/>
          </a:prstGeom>
          <a:noFill/>
        </p:spPr>
        <p:txBody>
          <a:bodyPr wrap="square" lIns="0" tIns="0" rIns="0" bIns="0" anchor="t">
            <a:spAutoFit/>
          </a:bodyPr>
          <a:lstStyle/>
          <a:p>
            <a:pPr algn="l">
              <a:spcAft>
                <a:spcPts val="0"/>
              </a:spcAft>
            </a:pPr>
            <a:r>
              <a:rPr sz="1500" b="0" i="0">
                <a:solidFill>
                  <a:srgbClr val="1A1A1A"/>
                </a:solidFill>
                <a:latin typeface="Times New Roman"/>
              </a:rPr>
              <a:t>Gains in Davao and Cagayan de Oro (p = 0.001 each); none in Zamboanga, where persistence was best.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1500000" y="540000"/>
            <a:ext cx="8800000" cy="900000"/>
          </a:xfrm>
          <a:prstGeom prst="rect">
            <a:avLst/>
          </a:prstGeom>
          <a:noFill/>
        </p:spPr>
        <p:txBody>
          <a:bodyPr wrap="square" lIns="0" tIns="0" rIns="0" bIns="0" anchor="b">
            <a:spAutoFit/>
          </a:bodyPr>
          <a:lstStyle/>
          <a:p>
            <a:pPr algn="l">
              <a:spcAft>
                <a:spcPts val="0"/>
              </a:spcAft>
            </a:pPr>
            <a:r>
              <a:rPr sz="2800" b="1" i="0">
                <a:solidFill>
                  <a:srgbClr val="1A1A1A"/>
                </a:solidFill>
                <a:latin typeface="Times New Roman"/>
              </a:rPr>
              <a:t>Results and Discussion</a:t>
            </a:r>
          </a:p>
        </p:txBody>
      </p:sp>
      <p:sp>
        <p:nvSpPr>
          <p:cNvPr id="7"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RQ1 · Results: pooled accuracy on the 2020 test</a:t>
            </a:r>
          </a:p>
        </p:txBody>
      </p:sp>
      <p:sp>
        <p:nvSpPr>
          <p:cNvPr id="8" name="RQ banner"/>
          <p:cNvSpPr/>
          <p:nvPr/>
        </p:nvSpPr>
        <p:spPr>
          <a:xfrm>
            <a:off x="1499616" y="1920240"/>
            <a:ext cx="8796528" cy="73152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Q label"/>
          <p:cNvSpPr/>
          <p:nvPr/>
        </p:nvSpPr>
        <p:spPr>
          <a:xfrm>
            <a:off x="1627631" y="2103120"/>
            <a:ext cx="731520" cy="365760"/>
          </a:xfrm>
          <a:prstGeom prst="roundRect">
            <a:avLst>
              <a:gd name="adj" fmla="val 5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500" b="1" i="0">
                <a:solidFill>
                  <a:srgbClr val="1A1A1A"/>
                </a:solidFill>
                <a:latin typeface="Times New Roman"/>
              </a:rPr>
              <a:t>RQ1</a:t>
            </a:r>
          </a:p>
        </p:txBody>
      </p:sp>
      <p:sp>
        <p:nvSpPr>
          <p:cNvPr id="10" name="RQ text"/>
          <p:cNvSpPr txBox="1"/>
          <p:nvPr/>
        </p:nvSpPr>
        <p:spPr>
          <a:xfrm>
            <a:off x="2505456" y="2011680"/>
            <a:ext cx="7653527" cy="566928"/>
          </a:xfrm>
          <a:prstGeom prst="rect">
            <a:avLst/>
          </a:prstGeom>
          <a:noFill/>
        </p:spPr>
        <p:txBody>
          <a:bodyPr wrap="square" lIns="0" tIns="0" rIns="0" bIns="0" anchor="ctr">
            <a:spAutoFit/>
          </a:bodyPr>
          <a:lstStyle/>
          <a:p>
            <a:pPr algn="l">
              <a:spcAft>
                <a:spcPts val="0"/>
              </a:spcAft>
            </a:pPr>
            <a:r>
              <a:rPr sz="1400" b="0" i="0">
                <a:solidFill>
                  <a:srgbClr val="1A1A1A"/>
                </a:solidFill>
                <a:latin typeface="Times New Roman"/>
              </a:rPr>
              <a:t>How accurately do machine learning models forecast weekly dengue cases in Mindanao cities at a short horizon, and do they outperform a persistence baseline?</a:t>
            </a:r>
          </a:p>
        </p:txBody>
      </p:sp>
      <p:graphicFrame>
        <p:nvGraphicFramePr>
          <p:cNvPr id="11" name="Pooled MAE chart"/>
          <p:cNvGraphicFramePr>
            <a:graphicFrameLocks noGrp="1"/>
          </p:cNvGraphicFramePr>
          <p:nvPr/>
        </p:nvGraphicFramePr>
        <p:xfrm>
          <a:off x="1499616" y="2743200"/>
          <a:ext cx="434340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2" name="Chart note"/>
          <p:cNvSpPr txBox="1"/>
          <p:nvPr/>
        </p:nvSpPr>
        <p:spPr>
          <a:xfrm>
            <a:off x="1499616" y="5852160"/>
            <a:ext cx="4343400" cy="274320"/>
          </a:xfrm>
          <a:prstGeom prst="rect">
            <a:avLst/>
          </a:prstGeom>
          <a:noFill/>
        </p:spPr>
        <p:txBody>
          <a:bodyPr wrap="square" lIns="0" tIns="0" rIns="0" bIns="0" anchor="t">
            <a:spAutoFit/>
          </a:bodyPr>
          <a:lstStyle/>
          <a:p>
            <a:pPr algn="l">
              <a:spcAft>
                <a:spcPts val="400"/>
              </a:spcAft>
            </a:pPr>
            <a:r>
              <a:rPr sz="1200" b="0" i="0">
                <a:solidFill>
                  <a:srgbClr val="4A4A4A"/>
                </a:solidFill>
                <a:latin typeface="Times New Roman"/>
              </a:rPr>
              <a:t>Tuned run (seed 42), 144 city-weeks. Lower is better.</a:t>
            </a:r>
          </a:p>
        </p:txBody>
      </p:sp>
      <p:graphicFrame>
        <p:nvGraphicFramePr>
          <p:cNvPr id="13" name="Pooled accuracy table"/>
          <p:cNvGraphicFramePr>
            <a:graphicFrameLocks noGrp="1"/>
          </p:cNvGraphicFramePr>
          <p:nvPr/>
        </p:nvGraphicFramePr>
        <p:xfrm>
          <a:off x="6025896" y="2788920"/>
          <a:ext cx="4270248" cy="1463040"/>
        </p:xfrm>
        <a:graphic>
          <a:graphicData uri="http://schemas.openxmlformats.org/drawingml/2006/table">
            <a:tbl>
              <a:tblPr firstRow="1"/>
              <a:tblGrid>
                <a:gridCol w="13258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49808">
                  <a:extLst>
                    <a:ext uri="{9D8B030D-6E8A-4147-A177-3AD203B41FA5}">
                      <a16:colId xmlns:a16="http://schemas.microsoft.com/office/drawing/2014/main" val="20003"/>
                    </a:ext>
                  </a:extLst>
                </a:gridCol>
              </a:tblGrid>
              <a:tr h="365760">
                <a:tc>
                  <a:txBody>
                    <a:bodyPr/>
                    <a:lstStyle/>
                    <a:p>
                      <a:pPr algn="l"/>
                      <a:r>
                        <a:rPr sz="1200" b="1" i="0">
                          <a:solidFill>
                            <a:srgbClr val="FFFFFF"/>
                          </a:solidFill>
                          <a:latin typeface="Times New Roman"/>
                        </a:rPr>
                        <a:t>Model</a:t>
                      </a:r>
                    </a:p>
                  </a:txBody>
                  <a:tcPr marL="80000" marR="80000" marT="30000" marB="30000" anchor="ctr">
                    <a:solidFill>
                      <a:srgbClr val="2F5597"/>
                    </a:solidFill>
                  </a:tcPr>
                </a:tc>
                <a:tc>
                  <a:txBody>
                    <a:bodyPr/>
                    <a:lstStyle/>
                    <a:p>
                      <a:pPr algn="ctr"/>
                      <a:r>
                        <a:rPr sz="1200" b="1" i="0">
                          <a:solidFill>
                            <a:srgbClr val="FFFFFF"/>
                          </a:solidFill>
                          <a:latin typeface="Times New Roman"/>
                        </a:rPr>
                        <a:t>MAE [95% CI]</a:t>
                      </a:r>
                    </a:p>
                  </a:txBody>
                  <a:tcPr marL="80000" marR="80000" marT="30000" marB="30000" anchor="ctr">
                    <a:solidFill>
                      <a:srgbClr val="2F5597"/>
                    </a:solidFill>
                  </a:tcPr>
                </a:tc>
                <a:tc>
                  <a:txBody>
                    <a:bodyPr/>
                    <a:lstStyle/>
                    <a:p>
                      <a:pPr algn="ctr"/>
                      <a:r>
                        <a:rPr sz="1200" b="1" i="0">
                          <a:solidFill>
                            <a:srgbClr val="FFFFFF"/>
                          </a:solidFill>
                          <a:latin typeface="Times New Roman"/>
                        </a:rPr>
                        <a:t>RMSE</a:t>
                      </a:r>
                    </a:p>
                  </a:txBody>
                  <a:tcPr marL="80000" marR="80000" marT="30000" marB="30000" anchor="ctr">
                    <a:solidFill>
                      <a:srgbClr val="2F5597"/>
                    </a:solidFill>
                  </a:tcPr>
                </a:tc>
                <a:tc>
                  <a:txBody>
                    <a:bodyPr/>
                    <a:lstStyle/>
                    <a:p>
                      <a:pPr algn="ctr"/>
                      <a:r>
                        <a:rPr sz="1200" b="1" i="0">
                          <a:solidFill>
                            <a:srgbClr val="FFFFFF"/>
                          </a:solidFill>
                          <a:latin typeface="Times New Roman"/>
                        </a:rPr>
                        <a:t>R²</a:t>
                      </a:r>
                    </a:p>
                  </a:txBody>
                  <a:tcPr marL="80000" marR="80000" marT="30000" marB="30000" anchor="ctr">
                    <a:solidFill>
                      <a:srgbClr val="2F5597"/>
                    </a:solidFill>
                  </a:tcPr>
                </a:tc>
                <a:extLst>
                  <a:ext uri="{0D108BD9-81ED-4DB2-BD59-A6C34878D82A}">
                    <a16:rowId xmlns:a16="http://schemas.microsoft.com/office/drawing/2014/main" val="10000"/>
                  </a:ext>
                </a:extLst>
              </a:tr>
              <a:tr h="365760">
                <a:tc>
                  <a:txBody>
                    <a:bodyPr/>
                    <a:lstStyle/>
                    <a:p>
                      <a:pPr algn="l"/>
                      <a:r>
                        <a:rPr sz="1200" b="1" i="0">
                          <a:solidFill>
                            <a:srgbClr val="1A1A1A"/>
                          </a:solidFill>
                          <a:latin typeface="Times New Roman"/>
                        </a:rPr>
                        <a:t>Persistence</a:t>
                      </a:r>
                    </a:p>
                  </a:txBody>
                  <a:tcPr marL="80000" marR="80000" marT="30000" marB="30000" anchor="ctr">
                    <a:solidFill>
                      <a:srgbClr val="FFFFFF"/>
                    </a:solidFill>
                  </a:tcPr>
                </a:tc>
                <a:tc>
                  <a:txBody>
                    <a:bodyPr/>
                    <a:lstStyle/>
                    <a:p>
                      <a:pPr algn="ctr"/>
                      <a:r>
                        <a:rPr sz="1200" b="0" i="0">
                          <a:solidFill>
                            <a:srgbClr val="1A1A1A"/>
                          </a:solidFill>
                          <a:latin typeface="Times New Roman"/>
                        </a:rPr>
                        <a:t>6.01 [4.47, 7.50]</a:t>
                      </a:r>
                    </a:p>
                  </a:txBody>
                  <a:tcPr marL="80000" marR="80000" marT="30000" marB="30000" anchor="ctr">
                    <a:solidFill>
                      <a:srgbClr val="FFFFFF"/>
                    </a:solidFill>
                  </a:tcPr>
                </a:tc>
                <a:tc>
                  <a:txBody>
                    <a:bodyPr/>
                    <a:lstStyle/>
                    <a:p>
                      <a:pPr algn="ctr"/>
                      <a:r>
                        <a:rPr sz="1200" b="0" i="0">
                          <a:solidFill>
                            <a:srgbClr val="1A1A1A"/>
                          </a:solidFill>
                          <a:latin typeface="Times New Roman"/>
                        </a:rPr>
                        <a:t>9.25</a:t>
                      </a:r>
                    </a:p>
                  </a:txBody>
                  <a:tcPr marL="80000" marR="80000" marT="30000" marB="30000" anchor="ctr">
                    <a:solidFill>
                      <a:srgbClr val="FFFFFF"/>
                    </a:solidFill>
                  </a:tcPr>
                </a:tc>
                <a:tc>
                  <a:txBody>
                    <a:bodyPr/>
                    <a:lstStyle/>
                    <a:p>
                      <a:pPr algn="ctr"/>
                      <a:r>
                        <a:rPr sz="1200" b="0" i="0">
                          <a:solidFill>
                            <a:srgbClr val="1A1A1A"/>
                          </a:solidFill>
                          <a:latin typeface="Times New Roman"/>
                        </a:rPr>
                        <a:t>0.188</a:t>
                      </a:r>
                    </a:p>
                  </a:txBody>
                  <a:tcPr marL="80000" marR="80000" marT="30000" marB="30000" anchor="ctr">
                    <a:solidFill>
                      <a:srgbClr val="FFFFFF"/>
                    </a:solidFill>
                  </a:tcPr>
                </a:tc>
                <a:extLst>
                  <a:ext uri="{0D108BD9-81ED-4DB2-BD59-A6C34878D82A}">
                    <a16:rowId xmlns:a16="http://schemas.microsoft.com/office/drawing/2014/main" val="10001"/>
                  </a:ext>
                </a:extLst>
              </a:tr>
              <a:tr h="365760">
                <a:tc>
                  <a:txBody>
                    <a:bodyPr/>
                    <a:lstStyle/>
                    <a:p>
                      <a:pPr algn="l"/>
                      <a:r>
                        <a:rPr sz="1200" b="1" i="0">
                          <a:solidFill>
                            <a:srgbClr val="1A1A1A"/>
                          </a:solidFill>
                          <a:latin typeface="Times New Roman"/>
                        </a:rPr>
                        <a:t>Case-only XGB</a:t>
                      </a:r>
                    </a:p>
                  </a:txBody>
                  <a:tcPr marL="80000" marR="80000" marT="30000" marB="30000" anchor="ctr">
                    <a:solidFill>
                      <a:srgbClr val="F8F1E0"/>
                    </a:solidFill>
                  </a:tcPr>
                </a:tc>
                <a:tc>
                  <a:txBody>
                    <a:bodyPr/>
                    <a:lstStyle/>
                    <a:p>
                      <a:pPr algn="ctr"/>
                      <a:r>
                        <a:rPr sz="1200" b="0" i="0">
                          <a:solidFill>
                            <a:srgbClr val="1A1A1A"/>
                          </a:solidFill>
                          <a:latin typeface="Times New Roman"/>
                        </a:rPr>
                        <a:t>6.00 [4.60, 7.38]</a:t>
                      </a:r>
                    </a:p>
                  </a:txBody>
                  <a:tcPr marL="80000" marR="80000" marT="30000" marB="30000" anchor="ctr">
                    <a:solidFill>
                      <a:srgbClr val="F8F1E0"/>
                    </a:solidFill>
                  </a:tcPr>
                </a:tc>
                <a:tc>
                  <a:txBody>
                    <a:bodyPr/>
                    <a:lstStyle/>
                    <a:p>
                      <a:pPr algn="ctr"/>
                      <a:r>
                        <a:rPr sz="1200" b="0" i="0">
                          <a:solidFill>
                            <a:srgbClr val="1A1A1A"/>
                          </a:solidFill>
                          <a:latin typeface="Times New Roman"/>
                        </a:rPr>
                        <a:t>8.85</a:t>
                      </a:r>
                    </a:p>
                  </a:txBody>
                  <a:tcPr marL="80000" marR="80000" marT="30000" marB="30000" anchor="ctr">
                    <a:solidFill>
                      <a:srgbClr val="F8F1E0"/>
                    </a:solidFill>
                  </a:tcPr>
                </a:tc>
                <a:tc>
                  <a:txBody>
                    <a:bodyPr/>
                    <a:lstStyle/>
                    <a:p>
                      <a:pPr algn="ctr"/>
                      <a:r>
                        <a:rPr sz="1200" b="0" i="0">
                          <a:solidFill>
                            <a:srgbClr val="1A1A1A"/>
                          </a:solidFill>
                          <a:latin typeface="Times New Roman"/>
                        </a:rPr>
                        <a:t>0.256</a:t>
                      </a:r>
                    </a:p>
                  </a:txBody>
                  <a:tcPr marL="80000" marR="80000" marT="30000" marB="30000" anchor="ctr">
                    <a:solidFill>
                      <a:srgbClr val="F8F1E0"/>
                    </a:solidFill>
                  </a:tcPr>
                </a:tc>
                <a:extLst>
                  <a:ext uri="{0D108BD9-81ED-4DB2-BD59-A6C34878D82A}">
                    <a16:rowId xmlns:a16="http://schemas.microsoft.com/office/drawing/2014/main" val="10002"/>
                  </a:ext>
                </a:extLst>
              </a:tr>
              <a:tr h="365760">
                <a:tc>
                  <a:txBody>
                    <a:bodyPr/>
                    <a:lstStyle/>
                    <a:p>
                      <a:pPr algn="l"/>
                      <a:r>
                        <a:rPr sz="1200" b="1" i="0">
                          <a:solidFill>
                            <a:srgbClr val="1A1A1A"/>
                          </a:solidFill>
                          <a:latin typeface="Times New Roman"/>
                        </a:rPr>
                        <a:t>Full XGB</a:t>
                      </a:r>
                    </a:p>
                  </a:txBody>
                  <a:tcPr marL="80000" marR="80000" marT="30000" marB="30000" anchor="ctr">
                    <a:solidFill>
                      <a:srgbClr val="FFFFFF"/>
                    </a:solidFill>
                  </a:tcPr>
                </a:tc>
                <a:tc>
                  <a:txBody>
                    <a:bodyPr/>
                    <a:lstStyle/>
                    <a:p>
                      <a:pPr algn="ctr"/>
                      <a:r>
                        <a:rPr sz="1200" b="0" i="0">
                          <a:solidFill>
                            <a:srgbClr val="1A1A1A"/>
                          </a:solidFill>
                          <a:latin typeface="Times New Roman"/>
                        </a:rPr>
                        <a:t>5.94 [4.61, 7.27]</a:t>
                      </a:r>
                    </a:p>
                  </a:txBody>
                  <a:tcPr marL="80000" marR="80000" marT="30000" marB="30000" anchor="ctr">
                    <a:solidFill>
                      <a:srgbClr val="FFFFFF"/>
                    </a:solidFill>
                  </a:tcPr>
                </a:tc>
                <a:tc>
                  <a:txBody>
                    <a:bodyPr/>
                    <a:lstStyle/>
                    <a:p>
                      <a:pPr algn="ctr"/>
                      <a:r>
                        <a:rPr sz="1200" b="0" i="0">
                          <a:solidFill>
                            <a:srgbClr val="1A1A1A"/>
                          </a:solidFill>
                          <a:latin typeface="Times New Roman"/>
                        </a:rPr>
                        <a:t>8.77</a:t>
                      </a:r>
                    </a:p>
                  </a:txBody>
                  <a:tcPr marL="80000" marR="80000" marT="30000" marB="30000" anchor="ctr">
                    <a:solidFill>
                      <a:srgbClr val="FFFFFF"/>
                    </a:solidFill>
                  </a:tcPr>
                </a:tc>
                <a:tc>
                  <a:txBody>
                    <a:bodyPr/>
                    <a:lstStyle/>
                    <a:p>
                      <a:pPr algn="ctr"/>
                      <a:r>
                        <a:rPr sz="1200" b="0" i="0">
                          <a:solidFill>
                            <a:srgbClr val="1A1A1A"/>
                          </a:solidFill>
                          <a:latin typeface="Times New Roman"/>
                        </a:rPr>
                        <a:t>0.271</a:t>
                      </a:r>
                    </a:p>
                  </a:txBody>
                  <a:tcPr marL="80000" marR="80000" marT="30000" marB="30000" anchor="ctr">
                    <a:solidFill>
                      <a:srgbClr val="FFFFFF"/>
                    </a:solidFill>
                  </a:tcPr>
                </a:tc>
                <a:extLst>
                  <a:ext uri="{0D108BD9-81ED-4DB2-BD59-A6C34878D82A}">
                    <a16:rowId xmlns:a16="http://schemas.microsoft.com/office/drawing/2014/main" val="10003"/>
                  </a:ext>
                </a:extLst>
              </a:tr>
            </a:tbl>
          </a:graphicData>
        </a:graphic>
      </p:graphicFrame>
      <p:sp>
        <p:nvSpPr>
          <p:cNvPr id="14" name="Stat card"/>
          <p:cNvSpPr/>
          <p:nvPr/>
        </p:nvSpPr>
        <p:spPr>
          <a:xfrm>
            <a:off x="6025896" y="4434840"/>
            <a:ext cx="2057400" cy="146304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tat value"/>
          <p:cNvSpPr txBox="1"/>
          <p:nvPr/>
        </p:nvSpPr>
        <p:spPr>
          <a:xfrm>
            <a:off x="6135624" y="4526279"/>
            <a:ext cx="1837943" cy="548640"/>
          </a:xfrm>
          <a:prstGeom prst="rect">
            <a:avLst/>
          </a:prstGeom>
          <a:noFill/>
        </p:spPr>
        <p:txBody>
          <a:bodyPr wrap="square" lIns="0" tIns="0" rIns="0" bIns="0" anchor="t">
            <a:spAutoFit/>
          </a:bodyPr>
          <a:lstStyle/>
          <a:p>
            <a:pPr algn="l">
              <a:spcAft>
                <a:spcPts val="400"/>
              </a:spcAft>
            </a:pPr>
            <a:r>
              <a:rPr sz="3200" b="1" i="0">
                <a:solidFill>
                  <a:srgbClr val="2E7D32"/>
                </a:solidFill>
                <a:latin typeface="Times New Roman"/>
              </a:rPr>
              <a:t>−1.1%</a:t>
            </a:r>
          </a:p>
        </p:txBody>
      </p:sp>
      <p:sp>
        <p:nvSpPr>
          <p:cNvPr id="16" name="Stat label"/>
          <p:cNvSpPr txBox="1"/>
          <p:nvPr/>
        </p:nvSpPr>
        <p:spPr>
          <a:xfrm>
            <a:off x="6135624" y="5148072"/>
            <a:ext cx="1837943" cy="685800"/>
          </a:xfrm>
          <a:prstGeom prst="rect">
            <a:avLst/>
          </a:prstGeom>
          <a:noFill/>
        </p:spPr>
        <p:txBody>
          <a:bodyPr wrap="square" lIns="0" tIns="0" rIns="0" bIns="0" anchor="t">
            <a:spAutoFit/>
          </a:bodyPr>
          <a:lstStyle/>
          <a:p>
            <a:pPr algn="l">
              <a:spcAft>
                <a:spcPts val="400"/>
              </a:spcAft>
            </a:pPr>
            <a:r>
              <a:rPr sz="1300" b="0" i="0">
                <a:solidFill>
                  <a:srgbClr val="1A1A1A"/>
                </a:solidFill>
                <a:latin typeface="Times New Roman"/>
              </a:rPr>
              <a:t>MAE vs persistence (5.94 vs 6.01)</a:t>
            </a:r>
          </a:p>
        </p:txBody>
      </p:sp>
      <p:sp>
        <p:nvSpPr>
          <p:cNvPr id="17" name="Stat card"/>
          <p:cNvSpPr/>
          <p:nvPr/>
        </p:nvSpPr>
        <p:spPr>
          <a:xfrm>
            <a:off x="8275320" y="4434840"/>
            <a:ext cx="2057400" cy="146304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Stat value"/>
          <p:cNvSpPr txBox="1"/>
          <p:nvPr/>
        </p:nvSpPr>
        <p:spPr>
          <a:xfrm>
            <a:off x="8385048" y="4526279"/>
            <a:ext cx="1837943" cy="548640"/>
          </a:xfrm>
          <a:prstGeom prst="rect">
            <a:avLst/>
          </a:prstGeom>
          <a:noFill/>
        </p:spPr>
        <p:txBody>
          <a:bodyPr wrap="square" lIns="0" tIns="0" rIns="0" bIns="0" anchor="t">
            <a:spAutoFit/>
          </a:bodyPr>
          <a:lstStyle/>
          <a:p>
            <a:pPr algn="l">
              <a:spcAft>
                <a:spcPts val="400"/>
              </a:spcAft>
            </a:pPr>
            <a:r>
              <a:rPr sz="3200" b="1" i="0">
                <a:solidFill>
                  <a:srgbClr val="2E7D32"/>
                </a:solidFill>
                <a:latin typeface="Times New Roman"/>
              </a:rPr>
              <a:t>+0.083</a:t>
            </a:r>
          </a:p>
        </p:txBody>
      </p:sp>
      <p:sp>
        <p:nvSpPr>
          <p:cNvPr id="19" name="Stat label"/>
          <p:cNvSpPr txBox="1"/>
          <p:nvPr/>
        </p:nvSpPr>
        <p:spPr>
          <a:xfrm>
            <a:off x="8385048" y="5148072"/>
            <a:ext cx="1837943" cy="685800"/>
          </a:xfrm>
          <a:prstGeom prst="rect">
            <a:avLst/>
          </a:prstGeom>
          <a:noFill/>
        </p:spPr>
        <p:txBody>
          <a:bodyPr wrap="square" lIns="0" tIns="0" rIns="0" bIns="0" anchor="t">
            <a:spAutoFit/>
          </a:bodyPr>
          <a:lstStyle/>
          <a:p>
            <a:pPr algn="l">
              <a:spcAft>
                <a:spcPts val="400"/>
              </a:spcAft>
            </a:pPr>
            <a:r>
              <a:rPr sz="1300" b="0" i="0">
                <a:solidFill>
                  <a:srgbClr val="1A1A1A"/>
                </a:solidFill>
                <a:latin typeface="Times New Roman"/>
              </a:rPr>
              <a:t>R² vs persistence (0.271 vs 0.188)</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1500000" y="540000"/>
            <a:ext cx="8800000" cy="900000"/>
          </a:xfrm>
          <a:prstGeom prst="rect">
            <a:avLst/>
          </a:prstGeom>
          <a:noFill/>
        </p:spPr>
        <p:txBody>
          <a:bodyPr wrap="square" lIns="0" tIns="0" rIns="0" bIns="0" anchor="b">
            <a:spAutoFit/>
          </a:bodyPr>
          <a:lstStyle/>
          <a:p>
            <a:pPr algn="l">
              <a:spcAft>
                <a:spcPts val="0"/>
              </a:spcAft>
            </a:pPr>
            <a:r>
              <a:rPr sz="2800" b="1" i="0">
                <a:solidFill>
                  <a:srgbClr val="1A1A1A"/>
                </a:solidFill>
                <a:latin typeface="Times New Roman"/>
              </a:rPr>
              <a:t>Results and Discussion</a:t>
            </a:r>
          </a:p>
        </p:txBody>
      </p:sp>
      <p:sp>
        <p:nvSpPr>
          <p:cNvPr id="7"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RQ1 · Results: 10-run test, full XGBoost vs persistence</a:t>
            </a:r>
          </a:p>
        </p:txBody>
      </p:sp>
      <p:sp>
        <p:nvSpPr>
          <p:cNvPr id="8" name="RQ banner"/>
          <p:cNvSpPr/>
          <p:nvPr/>
        </p:nvSpPr>
        <p:spPr>
          <a:xfrm>
            <a:off x="1499616" y="1920240"/>
            <a:ext cx="8796528" cy="73152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Q label"/>
          <p:cNvSpPr/>
          <p:nvPr/>
        </p:nvSpPr>
        <p:spPr>
          <a:xfrm>
            <a:off x="1627631" y="2103120"/>
            <a:ext cx="731520" cy="365760"/>
          </a:xfrm>
          <a:prstGeom prst="roundRect">
            <a:avLst>
              <a:gd name="adj" fmla="val 5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500" b="1" i="0">
                <a:solidFill>
                  <a:srgbClr val="1A1A1A"/>
                </a:solidFill>
                <a:latin typeface="Times New Roman"/>
              </a:rPr>
              <a:t>RQ1</a:t>
            </a:r>
          </a:p>
        </p:txBody>
      </p:sp>
      <p:sp>
        <p:nvSpPr>
          <p:cNvPr id="10" name="RQ text"/>
          <p:cNvSpPr txBox="1"/>
          <p:nvPr/>
        </p:nvSpPr>
        <p:spPr>
          <a:xfrm>
            <a:off x="2505456" y="2011680"/>
            <a:ext cx="7653527" cy="566928"/>
          </a:xfrm>
          <a:prstGeom prst="rect">
            <a:avLst/>
          </a:prstGeom>
          <a:noFill/>
        </p:spPr>
        <p:txBody>
          <a:bodyPr wrap="square" lIns="0" tIns="0" rIns="0" bIns="0" anchor="ctr">
            <a:spAutoFit/>
          </a:bodyPr>
          <a:lstStyle/>
          <a:p>
            <a:pPr algn="l">
              <a:spcAft>
                <a:spcPts val="0"/>
              </a:spcAft>
            </a:pPr>
            <a:r>
              <a:rPr sz="1400" b="0" i="0">
                <a:solidFill>
                  <a:srgbClr val="1A1A1A"/>
                </a:solidFill>
                <a:latin typeface="Times New Roman"/>
              </a:rPr>
              <a:t>How accurately do machine learning models forecast weekly dengue cases in Mindanao cities at a short horizon, and do they outperform a persistence baseline?</a:t>
            </a:r>
          </a:p>
        </p:txBody>
      </p:sp>
      <p:graphicFrame>
        <p:nvGraphicFramePr>
          <p:cNvPr id="11" name="Wilcoxon vs persistence"/>
          <p:cNvGraphicFramePr>
            <a:graphicFrameLocks noGrp="1"/>
          </p:cNvGraphicFramePr>
          <p:nvPr/>
        </p:nvGraphicFramePr>
        <p:xfrm>
          <a:off x="1499616" y="2788920"/>
          <a:ext cx="8796528" cy="1463040"/>
        </p:xfrm>
        <a:graphic>
          <a:graphicData uri="http://schemas.openxmlformats.org/drawingml/2006/table">
            <a:tbl>
              <a:tblPr firstRow="1"/>
              <a:tblGrid>
                <a:gridCol w="11887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2304288">
                  <a:extLst>
                    <a:ext uri="{9D8B030D-6E8A-4147-A177-3AD203B41FA5}">
                      <a16:colId xmlns:a16="http://schemas.microsoft.com/office/drawing/2014/main" val="20005"/>
                    </a:ext>
                  </a:extLst>
                </a:gridCol>
              </a:tblGrid>
              <a:tr h="365760">
                <a:tc>
                  <a:txBody>
                    <a:bodyPr/>
                    <a:lstStyle/>
                    <a:p>
                      <a:pPr algn="l"/>
                      <a:r>
                        <a:rPr sz="1400" b="1" i="0">
                          <a:solidFill>
                            <a:srgbClr val="FFFFFF"/>
                          </a:solidFill>
                          <a:latin typeface="Times New Roman"/>
                        </a:rPr>
                        <a:t>Metric</a:t>
                      </a:r>
                    </a:p>
                  </a:txBody>
                  <a:tcPr marL="80000" marR="80000" marT="30000" marB="30000" anchor="ctr">
                    <a:solidFill>
                      <a:srgbClr val="2F5597"/>
                    </a:solidFill>
                  </a:tcPr>
                </a:tc>
                <a:tc>
                  <a:txBody>
                    <a:bodyPr/>
                    <a:lstStyle/>
                    <a:p>
                      <a:pPr algn="ctr"/>
                      <a:r>
                        <a:rPr sz="1400" b="1" i="0">
                          <a:solidFill>
                            <a:srgbClr val="FFFFFF"/>
                          </a:solidFill>
                          <a:latin typeface="Times New Roman"/>
                        </a:rPr>
                        <a:t>Persistence</a:t>
                      </a:r>
                    </a:p>
                  </a:txBody>
                  <a:tcPr marL="80000" marR="80000" marT="30000" marB="30000" anchor="ctr">
                    <a:solidFill>
                      <a:srgbClr val="2F5597"/>
                    </a:solidFill>
                  </a:tcPr>
                </a:tc>
                <a:tc>
                  <a:txBody>
                    <a:bodyPr/>
                    <a:lstStyle/>
                    <a:p>
                      <a:pPr algn="ctr"/>
                      <a:r>
                        <a:rPr sz="1400" b="1" i="0">
                          <a:solidFill>
                            <a:srgbClr val="FFFFFF"/>
                          </a:solidFill>
                          <a:latin typeface="Times New Roman"/>
                        </a:rPr>
                        <a:t>Full XGB</a:t>
                      </a:r>
                    </a:p>
                  </a:txBody>
                  <a:tcPr marL="80000" marR="80000" marT="30000" marB="30000" anchor="ctr">
                    <a:solidFill>
                      <a:srgbClr val="2F5597"/>
                    </a:solidFill>
                  </a:tcPr>
                </a:tc>
                <a:tc>
                  <a:txBody>
                    <a:bodyPr/>
                    <a:lstStyle/>
                    <a:p>
                      <a:pPr algn="ctr"/>
                      <a:r>
                        <a:rPr sz="1400" b="1" i="0">
                          <a:solidFill>
                            <a:srgbClr val="FFFFFF"/>
                          </a:solidFill>
                          <a:latin typeface="Times New Roman"/>
                        </a:rPr>
                        <a:t>W</a:t>
                      </a:r>
                    </a:p>
                  </a:txBody>
                  <a:tcPr marL="80000" marR="80000" marT="30000" marB="30000" anchor="ctr">
                    <a:solidFill>
                      <a:srgbClr val="2F5597"/>
                    </a:solidFill>
                  </a:tcPr>
                </a:tc>
                <a:tc>
                  <a:txBody>
                    <a:bodyPr/>
                    <a:lstStyle/>
                    <a:p>
                      <a:pPr algn="ctr"/>
                      <a:r>
                        <a:rPr sz="1400" b="1" i="0">
                          <a:solidFill>
                            <a:srgbClr val="FFFFFF"/>
                          </a:solidFill>
                          <a:latin typeface="Times New Roman"/>
                        </a:rPr>
                        <a:t>p</a:t>
                      </a:r>
                    </a:p>
                  </a:txBody>
                  <a:tcPr marL="80000" marR="80000" marT="30000" marB="30000" anchor="ctr">
                    <a:solidFill>
                      <a:srgbClr val="2F5597"/>
                    </a:solidFill>
                  </a:tcPr>
                </a:tc>
                <a:tc>
                  <a:txBody>
                    <a:bodyPr/>
                    <a:lstStyle/>
                    <a:p>
                      <a:pPr algn="ctr"/>
                      <a:r>
                        <a:rPr sz="1400" b="1" i="0">
                          <a:solidFill>
                            <a:srgbClr val="FFFFFF"/>
                          </a:solidFill>
                          <a:latin typeface="Times New Roman"/>
                        </a:rPr>
                        <a:t>Result</a:t>
                      </a:r>
                    </a:p>
                  </a:txBody>
                  <a:tcPr marL="80000" marR="80000" marT="30000" marB="30000" anchor="ctr">
                    <a:solidFill>
                      <a:srgbClr val="2F5597"/>
                    </a:solidFill>
                  </a:tcPr>
                </a:tc>
                <a:extLst>
                  <a:ext uri="{0D108BD9-81ED-4DB2-BD59-A6C34878D82A}">
                    <a16:rowId xmlns:a16="http://schemas.microsoft.com/office/drawing/2014/main" val="10000"/>
                  </a:ext>
                </a:extLst>
              </a:tr>
              <a:tr h="365760">
                <a:tc>
                  <a:txBody>
                    <a:bodyPr/>
                    <a:lstStyle/>
                    <a:p>
                      <a:pPr algn="l"/>
                      <a:r>
                        <a:rPr sz="1400" b="1" i="0">
                          <a:solidFill>
                            <a:srgbClr val="1A1A1A"/>
                          </a:solidFill>
                          <a:latin typeface="Times New Roman"/>
                        </a:rPr>
                        <a:t>MAE</a:t>
                      </a:r>
                    </a:p>
                  </a:txBody>
                  <a:tcPr marL="80000" marR="80000" marT="30000" marB="30000" anchor="ctr">
                    <a:solidFill>
                      <a:srgbClr val="FFFFFF"/>
                    </a:solidFill>
                  </a:tcPr>
                </a:tc>
                <a:tc>
                  <a:txBody>
                    <a:bodyPr/>
                    <a:lstStyle/>
                    <a:p>
                      <a:pPr algn="ctr"/>
                      <a:r>
                        <a:rPr sz="1400" b="0" i="0">
                          <a:solidFill>
                            <a:srgbClr val="1A1A1A"/>
                          </a:solidFill>
                          <a:latin typeface="Times New Roman"/>
                        </a:rPr>
                        <a:t>6.01 ± 0.00</a:t>
                      </a:r>
                    </a:p>
                  </a:txBody>
                  <a:tcPr marL="80000" marR="80000" marT="30000" marB="30000" anchor="ctr">
                    <a:solidFill>
                      <a:srgbClr val="FFFFFF"/>
                    </a:solidFill>
                  </a:tcPr>
                </a:tc>
                <a:tc>
                  <a:txBody>
                    <a:bodyPr/>
                    <a:lstStyle/>
                    <a:p>
                      <a:pPr algn="ctr"/>
                      <a:r>
                        <a:rPr sz="1400" b="0" i="0">
                          <a:solidFill>
                            <a:srgbClr val="1A1A1A"/>
                          </a:solidFill>
                          <a:latin typeface="Times New Roman"/>
                        </a:rPr>
                        <a:t>5.81 ± 0.02</a:t>
                      </a:r>
                    </a:p>
                  </a:txBody>
                  <a:tcPr marL="80000" marR="80000" marT="30000" marB="30000" anchor="ctr">
                    <a:solidFill>
                      <a:srgbClr val="FFFFFF"/>
                    </a:solidFill>
                  </a:tcPr>
                </a:tc>
                <a:tc>
                  <a:txBody>
                    <a:bodyPr/>
                    <a:lstStyle/>
                    <a:p>
                      <a:pPr algn="ctr"/>
                      <a:r>
                        <a:rPr sz="1400" b="0" i="0">
                          <a:solidFill>
                            <a:srgbClr val="1A1A1A"/>
                          </a:solidFill>
                          <a:latin typeface="Times New Roman"/>
                        </a:rPr>
                        <a:t>0</a:t>
                      </a:r>
                    </a:p>
                  </a:txBody>
                  <a:tcPr marL="80000" marR="80000" marT="30000" marB="30000" anchor="ctr">
                    <a:solidFill>
                      <a:srgbClr val="FFFFFF"/>
                    </a:solidFill>
                  </a:tcPr>
                </a:tc>
                <a:tc>
                  <a:txBody>
                    <a:bodyPr/>
                    <a:lstStyle/>
                    <a:p>
                      <a:pPr algn="ctr"/>
                      <a:r>
                        <a:rPr sz="1400" b="0" i="0">
                          <a:solidFill>
                            <a:srgbClr val="1A1A1A"/>
                          </a:solidFill>
                          <a:latin typeface="Times New Roman"/>
                        </a:rPr>
                        <a:t>0.001</a:t>
                      </a:r>
                    </a:p>
                  </a:txBody>
                  <a:tcPr marL="80000" marR="80000" marT="30000" marB="30000" anchor="ctr">
                    <a:solidFill>
                      <a:srgbClr val="FFFFFF"/>
                    </a:solidFill>
                  </a:tcPr>
                </a:tc>
                <a:tc>
                  <a:txBody>
                    <a:bodyPr/>
                    <a:lstStyle/>
                    <a:p>
                      <a:pPr algn="ctr"/>
                      <a:r>
                        <a:rPr sz="1400" b="1" i="0">
                          <a:solidFill>
                            <a:srgbClr val="1A1A1A"/>
                          </a:solidFill>
                          <a:latin typeface="Times New Roman"/>
                        </a:rPr>
                        <a:t>Better, 10/10 (+3.2%)</a:t>
                      </a:r>
                    </a:p>
                  </a:txBody>
                  <a:tcPr marL="80000" marR="80000" marT="30000" marB="30000" anchor="ctr">
                    <a:solidFill>
                      <a:srgbClr val="FFFFFF"/>
                    </a:solidFill>
                  </a:tcPr>
                </a:tc>
                <a:extLst>
                  <a:ext uri="{0D108BD9-81ED-4DB2-BD59-A6C34878D82A}">
                    <a16:rowId xmlns:a16="http://schemas.microsoft.com/office/drawing/2014/main" val="10001"/>
                  </a:ext>
                </a:extLst>
              </a:tr>
              <a:tr h="365760">
                <a:tc>
                  <a:txBody>
                    <a:bodyPr/>
                    <a:lstStyle/>
                    <a:p>
                      <a:pPr algn="l"/>
                      <a:r>
                        <a:rPr sz="1400" b="1" i="0">
                          <a:solidFill>
                            <a:srgbClr val="1A1A1A"/>
                          </a:solidFill>
                          <a:latin typeface="Times New Roman"/>
                        </a:rPr>
                        <a:t>RMSE</a:t>
                      </a:r>
                    </a:p>
                  </a:txBody>
                  <a:tcPr marL="80000" marR="80000" marT="30000" marB="30000" anchor="ctr">
                    <a:solidFill>
                      <a:srgbClr val="F8F1E0"/>
                    </a:solidFill>
                  </a:tcPr>
                </a:tc>
                <a:tc>
                  <a:txBody>
                    <a:bodyPr/>
                    <a:lstStyle/>
                    <a:p>
                      <a:pPr algn="ctr"/>
                      <a:r>
                        <a:rPr sz="1400" b="0" i="0">
                          <a:solidFill>
                            <a:srgbClr val="1A1A1A"/>
                          </a:solidFill>
                          <a:latin typeface="Times New Roman"/>
                        </a:rPr>
                        <a:t>9.25 ± 0.00</a:t>
                      </a:r>
                    </a:p>
                  </a:txBody>
                  <a:tcPr marL="80000" marR="80000" marT="30000" marB="30000" anchor="ctr">
                    <a:solidFill>
                      <a:srgbClr val="F8F1E0"/>
                    </a:solidFill>
                  </a:tcPr>
                </a:tc>
                <a:tc>
                  <a:txBody>
                    <a:bodyPr/>
                    <a:lstStyle/>
                    <a:p>
                      <a:pPr algn="ctr"/>
                      <a:r>
                        <a:rPr sz="1400" b="0" i="0">
                          <a:solidFill>
                            <a:srgbClr val="1A1A1A"/>
                          </a:solidFill>
                          <a:latin typeface="Times New Roman"/>
                        </a:rPr>
                        <a:t>8.90 ± 0.02</a:t>
                      </a:r>
                    </a:p>
                  </a:txBody>
                  <a:tcPr marL="80000" marR="80000" marT="30000" marB="30000" anchor="ctr">
                    <a:solidFill>
                      <a:srgbClr val="F8F1E0"/>
                    </a:solidFill>
                  </a:tcPr>
                </a:tc>
                <a:tc>
                  <a:txBody>
                    <a:bodyPr/>
                    <a:lstStyle/>
                    <a:p>
                      <a:pPr algn="ctr"/>
                      <a:r>
                        <a:rPr sz="1400" b="0" i="0">
                          <a:solidFill>
                            <a:srgbClr val="1A1A1A"/>
                          </a:solidFill>
                          <a:latin typeface="Times New Roman"/>
                        </a:rPr>
                        <a:t>0</a:t>
                      </a:r>
                    </a:p>
                  </a:txBody>
                  <a:tcPr marL="80000" marR="80000" marT="30000" marB="30000" anchor="ctr">
                    <a:solidFill>
                      <a:srgbClr val="F8F1E0"/>
                    </a:solidFill>
                  </a:tcPr>
                </a:tc>
                <a:tc>
                  <a:txBody>
                    <a:bodyPr/>
                    <a:lstStyle/>
                    <a:p>
                      <a:pPr algn="ctr"/>
                      <a:r>
                        <a:rPr sz="1400" b="0" i="0">
                          <a:solidFill>
                            <a:srgbClr val="1A1A1A"/>
                          </a:solidFill>
                          <a:latin typeface="Times New Roman"/>
                        </a:rPr>
                        <a:t>0.001</a:t>
                      </a:r>
                    </a:p>
                  </a:txBody>
                  <a:tcPr marL="80000" marR="80000" marT="30000" marB="30000" anchor="ctr">
                    <a:solidFill>
                      <a:srgbClr val="F8F1E0"/>
                    </a:solidFill>
                  </a:tcPr>
                </a:tc>
                <a:tc>
                  <a:txBody>
                    <a:bodyPr/>
                    <a:lstStyle/>
                    <a:p>
                      <a:pPr algn="ctr"/>
                      <a:r>
                        <a:rPr sz="1400" b="1" i="0">
                          <a:solidFill>
                            <a:srgbClr val="1A1A1A"/>
                          </a:solidFill>
                          <a:latin typeface="Times New Roman"/>
                        </a:rPr>
                        <a:t>Better, 10/10 (+3.8%)</a:t>
                      </a:r>
                    </a:p>
                  </a:txBody>
                  <a:tcPr marL="80000" marR="80000" marT="30000" marB="30000" anchor="ctr">
                    <a:solidFill>
                      <a:srgbClr val="F8F1E0"/>
                    </a:solidFill>
                  </a:tcPr>
                </a:tc>
                <a:extLst>
                  <a:ext uri="{0D108BD9-81ED-4DB2-BD59-A6C34878D82A}">
                    <a16:rowId xmlns:a16="http://schemas.microsoft.com/office/drawing/2014/main" val="10002"/>
                  </a:ext>
                </a:extLst>
              </a:tr>
              <a:tr h="365760">
                <a:tc>
                  <a:txBody>
                    <a:bodyPr/>
                    <a:lstStyle/>
                    <a:p>
                      <a:pPr algn="l"/>
                      <a:r>
                        <a:rPr sz="1400" b="1" i="0">
                          <a:solidFill>
                            <a:srgbClr val="1A1A1A"/>
                          </a:solidFill>
                          <a:latin typeface="Times New Roman"/>
                        </a:rPr>
                        <a:t>R²</a:t>
                      </a:r>
                    </a:p>
                  </a:txBody>
                  <a:tcPr marL="80000" marR="80000" marT="30000" marB="30000" anchor="ctr">
                    <a:solidFill>
                      <a:srgbClr val="FFFFFF"/>
                    </a:solidFill>
                  </a:tcPr>
                </a:tc>
                <a:tc>
                  <a:txBody>
                    <a:bodyPr/>
                    <a:lstStyle/>
                    <a:p>
                      <a:pPr algn="ctr"/>
                      <a:r>
                        <a:rPr sz="1400" b="0" i="0">
                          <a:solidFill>
                            <a:srgbClr val="1A1A1A"/>
                          </a:solidFill>
                          <a:latin typeface="Times New Roman"/>
                        </a:rPr>
                        <a:t>0.188 ± 0.000</a:t>
                      </a:r>
                    </a:p>
                  </a:txBody>
                  <a:tcPr marL="80000" marR="80000" marT="30000" marB="30000" anchor="ctr">
                    <a:solidFill>
                      <a:srgbClr val="FFFFFF"/>
                    </a:solidFill>
                  </a:tcPr>
                </a:tc>
                <a:tc>
                  <a:txBody>
                    <a:bodyPr/>
                    <a:lstStyle/>
                    <a:p>
                      <a:pPr algn="ctr"/>
                      <a:r>
                        <a:rPr sz="1400" b="0" i="0">
                          <a:solidFill>
                            <a:srgbClr val="1A1A1A"/>
                          </a:solidFill>
                          <a:latin typeface="Times New Roman"/>
                        </a:rPr>
                        <a:t>0.249 ± 0.003</a:t>
                      </a:r>
                    </a:p>
                  </a:txBody>
                  <a:tcPr marL="80000" marR="80000" marT="30000" marB="30000" anchor="ctr">
                    <a:solidFill>
                      <a:srgbClr val="FFFFFF"/>
                    </a:solidFill>
                  </a:tcPr>
                </a:tc>
                <a:tc>
                  <a:txBody>
                    <a:bodyPr/>
                    <a:lstStyle/>
                    <a:p>
                      <a:pPr algn="ctr"/>
                      <a:r>
                        <a:rPr sz="1400" b="0" i="0">
                          <a:solidFill>
                            <a:srgbClr val="1A1A1A"/>
                          </a:solidFill>
                          <a:latin typeface="Times New Roman"/>
                        </a:rPr>
                        <a:t>55</a:t>
                      </a:r>
                    </a:p>
                  </a:txBody>
                  <a:tcPr marL="80000" marR="80000" marT="30000" marB="30000" anchor="ctr">
                    <a:solidFill>
                      <a:srgbClr val="FFFFFF"/>
                    </a:solidFill>
                  </a:tcPr>
                </a:tc>
                <a:tc>
                  <a:txBody>
                    <a:bodyPr/>
                    <a:lstStyle/>
                    <a:p>
                      <a:pPr algn="ctr"/>
                      <a:r>
                        <a:rPr sz="1400" b="0" i="0">
                          <a:solidFill>
                            <a:srgbClr val="1A1A1A"/>
                          </a:solidFill>
                          <a:latin typeface="Times New Roman"/>
                        </a:rPr>
                        <a:t>0.001</a:t>
                      </a:r>
                    </a:p>
                  </a:txBody>
                  <a:tcPr marL="80000" marR="80000" marT="30000" marB="30000" anchor="ctr">
                    <a:solidFill>
                      <a:srgbClr val="FFFFFF"/>
                    </a:solidFill>
                  </a:tcPr>
                </a:tc>
                <a:tc>
                  <a:txBody>
                    <a:bodyPr/>
                    <a:lstStyle/>
                    <a:p>
                      <a:pPr algn="ctr"/>
                      <a:r>
                        <a:rPr sz="1400" b="1" i="0">
                          <a:solidFill>
                            <a:srgbClr val="1A1A1A"/>
                          </a:solidFill>
                          <a:latin typeface="Times New Roman"/>
                        </a:rPr>
                        <a:t>Better, 10/10 (+32.5%)</a:t>
                      </a:r>
                    </a:p>
                  </a:txBody>
                  <a:tcPr marL="80000" marR="80000" marT="30000" marB="30000" anchor="ctr">
                    <a:solidFill>
                      <a:srgbClr val="FFFFFF"/>
                    </a:solidFill>
                  </a:tcPr>
                </a:tc>
                <a:extLst>
                  <a:ext uri="{0D108BD9-81ED-4DB2-BD59-A6C34878D82A}">
                    <a16:rowId xmlns:a16="http://schemas.microsoft.com/office/drawing/2014/main" val="10003"/>
                  </a:ext>
                </a:extLst>
              </a:tr>
            </a:tbl>
          </a:graphicData>
        </a:graphic>
      </p:graphicFrame>
      <p:sp>
        <p:nvSpPr>
          <p:cNvPr id="12" name="Reading card"/>
          <p:cNvSpPr/>
          <p:nvPr/>
        </p:nvSpPr>
        <p:spPr>
          <a:xfrm>
            <a:off x="1499616" y="4434840"/>
            <a:ext cx="8796528" cy="169164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ading text"/>
          <p:cNvSpPr txBox="1"/>
          <p:nvPr/>
        </p:nvSpPr>
        <p:spPr>
          <a:xfrm>
            <a:off x="1682495" y="4544568"/>
            <a:ext cx="8430767" cy="1508760"/>
          </a:xfrm>
          <a:prstGeom prst="rect">
            <a:avLst/>
          </a:prstGeom>
          <a:noFill/>
        </p:spPr>
        <p:txBody>
          <a:bodyPr wrap="square" lIns="0" tIns="0" rIns="0" bIns="0" anchor="t">
            <a:spAutoFit/>
          </a:bodyPr>
          <a:lstStyle/>
          <a:p>
            <a:pPr algn="l">
              <a:spcAft>
                <a:spcPts val="500"/>
              </a:spcAft>
            </a:pPr>
            <a:r>
              <a:rPr sz="1400" b="0" i="0">
                <a:solidFill>
                  <a:srgbClr val="1A1A1A"/>
                </a:solidFill>
                <a:latin typeface="Times New Roman"/>
              </a:rPr>
              <a:t>• </a:t>
            </a:r>
            <a:r>
              <a:rPr sz="1400" b="1" i="0">
                <a:solidFill>
                  <a:srgbClr val="1A1A1A"/>
                </a:solidFill>
                <a:latin typeface="Times New Roman"/>
              </a:rPr>
              <a:t>Test: </a:t>
            </a:r>
            <a:r>
              <a:rPr sz="1400" b="0" i="0">
                <a:solidFill>
                  <a:srgbClr val="1A1A1A"/>
                </a:solidFill>
                <a:latin typeface="Times New Roman"/>
              </a:rPr>
              <a:t>One-tailed Wilcoxon signed-rank test over 10 paired runs (seeds 42 to 51), α = 0.05. Values are mean ± SD.</a:t>
            </a:r>
          </a:p>
          <a:p>
            <a:pPr algn="l">
              <a:spcAft>
                <a:spcPts val="500"/>
              </a:spcAft>
            </a:pPr>
            <a:r>
              <a:rPr sz="1400" b="0" i="0">
                <a:solidFill>
                  <a:srgbClr val="1A1A1A"/>
                </a:solidFill>
                <a:latin typeface="Times New Roman"/>
              </a:rPr>
              <a:t>• </a:t>
            </a:r>
            <a:r>
              <a:rPr sz="1400" b="1" i="0">
                <a:solidFill>
                  <a:srgbClr val="1A1A1A"/>
                </a:solidFill>
                <a:latin typeface="Times New Roman"/>
              </a:rPr>
              <a:t>Result: </a:t>
            </a:r>
            <a:r>
              <a:rPr sz="1400" b="0" i="0">
                <a:solidFill>
                  <a:srgbClr val="1A1A1A"/>
                </a:solidFill>
                <a:latin typeface="Times New Roman"/>
              </a:rPr>
              <a:t>Full XGBoost beat persistence in 10 of 10 runs on all three metrics. With 10 runs, p = 0.001 is the smallest p the test can give.</a:t>
            </a:r>
          </a:p>
          <a:p>
            <a:pPr algn="l">
              <a:spcAft>
                <a:spcPts val="500"/>
              </a:spcAft>
            </a:pPr>
            <a:r>
              <a:rPr sz="1400" b="0" i="0">
                <a:solidFill>
                  <a:srgbClr val="1A1A1A"/>
                </a:solidFill>
                <a:latin typeface="Times New Roman"/>
              </a:rPr>
              <a:t>• </a:t>
            </a:r>
            <a:r>
              <a:rPr sz="1400" b="1" i="0">
                <a:solidFill>
                  <a:srgbClr val="1A1A1A"/>
                </a:solidFill>
                <a:latin typeface="Times New Roman"/>
              </a:rPr>
              <a:t>Limit: </a:t>
            </a:r>
            <a:r>
              <a:rPr sz="1400" b="0" i="0">
                <a:solidFill>
                  <a:srgbClr val="1A1A1A"/>
                </a:solidFill>
                <a:latin typeface="Times New Roman"/>
              </a:rPr>
              <a:t>Persistence is fixed (SD = 0), so the spread is XGBoost's seed only. This shows consistency across seeds, not performance on other years.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1500000" y="540000"/>
            <a:ext cx="8800000" cy="900000"/>
          </a:xfrm>
          <a:prstGeom prst="rect">
            <a:avLst/>
          </a:prstGeom>
          <a:noFill/>
        </p:spPr>
        <p:txBody>
          <a:bodyPr wrap="square" lIns="0" tIns="0" rIns="0" bIns="0" anchor="b">
            <a:spAutoFit/>
          </a:bodyPr>
          <a:lstStyle/>
          <a:p>
            <a:pPr algn="l">
              <a:spcAft>
                <a:spcPts val="0"/>
              </a:spcAft>
            </a:pPr>
            <a:r>
              <a:rPr sz="2800" b="1" i="0">
                <a:solidFill>
                  <a:srgbClr val="1A1A1A"/>
                </a:solidFill>
                <a:latin typeface="Times New Roman"/>
              </a:rPr>
              <a:t>Results and Discussion</a:t>
            </a:r>
          </a:p>
        </p:txBody>
      </p:sp>
      <p:sp>
        <p:nvSpPr>
          <p:cNvPr id="7"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RQ1 · Results: actual vs predicted, 2020 test</a:t>
            </a:r>
          </a:p>
        </p:txBody>
      </p:sp>
      <p:sp>
        <p:nvSpPr>
          <p:cNvPr id="8" name="RQ banner"/>
          <p:cNvSpPr/>
          <p:nvPr/>
        </p:nvSpPr>
        <p:spPr>
          <a:xfrm>
            <a:off x="1499616" y="1920240"/>
            <a:ext cx="8796528" cy="73152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Q label"/>
          <p:cNvSpPr/>
          <p:nvPr/>
        </p:nvSpPr>
        <p:spPr>
          <a:xfrm>
            <a:off x="1627631" y="2103120"/>
            <a:ext cx="731520" cy="365760"/>
          </a:xfrm>
          <a:prstGeom prst="roundRect">
            <a:avLst>
              <a:gd name="adj" fmla="val 5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500" b="1" i="0">
                <a:solidFill>
                  <a:srgbClr val="1A1A1A"/>
                </a:solidFill>
                <a:latin typeface="Times New Roman"/>
              </a:rPr>
              <a:t>RQ1</a:t>
            </a:r>
          </a:p>
        </p:txBody>
      </p:sp>
      <p:sp>
        <p:nvSpPr>
          <p:cNvPr id="10" name="RQ text"/>
          <p:cNvSpPr txBox="1"/>
          <p:nvPr/>
        </p:nvSpPr>
        <p:spPr>
          <a:xfrm>
            <a:off x="2505456" y="2079701"/>
            <a:ext cx="7653527" cy="430887"/>
          </a:xfrm>
          <a:prstGeom prst="rect">
            <a:avLst/>
          </a:prstGeom>
          <a:noFill/>
        </p:spPr>
        <p:txBody>
          <a:bodyPr wrap="square" lIns="0" tIns="0" rIns="0" bIns="0" anchor="ctr">
            <a:spAutoFit/>
          </a:bodyPr>
          <a:lstStyle/>
          <a:p>
            <a:r>
              <a:rPr lang="en-US" sz="1400" dirty="0">
                <a:solidFill>
                  <a:srgbClr val="4A4A4A"/>
                </a:solidFill>
                <a:latin typeface="Times New Roman"/>
                <a:cs typeface="Times New Roman"/>
              </a:rPr>
              <a:t>To what extent does the proposed Autoregressive Residual </a:t>
            </a:r>
            <a:r>
              <a:rPr lang="en-US" sz="1400" dirty="0" err="1">
                <a:solidFill>
                  <a:srgbClr val="4A4A4A"/>
                </a:solidFill>
                <a:latin typeface="Times New Roman"/>
                <a:cs typeface="Times New Roman"/>
              </a:rPr>
              <a:t>XGBoost</a:t>
            </a:r>
            <a:r>
              <a:rPr lang="en-US" sz="1400" dirty="0">
                <a:solidFill>
                  <a:srgbClr val="4A4A4A"/>
                </a:solidFill>
                <a:latin typeface="Times New Roman"/>
                <a:cs typeface="Times New Roman"/>
              </a:rPr>
              <a:t> model improve forecast accuracy over the naive persistence baseline on the held-out test set?</a:t>
            </a:r>
          </a:p>
        </p:txBody>
      </p:sp>
      <p:pic>
        <p:nvPicPr>
          <p:cNvPr id="11" name="Actual vs predicted figure" descr="avp_crop.png"/>
          <p:cNvPicPr>
            <a:picLocks noChangeAspect="1"/>
          </p:cNvPicPr>
          <p:nvPr/>
        </p:nvPicPr>
        <p:blipFill>
          <a:blip r:embed="rId3"/>
          <a:stretch>
            <a:fillRect/>
          </a:stretch>
        </p:blipFill>
        <p:spPr>
          <a:xfrm>
            <a:off x="1499616" y="2788920"/>
            <a:ext cx="5989320" cy="3248054"/>
          </a:xfrm>
          <a:prstGeom prst="rect">
            <a:avLst/>
          </a:prstGeom>
        </p:spPr>
      </p:pic>
      <p:sp>
        <p:nvSpPr>
          <p:cNvPr id="12" name="Reading card"/>
          <p:cNvSpPr/>
          <p:nvPr/>
        </p:nvSpPr>
        <p:spPr>
          <a:xfrm>
            <a:off x="7671815" y="2788920"/>
            <a:ext cx="2624328" cy="329184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igure notes"/>
          <p:cNvSpPr txBox="1"/>
          <p:nvPr/>
        </p:nvSpPr>
        <p:spPr>
          <a:xfrm>
            <a:off x="7808975" y="2898648"/>
            <a:ext cx="2350008" cy="2262158"/>
          </a:xfrm>
          <a:prstGeom prst="rect">
            <a:avLst/>
          </a:prstGeom>
          <a:noFill/>
        </p:spPr>
        <p:txBody>
          <a:bodyPr wrap="square" lIns="0" tIns="0" rIns="0" bIns="0" anchor="t">
            <a:spAutoFit/>
          </a:bodyPr>
          <a:lstStyle/>
          <a:p>
            <a:pPr algn="l">
              <a:spcAft>
                <a:spcPts val="600"/>
              </a:spcAft>
            </a:pPr>
            <a:r>
              <a:rPr sz="1500" b="1" i="0" dirty="0">
                <a:solidFill>
                  <a:srgbClr val="2F5597"/>
                </a:solidFill>
                <a:latin typeface="Times New Roman"/>
              </a:rPr>
              <a:t>Reading the figure</a:t>
            </a:r>
          </a:p>
          <a:p>
            <a:pPr algn="l">
              <a:spcAft>
                <a:spcPts val="600"/>
              </a:spcAft>
            </a:pPr>
            <a:r>
              <a:rPr sz="1300" b="0" i="0" dirty="0">
                <a:solidFill>
                  <a:srgbClr val="1A1A1A"/>
                </a:solidFill>
                <a:latin typeface="Times New Roman"/>
              </a:rPr>
              <a:t>• Solid = actual, dashed = forecast; one panel per model.</a:t>
            </a:r>
          </a:p>
          <a:p>
            <a:pPr algn="l">
              <a:spcAft>
                <a:spcPts val="600"/>
              </a:spcAft>
            </a:pPr>
            <a:r>
              <a:rPr sz="1300" b="0" i="0" dirty="0">
                <a:solidFill>
                  <a:srgbClr val="1A1A1A"/>
                </a:solidFill>
                <a:latin typeface="Times New Roman"/>
              </a:rPr>
              <a:t>• An </a:t>
            </a:r>
            <a:r>
              <a:rPr sz="1300" b="0" i="0" dirty="0" err="1">
                <a:solidFill>
                  <a:srgbClr val="1A1A1A"/>
                </a:solidFill>
                <a:latin typeface="Times New Roman"/>
              </a:rPr>
              <a:t>XGBoost</a:t>
            </a:r>
            <a:r>
              <a:rPr sz="1300" b="0" i="0" dirty="0">
                <a:solidFill>
                  <a:srgbClr val="1A1A1A"/>
                </a:solidFill>
                <a:latin typeface="Times New Roman"/>
              </a:rPr>
              <a:t> forecast is the last count plus a shrunken correction (</a:t>
            </a:r>
            <a:r>
              <a:rPr lang="en-SG" sz="1300" b="0" i="0" dirty="0">
                <a:solidFill>
                  <a:srgbClr val="1A1A1A"/>
                </a:solidFill>
                <a:latin typeface="Times New Roman"/>
              </a:rPr>
              <a:t>shrinkage = 0.3</a:t>
            </a:r>
            <a:r>
              <a:rPr sz="1300" b="0" i="0" dirty="0">
                <a:solidFill>
                  <a:srgbClr val="1A1A1A"/>
                </a:solidFill>
                <a:latin typeface="Times New Roman"/>
              </a:rPr>
              <a:t>), so it stays close to persistence.</a:t>
            </a:r>
          </a:p>
          <a:p>
            <a:pPr algn="l">
              <a:spcAft>
                <a:spcPts val="600"/>
              </a:spcAft>
            </a:pPr>
            <a:r>
              <a:rPr sz="1300" b="0" i="0" dirty="0">
                <a:solidFill>
                  <a:srgbClr val="1A1A1A"/>
                </a:solidFill>
                <a:latin typeface="Times New Roman"/>
              </a:rPr>
              <a:t>• All three follow the January to March decline; none anticipates the mid-June jump in Davao.</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1500000" y="540000"/>
            <a:ext cx="8800000" cy="900000"/>
          </a:xfrm>
          <a:prstGeom prst="rect">
            <a:avLst/>
          </a:prstGeom>
          <a:noFill/>
        </p:spPr>
        <p:txBody>
          <a:bodyPr wrap="square" lIns="0" tIns="0" rIns="0" bIns="0" anchor="b">
            <a:spAutoFit/>
          </a:bodyPr>
          <a:lstStyle/>
          <a:p>
            <a:pPr algn="l">
              <a:spcAft>
                <a:spcPts val="0"/>
              </a:spcAft>
            </a:pPr>
            <a:r>
              <a:rPr sz="2800" b="1" i="0">
                <a:solidFill>
                  <a:srgbClr val="1A1A1A"/>
                </a:solidFill>
                <a:latin typeface="Times New Roman"/>
              </a:rPr>
              <a:t>Results and Discussion</a:t>
            </a:r>
          </a:p>
        </p:txBody>
      </p:sp>
      <p:sp>
        <p:nvSpPr>
          <p:cNvPr id="7"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RQ1 · Discussion and related literature</a:t>
            </a:r>
          </a:p>
        </p:txBody>
      </p:sp>
      <p:sp>
        <p:nvSpPr>
          <p:cNvPr id="8" name="RQ banner"/>
          <p:cNvSpPr/>
          <p:nvPr/>
        </p:nvSpPr>
        <p:spPr>
          <a:xfrm>
            <a:off x="1499616" y="1920240"/>
            <a:ext cx="8796528" cy="73152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Q label"/>
          <p:cNvSpPr/>
          <p:nvPr/>
        </p:nvSpPr>
        <p:spPr>
          <a:xfrm>
            <a:off x="1627631" y="2103120"/>
            <a:ext cx="731520" cy="365760"/>
          </a:xfrm>
          <a:prstGeom prst="roundRect">
            <a:avLst>
              <a:gd name="adj" fmla="val 5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500" b="1" i="0">
                <a:solidFill>
                  <a:srgbClr val="1A1A1A"/>
                </a:solidFill>
                <a:latin typeface="Times New Roman"/>
              </a:rPr>
              <a:t>RQ1</a:t>
            </a:r>
          </a:p>
        </p:txBody>
      </p:sp>
      <p:sp>
        <p:nvSpPr>
          <p:cNvPr id="10" name="RQ text"/>
          <p:cNvSpPr txBox="1"/>
          <p:nvPr/>
        </p:nvSpPr>
        <p:spPr>
          <a:xfrm>
            <a:off x="2505456" y="2011680"/>
            <a:ext cx="7653527" cy="566928"/>
          </a:xfrm>
          <a:prstGeom prst="rect">
            <a:avLst/>
          </a:prstGeom>
          <a:noFill/>
        </p:spPr>
        <p:txBody>
          <a:bodyPr wrap="square" lIns="0" tIns="0" rIns="0" bIns="0" anchor="ctr">
            <a:spAutoFit/>
          </a:bodyPr>
          <a:lstStyle/>
          <a:p>
            <a:pPr algn="l">
              <a:spcAft>
                <a:spcPts val="0"/>
              </a:spcAft>
            </a:pPr>
            <a:r>
              <a:rPr sz="1400" b="0" i="0">
                <a:solidFill>
                  <a:srgbClr val="1A1A1A"/>
                </a:solidFill>
                <a:latin typeface="Times New Roman"/>
              </a:rPr>
              <a:t>How accurately do machine learning models forecast weekly dengue cases in Mindanao cities at a short horizon, and do they outperform a persistence baseline?</a:t>
            </a:r>
          </a:p>
        </p:txBody>
      </p:sp>
      <p:sp>
        <p:nvSpPr>
          <p:cNvPr id="11" name="Discussion card"/>
          <p:cNvSpPr/>
          <p:nvPr/>
        </p:nvSpPr>
        <p:spPr>
          <a:xfrm>
            <a:off x="1499616" y="2788920"/>
            <a:ext cx="5212080" cy="333756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ill"/>
          <p:cNvSpPr/>
          <p:nvPr/>
        </p:nvSpPr>
        <p:spPr>
          <a:xfrm>
            <a:off x="1636775" y="2898648"/>
            <a:ext cx="1463040" cy="329184"/>
          </a:xfrm>
          <a:prstGeom prst="roundRect">
            <a:avLst>
              <a:gd name="adj" fmla="val 50000"/>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400" b="1" i="0">
                <a:solidFill>
                  <a:srgbClr val="FFFFFF"/>
                </a:solidFill>
                <a:latin typeface="Times New Roman"/>
              </a:rPr>
              <a:t>Discussion</a:t>
            </a:r>
          </a:p>
        </p:txBody>
      </p:sp>
      <p:sp>
        <p:nvSpPr>
          <p:cNvPr id="13" name="Discussion text"/>
          <p:cNvSpPr txBox="1"/>
          <p:nvPr/>
        </p:nvSpPr>
        <p:spPr>
          <a:xfrm>
            <a:off x="1664207" y="3355848"/>
            <a:ext cx="4882896" cy="2385268"/>
          </a:xfrm>
          <a:prstGeom prst="rect">
            <a:avLst/>
          </a:prstGeom>
          <a:noFill/>
        </p:spPr>
        <p:txBody>
          <a:bodyPr wrap="square" lIns="0" tIns="0" rIns="0" bIns="0" anchor="t">
            <a:spAutoFit/>
          </a:bodyPr>
          <a:lstStyle/>
          <a:p>
            <a:pPr algn="l">
              <a:spcAft>
                <a:spcPts val="600"/>
              </a:spcAft>
            </a:pPr>
            <a:r>
              <a:rPr sz="1400" b="0" i="0" dirty="0">
                <a:solidFill>
                  <a:srgbClr val="1A1A1A"/>
                </a:solidFill>
                <a:latin typeface="Times New Roman"/>
              </a:rPr>
              <a:t>• </a:t>
            </a:r>
            <a:r>
              <a:rPr lang="en-US" sz="1400" b="1" dirty="0">
                <a:solidFill>
                  <a:srgbClr val="1A1A1A"/>
                </a:solidFill>
                <a:latin typeface="Times New Roman"/>
              </a:rPr>
              <a:t>Finding</a:t>
            </a:r>
            <a:r>
              <a:rPr lang="en-US" sz="1400" b="1" i="0" dirty="0">
                <a:solidFill>
                  <a:srgbClr val="1A1A1A"/>
                </a:solidFill>
                <a:latin typeface="Times New Roman"/>
              </a:rPr>
              <a:t>: </a:t>
            </a:r>
            <a:r>
              <a:rPr lang="en-US" sz="1400" b="0" i="0" dirty="0">
                <a:solidFill>
                  <a:srgbClr val="1A1A1A"/>
                </a:solidFill>
                <a:latin typeface="Times New Roman"/>
              </a:rPr>
              <a:t>Full </a:t>
            </a:r>
            <a:r>
              <a:rPr lang="en-US" sz="1400" b="0" i="0" dirty="0" err="1">
                <a:solidFill>
                  <a:srgbClr val="1A1A1A"/>
                </a:solidFill>
                <a:latin typeface="Times New Roman"/>
              </a:rPr>
              <a:t>XGBoost</a:t>
            </a:r>
            <a:r>
              <a:rPr lang="en-US" sz="1400" b="0" i="0" dirty="0">
                <a:solidFill>
                  <a:srgbClr val="1A1A1A"/>
                </a:solidFill>
                <a:latin typeface="Times New Roman"/>
              </a:rPr>
              <a:t> achieved consistent, statistically significant error reductions over Persistence (MAE 5.94 vs 6.01, RMSE 8.77 vs 9.25, R² 0.271 vs 0.188; p = 0.0010 in 10/10 runs).</a:t>
            </a:r>
          </a:p>
          <a:p>
            <a:pPr algn="l">
              <a:spcAft>
                <a:spcPts val="600"/>
              </a:spcAft>
            </a:pPr>
            <a:r>
              <a:rPr lang="en-US" sz="1400" b="0" i="0" dirty="0">
                <a:solidFill>
                  <a:srgbClr val="1A1A1A"/>
                </a:solidFill>
                <a:latin typeface="Times New Roman"/>
              </a:rPr>
              <a:t>• </a:t>
            </a:r>
            <a:r>
              <a:rPr lang="en-US" sz="1400" b="1" i="0" dirty="0">
                <a:solidFill>
                  <a:srgbClr val="1A1A1A"/>
                </a:solidFill>
                <a:latin typeface="Times New Roman"/>
              </a:rPr>
              <a:t>Size: </a:t>
            </a:r>
            <a:r>
              <a:rPr lang="en-US" sz="1400" b="0" i="0" dirty="0">
                <a:solidFill>
                  <a:srgbClr val="1A1A1A"/>
                </a:solidFill>
                <a:latin typeface="Times New Roman"/>
              </a:rPr>
              <a:t>About 1% on MAE in the tuned run and 3.2% in the 10-run benchmark; the 95% ranges overlap.</a:t>
            </a:r>
          </a:p>
          <a:p>
            <a:pPr algn="l">
              <a:spcAft>
                <a:spcPts val="600"/>
              </a:spcAft>
            </a:pPr>
            <a:r>
              <a:rPr sz="1400" b="0" i="0" dirty="0">
                <a:solidFill>
                  <a:srgbClr val="1A1A1A"/>
                </a:solidFill>
                <a:latin typeface="Times New Roman"/>
              </a:rPr>
              <a:t>• </a:t>
            </a:r>
            <a:r>
              <a:rPr sz="1400" b="1" i="0" dirty="0">
                <a:solidFill>
                  <a:srgbClr val="1A1A1A"/>
                </a:solidFill>
                <a:latin typeface="Times New Roman"/>
              </a:rPr>
              <a:t>Why it is hard: </a:t>
            </a:r>
            <a:r>
              <a:rPr sz="1400" b="0" i="0" dirty="0">
                <a:solidFill>
                  <a:srgbClr val="1A1A1A"/>
                </a:solidFill>
                <a:latin typeface="Times New Roman"/>
              </a:rPr>
              <a:t>Weekly counts are strongly autocorrelated, so the latest count already holds most of the signal. Anchoring </a:t>
            </a:r>
            <a:r>
              <a:rPr sz="1400" b="0" i="0" dirty="0" err="1">
                <a:solidFill>
                  <a:srgbClr val="1A1A1A"/>
                </a:solidFill>
                <a:latin typeface="Times New Roman"/>
              </a:rPr>
              <a:t>XGBoost</a:t>
            </a:r>
            <a:r>
              <a:rPr sz="1400" b="0" i="0" dirty="0">
                <a:solidFill>
                  <a:srgbClr val="1A1A1A"/>
                </a:solidFill>
                <a:latin typeface="Times New Roman"/>
              </a:rPr>
              <a:t> to it and learning only a shrunken change keeps that signal.</a:t>
            </a:r>
          </a:p>
          <a:p>
            <a:pPr algn="l">
              <a:spcAft>
                <a:spcPts val="600"/>
              </a:spcAft>
            </a:pPr>
            <a:r>
              <a:rPr sz="1400" b="0" i="0" dirty="0">
                <a:solidFill>
                  <a:srgbClr val="1A1A1A"/>
                </a:solidFill>
                <a:latin typeface="Times New Roman"/>
              </a:rPr>
              <a:t>• </a:t>
            </a:r>
            <a:r>
              <a:rPr sz="1400" b="1" i="0" dirty="0">
                <a:solidFill>
                  <a:srgbClr val="1A1A1A"/>
                </a:solidFill>
                <a:latin typeface="Times New Roman"/>
              </a:rPr>
              <a:t>Contrast: </a:t>
            </a:r>
            <a:r>
              <a:rPr sz="1400" b="0" i="0" dirty="0">
                <a:solidFill>
                  <a:srgbClr val="1A1A1A"/>
                </a:solidFill>
                <a:latin typeface="Times New Roman"/>
              </a:rPr>
              <a:t>An earlier raw-count </a:t>
            </a:r>
            <a:r>
              <a:rPr sz="1400" b="0" i="0" dirty="0" err="1">
                <a:solidFill>
                  <a:srgbClr val="1A1A1A"/>
                </a:solidFill>
                <a:latin typeface="Times New Roman"/>
              </a:rPr>
              <a:t>XGBoost</a:t>
            </a:r>
            <a:r>
              <a:rPr sz="1400" b="0" i="0" dirty="0">
                <a:solidFill>
                  <a:srgbClr val="1A1A1A"/>
                </a:solidFill>
                <a:latin typeface="Times New Roman"/>
              </a:rPr>
              <a:t> lost badly to persistence (MAE 20.85 vs 6.01).</a:t>
            </a:r>
          </a:p>
        </p:txBody>
      </p:sp>
      <p:sp>
        <p:nvSpPr>
          <p:cNvPr id="14" name="Literature card"/>
          <p:cNvSpPr/>
          <p:nvPr/>
        </p:nvSpPr>
        <p:spPr>
          <a:xfrm>
            <a:off x="6894576" y="2788920"/>
            <a:ext cx="3401567" cy="333756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Literature label"/>
          <p:cNvSpPr/>
          <p:nvPr/>
        </p:nvSpPr>
        <p:spPr>
          <a:xfrm>
            <a:off x="7031736" y="2898648"/>
            <a:ext cx="1920240" cy="32918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400" b="1" i="0">
                <a:solidFill>
                  <a:srgbClr val="FFFFFF"/>
                </a:solidFill>
                <a:latin typeface="Times New Roman"/>
              </a:rPr>
              <a:t>Related literature</a:t>
            </a:r>
          </a:p>
        </p:txBody>
      </p:sp>
      <p:sp>
        <p:nvSpPr>
          <p:cNvPr id="16" name="Literature text"/>
          <p:cNvSpPr txBox="1"/>
          <p:nvPr/>
        </p:nvSpPr>
        <p:spPr>
          <a:xfrm>
            <a:off x="7059168" y="3355848"/>
            <a:ext cx="3072383" cy="2679191"/>
          </a:xfrm>
          <a:prstGeom prst="rect">
            <a:avLst/>
          </a:prstGeom>
          <a:noFill/>
        </p:spPr>
        <p:txBody>
          <a:bodyPr wrap="square" lIns="0" tIns="0" rIns="0" bIns="0" anchor="t">
            <a:spAutoFit/>
          </a:bodyPr>
          <a:lstStyle/>
          <a:p>
            <a:pPr algn="l">
              <a:spcAft>
                <a:spcPts val="600"/>
              </a:spcAft>
            </a:pPr>
            <a:r>
              <a:rPr sz="1400" b="1" i="0">
                <a:solidFill>
                  <a:srgbClr val="2F5597"/>
                </a:solidFill>
                <a:latin typeface="Times New Roman"/>
              </a:rPr>
              <a:t>Johansson et al. (2016): </a:t>
            </a:r>
            <a:r>
              <a:rPr sz="1400" b="0" i="0">
                <a:solidFill>
                  <a:srgbClr val="1A1A1A"/>
                </a:solidFill>
                <a:latin typeface="Times New Roman"/>
              </a:rPr>
              <a:t>for dengue in Mexico, short-term autocorrelation was key to short-horizon forecasts.</a:t>
            </a:r>
          </a:p>
          <a:p>
            <a:pPr algn="l">
              <a:spcAft>
                <a:spcPts val="600"/>
              </a:spcAft>
            </a:pPr>
            <a:r>
              <a:rPr sz="1400" b="1" i="0">
                <a:solidFill>
                  <a:srgbClr val="2F5597"/>
                </a:solidFill>
                <a:latin typeface="Times New Roman"/>
              </a:rPr>
              <a:t>Hyndman &amp; Athanasopoulos (2018): </a:t>
            </a:r>
            <a:r>
              <a:rPr sz="1400" b="0" i="0">
                <a:solidFill>
                  <a:srgbClr val="1A1A1A"/>
                </a:solidFill>
                <a:latin typeface="Times New Roman"/>
              </a:rPr>
              <a:t>the naïve forecast is the benchmark a method should beat.</a:t>
            </a:r>
          </a:p>
          <a:p>
            <a:pPr algn="l">
              <a:spcAft>
                <a:spcPts val="600"/>
              </a:spcAft>
            </a:pPr>
            <a:r>
              <a:rPr sz="1400" b="1" i="0">
                <a:solidFill>
                  <a:srgbClr val="2F5597"/>
                </a:solidFill>
                <a:latin typeface="Times New Roman"/>
              </a:rPr>
              <a:t>Carvajal et al. (2018): </a:t>
            </a:r>
            <a:r>
              <a:rPr sz="1400" b="0" i="0">
                <a:solidFill>
                  <a:srgbClr val="1A1A1A"/>
                </a:solidFill>
                <a:latin typeface="Times New Roman"/>
              </a:rPr>
              <a:t>of four models for Metro Manila dengue, random forest with lagged weather predicted best.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1500000" y="540000"/>
            <a:ext cx="8800000" cy="900000"/>
          </a:xfrm>
          <a:prstGeom prst="rect">
            <a:avLst/>
          </a:prstGeom>
          <a:noFill/>
        </p:spPr>
        <p:txBody>
          <a:bodyPr wrap="square" lIns="0" tIns="0" rIns="0" bIns="0" anchor="b">
            <a:spAutoFit/>
          </a:bodyPr>
          <a:lstStyle/>
          <a:p>
            <a:pPr algn="l">
              <a:spcAft>
                <a:spcPts val="0"/>
              </a:spcAft>
            </a:pPr>
            <a:r>
              <a:rPr sz="2800" b="1" i="0">
                <a:solidFill>
                  <a:srgbClr val="1A1A1A"/>
                </a:solidFill>
                <a:latin typeface="Times New Roman"/>
              </a:rPr>
              <a:t>Results and Discussion</a:t>
            </a:r>
          </a:p>
        </p:txBody>
      </p:sp>
      <p:sp>
        <p:nvSpPr>
          <p:cNvPr id="7"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RQ2 · Results: case-only vs full XGBoost (weather ablation)</a:t>
            </a:r>
          </a:p>
        </p:txBody>
      </p:sp>
      <p:sp>
        <p:nvSpPr>
          <p:cNvPr id="8" name="RQ banner"/>
          <p:cNvSpPr/>
          <p:nvPr/>
        </p:nvSpPr>
        <p:spPr>
          <a:xfrm>
            <a:off x="1499616" y="1920240"/>
            <a:ext cx="8796528" cy="73152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Q label"/>
          <p:cNvSpPr/>
          <p:nvPr/>
        </p:nvSpPr>
        <p:spPr>
          <a:xfrm>
            <a:off x="1627631" y="2103120"/>
            <a:ext cx="731520" cy="365760"/>
          </a:xfrm>
          <a:prstGeom prst="roundRect">
            <a:avLst>
              <a:gd name="adj" fmla="val 50000"/>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500" b="1" i="0">
                <a:solidFill>
                  <a:srgbClr val="FFFFFF"/>
                </a:solidFill>
                <a:latin typeface="Times New Roman"/>
              </a:rPr>
              <a:t>RQ2</a:t>
            </a:r>
          </a:p>
        </p:txBody>
      </p:sp>
      <p:sp>
        <p:nvSpPr>
          <p:cNvPr id="10" name="RQ text"/>
          <p:cNvSpPr txBox="1"/>
          <p:nvPr/>
        </p:nvSpPr>
        <p:spPr>
          <a:xfrm>
            <a:off x="2505456" y="2079701"/>
            <a:ext cx="7653527" cy="430887"/>
          </a:xfrm>
          <a:prstGeom prst="rect">
            <a:avLst/>
          </a:prstGeom>
          <a:noFill/>
        </p:spPr>
        <p:txBody>
          <a:bodyPr wrap="square" lIns="0" tIns="0" rIns="0" bIns="0" anchor="ctr">
            <a:spAutoFit/>
          </a:bodyPr>
          <a:lstStyle/>
          <a:p>
            <a:r>
              <a:rPr lang="en-US" sz="1400" dirty="0">
                <a:solidFill>
                  <a:srgbClr val="4A4A4A"/>
                </a:solidFill>
                <a:latin typeface="Times New Roman"/>
                <a:cs typeface="Times New Roman"/>
              </a:rPr>
              <a:t>What is the marginal predictive contribution of lagged meteorological and bioclimatic features when added to recent dengue case history alone?</a:t>
            </a:r>
          </a:p>
        </p:txBody>
      </p:sp>
      <p:graphicFrame>
        <p:nvGraphicFramePr>
          <p:cNvPr id="11" name="Ablation chart"/>
          <p:cNvGraphicFramePr>
            <a:graphicFrameLocks noGrp="1"/>
          </p:cNvGraphicFramePr>
          <p:nvPr/>
        </p:nvGraphicFramePr>
        <p:xfrm>
          <a:off x="1499616" y="2743200"/>
          <a:ext cx="434340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2" name="Chart note"/>
          <p:cNvSpPr txBox="1"/>
          <p:nvPr/>
        </p:nvSpPr>
        <p:spPr>
          <a:xfrm>
            <a:off x="1499616" y="5852160"/>
            <a:ext cx="4343400" cy="274320"/>
          </a:xfrm>
          <a:prstGeom prst="rect">
            <a:avLst/>
          </a:prstGeom>
          <a:noFill/>
        </p:spPr>
        <p:txBody>
          <a:bodyPr wrap="square" lIns="0" tIns="0" rIns="0" bIns="0" anchor="t">
            <a:spAutoFit/>
          </a:bodyPr>
          <a:lstStyle/>
          <a:p>
            <a:pPr algn="l">
              <a:spcAft>
                <a:spcPts val="400"/>
              </a:spcAft>
            </a:pPr>
            <a:r>
              <a:rPr sz="1200" b="0" i="0">
                <a:solidFill>
                  <a:srgbClr val="4A4A4A"/>
                </a:solidFill>
                <a:latin typeface="Times New Roman"/>
              </a:rPr>
              <a:t>10-run mean, fixed settings. Lower is better.</a:t>
            </a:r>
          </a:p>
        </p:txBody>
      </p:sp>
      <p:graphicFrame>
        <p:nvGraphicFramePr>
          <p:cNvPr id="13" name="Ablation table"/>
          <p:cNvGraphicFramePr>
            <a:graphicFrameLocks noGrp="1"/>
          </p:cNvGraphicFramePr>
          <p:nvPr/>
        </p:nvGraphicFramePr>
        <p:xfrm>
          <a:off x="6025896" y="2788920"/>
          <a:ext cx="4306824" cy="1463040"/>
        </p:xfrm>
        <a:graphic>
          <a:graphicData uri="http://schemas.openxmlformats.org/drawingml/2006/table">
            <a:tbl>
              <a:tblPr firstRow="1"/>
              <a:tblGrid>
                <a:gridCol w="8229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740664">
                  <a:extLst>
                    <a:ext uri="{9D8B030D-6E8A-4147-A177-3AD203B41FA5}">
                      <a16:colId xmlns:a16="http://schemas.microsoft.com/office/drawing/2014/main" val="20003"/>
                    </a:ext>
                  </a:extLst>
                </a:gridCol>
              </a:tblGrid>
              <a:tr h="365760">
                <a:tc>
                  <a:txBody>
                    <a:bodyPr/>
                    <a:lstStyle/>
                    <a:p>
                      <a:pPr algn="l"/>
                      <a:r>
                        <a:rPr sz="1200" b="1" i="0">
                          <a:solidFill>
                            <a:srgbClr val="FFFFFF"/>
                          </a:solidFill>
                          <a:latin typeface="Times New Roman"/>
                        </a:rPr>
                        <a:t>Metric</a:t>
                      </a:r>
                    </a:p>
                  </a:txBody>
                  <a:tcPr marL="80000" marR="80000" marT="30000" marB="30000" anchor="ctr">
                    <a:solidFill>
                      <a:srgbClr val="2F5597"/>
                    </a:solidFill>
                  </a:tcPr>
                </a:tc>
                <a:tc>
                  <a:txBody>
                    <a:bodyPr/>
                    <a:lstStyle/>
                    <a:p>
                      <a:pPr algn="ctr"/>
                      <a:r>
                        <a:rPr sz="1200" b="1" i="0">
                          <a:solidFill>
                            <a:srgbClr val="FFFFFF"/>
                          </a:solidFill>
                          <a:latin typeface="Times New Roman"/>
                        </a:rPr>
                        <a:t>Case-only</a:t>
                      </a:r>
                    </a:p>
                  </a:txBody>
                  <a:tcPr marL="80000" marR="80000" marT="30000" marB="30000" anchor="ctr">
                    <a:solidFill>
                      <a:srgbClr val="2F5597"/>
                    </a:solidFill>
                  </a:tcPr>
                </a:tc>
                <a:tc>
                  <a:txBody>
                    <a:bodyPr/>
                    <a:lstStyle/>
                    <a:p>
                      <a:pPr algn="ctr"/>
                      <a:r>
                        <a:rPr sz="1200" b="1" i="0">
                          <a:solidFill>
                            <a:srgbClr val="FFFFFF"/>
                          </a:solidFill>
                          <a:latin typeface="Times New Roman"/>
                        </a:rPr>
                        <a:t>Full XGB</a:t>
                      </a:r>
                    </a:p>
                  </a:txBody>
                  <a:tcPr marL="80000" marR="80000" marT="30000" marB="30000" anchor="ctr">
                    <a:solidFill>
                      <a:srgbClr val="2F5597"/>
                    </a:solidFill>
                  </a:tcPr>
                </a:tc>
                <a:tc>
                  <a:txBody>
                    <a:bodyPr/>
                    <a:lstStyle/>
                    <a:p>
                      <a:pPr algn="ctr"/>
                      <a:r>
                        <a:rPr sz="1200" b="1" i="0">
                          <a:solidFill>
                            <a:srgbClr val="FFFFFF"/>
                          </a:solidFill>
                          <a:latin typeface="Times New Roman"/>
                        </a:rPr>
                        <a:t>p</a:t>
                      </a:r>
                    </a:p>
                  </a:txBody>
                  <a:tcPr marL="80000" marR="80000" marT="30000" marB="30000" anchor="ctr">
                    <a:solidFill>
                      <a:srgbClr val="2F5597"/>
                    </a:solidFill>
                  </a:tcPr>
                </a:tc>
                <a:extLst>
                  <a:ext uri="{0D108BD9-81ED-4DB2-BD59-A6C34878D82A}">
                    <a16:rowId xmlns:a16="http://schemas.microsoft.com/office/drawing/2014/main" val="10000"/>
                  </a:ext>
                </a:extLst>
              </a:tr>
              <a:tr h="365760">
                <a:tc>
                  <a:txBody>
                    <a:bodyPr/>
                    <a:lstStyle/>
                    <a:p>
                      <a:pPr algn="l"/>
                      <a:r>
                        <a:rPr sz="1200" b="1" i="0">
                          <a:solidFill>
                            <a:srgbClr val="1A1A1A"/>
                          </a:solidFill>
                          <a:latin typeface="Times New Roman"/>
                        </a:rPr>
                        <a:t>MAE</a:t>
                      </a:r>
                    </a:p>
                  </a:txBody>
                  <a:tcPr marL="80000" marR="80000" marT="30000" marB="30000" anchor="ctr">
                    <a:solidFill>
                      <a:srgbClr val="FFFFFF"/>
                    </a:solidFill>
                  </a:tcPr>
                </a:tc>
                <a:tc>
                  <a:txBody>
                    <a:bodyPr/>
                    <a:lstStyle/>
                    <a:p>
                      <a:pPr algn="ctr"/>
                      <a:r>
                        <a:rPr sz="1200" b="0" i="0">
                          <a:solidFill>
                            <a:srgbClr val="1A1A1A"/>
                          </a:solidFill>
                          <a:latin typeface="Times New Roman"/>
                        </a:rPr>
                        <a:t>5.87 ± 0.02</a:t>
                      </a:r>
                    </a:p>
                  </a:txBody>
                  <a:tcPr marL="80000" marR="80000" marT="30000" marB="30000" anchor="ctr">
                    <a:solidFill>
                      <a:srgbClr val="FFFFFF"/>
                    </a:solidFill>
                  </a:tcPr>
                </a:tc>
                <a:tc>
                  <a:txBody>
                    <a:bodyPr/>
                    <a:lstStyle/>
                    <a:p>
                      <a:pPr algn="ctr"/>
                      <a:r>
                        <a:rPr sz="1200" b="0" i="0">
                          <a:solidFill>
                            <a:srgbClr val="1A1A1A"/>
                          </a:solidFill>
                          <a:latin typeface="Times New Roman"/>
                        </a:rPr>
                        <a:t>5.81 ± 0.02</a:t>
                      </a:r>
                    </a:p>
                  </a:txBody>
                  <a:tcPr marL="80000" marR="80000" marT="30000" marB="30000" anchor="ctr">
                    <a:solidFill>
                      <a:srgbClr val="FFFFFF"/>
                    </a:solidFill>
                  </a:tcPr>
                </a:tc>
                <a:tc>
                  <a:txBody>
                    <a:bodyPr/>
                    <a:lstStyle/>
                    <a:p>
                      <a:pPr algn="ctr"/>
                      <a:r>
                        <a:rPr sz="1200" b="0" i="0">
                          <a:solidFill>
                            <a:srgbClr val="1A1A1A"/>
                          </a:solidFill>
                          <a:latin typeface="Times New Roman"/>
                        </a:rPr>
                        <a:t>0.001</a:t>
                      </a:r>
                    </a:p>
                  </a:txBody>
                  <a:tcPr marL="80000" marR="80000" marT="30000" marB="30000" anchor="ctr">
                    <a:solidFill>
                      <a:srgbClr val="FFFFFF"/>
                    </a:solidFill>
                  </a:tcPr>
                </a:tc>
                <a:extLst>
                  <a:ext uri="{0D108BD9-81ED-4DB2-BD59-A6C34878D82A}">
                    <a16:rowId xmlns:a16="http://schemas.microsoft.com/office/drawing/2014/main" val="10001"/>
                  </a:ext>
                </a:extLst>
              </a:tr>
              <a:tr h="365760">
                <a:tc>
                  <a:txBody>
                    <a:bodyPr/>
                    <a:lstStyle/>
                    <a:p>
                      <a:pPr algn="l"/>
                      <a:r>
                        <a:rPr sz="1200" b="1" i="0">
                          <a:solidFill>
                            <a:srgbClr val="1A1A1A"/>
                          </a:solidFill>
                          <a:latin typeface="Times New Roman"/>
                        </a:rPr>
                        <a:t>RMSE</a:t>
                      </a:r>
                    </a:p>
                  </a:txBody>
                  <a:tcPr marL="80000" marR="80000" marT="30000" marB="30000" anchor="ctr">
                    <a:solidFill>
                      <a:srgbClr val="F8F1E0"/>
                    </a:solidFill>
                  </a:tcPr>
                </a:tc>
                <a:tc>
                  <a:txBody>
                    <a:bodyPr/>
                    <a:lstStyle/>
                    <a:p>
                      <a:pPr algn="ctr"/>
                      <a:r>
                        <a:rPr sz="1200" b="0" i="0">
                          <a:solidFill>
                            <a:srgbClr val="1A1A1A"/>
                          </a:solidFill>
                          <a:latin typeface="Times New Roman"/>
                        </a:rPr>
                        <a:t>8.97 ± 0.02</a:t>
                      </a:r>
                    </a:p>
                  </a:txBody>
                  <a:tcPr marL="80000" marR="80000" marT="30000" marB="30000" anchor="ctr">
                    <a:solidFill>
                      <a:srgbClr val="F8F1E0"/>
                    </a:solidFill>
                  </a:tcPr>
                </a:tc>
                <a:tc>
                  <a:txBody>
                    <a:bodyPr/>
                    <a:lstStyle/>
                    <a:p>
                      <a:pPr algn="ctr"/>
                      <a:r>
                        <a:rPr sz="1200" b="0" i="0">
                          <a:solidFill>
                            <a:srgbClr val="1A1A1A"/>
                          </a:solidFill>
                          <a:latin typeface="Times New Roman"/>
                        </a:rPr>
                        <a:t>8.90 ± 0.02</a:t>
                      </a:r>
                    </a:p>
                  </a:txBody>
                  <a:tcPr marL="80000" marR="80000" marT="30000" marB="30000" anchor="ctr">
                    <a:solidFill>
                      <a:srgbClr val="F8F1E0"/>
                    </a:solidFill>
                  </a:tcPr>
                </a:tc>
                <a:tc>
                  <a:txBody>
                    <a:bodyPr/>
                    <a:lstStyle/>
                    <a:p>
                      <a:pPr algn="ctr"/>
                      <a:r>
                        <a:rPr sz="1200" b="0" i="0">
                          <a:solidFill>
                            <a:srgbClr val="1A1A1A"/>
                          </a:solidFill>
                          <a:latin typeface="Times New Roman"/>
                        </a:rPr>
                        <a:t>0.001</a:t>
                      </a:r>
                    </a:p>
                  </a:txBody>
                  <a:tcPr marL="80000" marR="80000" marT="30000" marB="30000" anchor="ctr">
                    <a:solidFill>
                      <a:srgbClr val="F8F1E0"/>
                    </a:solidFill>
                  </a:tcPr>
                </a:tc>
                <a:extLst>
                  <a:ext uri="{0D108BD9-81ED-4DB2-BD59-A6C34878D82A}">
                    <a16:rowId xmlns:a16="http://schemas.microsoft.com/office/drawing/2014/main" val="10002"/>
                  </a:ext>
                </a:extLst>
              </a:tr>
              <a:tr h="365760">
                <a:tc>
                  <a:txBody>
                    <a:bodyPr/>
                    <a:lstStyle/>
                    <a:p>
                      <a:pPr algn="l"/>
                      <a:r>
                        <a:rPr sz="1200" b="1" i="0">
                          <a:solidFill>
                            <a:srgbClr val="1A1A1A"/>
                          </a:solidFill>
                          <a:latin typeface="Times New Roman"/>
                        </a:rPr>
                        <a:t>R²</a:t>
                      </a:r>
                    </a:p>
                  </a:txBody>
                  <a:tcPr marL="80000" marR="80000" marT="30000" marB="30000" anchor="ctr">
                    <a:solidFill>
                      <a:srgbClr val="FFFFFF"/>
                    </a:solidFill>
                  </a:tcPr>
                </a:tc>
                <a:tc>
                  <a:txBody>
                    <a:bodyPr/>
                    <a:lstStyle/>
                    <a:p>
                      <a:pPr algn="ctr"/>
                      <a:r>
                        <a:rPr sz="1200" b="0" i="0">
                          <a:solidFill>
                            <a:srgbClr val="1A1A1A"/>
                          </a:solidFill>
                          <a:latin typeface="Times New Roman"/>
                        </a:rPr>
                        <a:t>0.236 ± 0.004</a:t>
                      </a:r>
                    </a:p>
                  </a:txBody>
                  <a:tcPr marL="80000" marR="80000" marT="30000" marB="30000" anchor="ctr">
                    <a:solidFill>
                      <a:srgbClr val="FFFFFF"/>
                    </a:solidFill>
                  </a:tcPr>
                </a:tc>
                <a:tc>
                  <a:txBody>
                    <a:bodyPr/>
                    <a:lstStyle/>
                    <a:p>
                      <a:pPr algn="ctr"/>
                      <a:r>
                        <a:rPr sz="1200" b="0" i="0">
                          <a:solidFill>
                            <a:srgbClr val="1A1A1A"/>
                          </a:solidFill>
                          <a:latin typeface="Times New Roman"/>
                        </a:rPr>
                        <a:t>0.249 ± 0.003</a:t>
                      </a:r>
                    </a:p>
                  </a:txBody>
                  <a:tcPr marL="80000" marR="80000" marT="30000" marB="30000" anchor="ctr">
                    <a:solidFill>
                      <a:srgbClr val="FFFFFF"/>
                    </a:solidFill>
                  </a:tcPr>
                </a:tc>
                <a:tc>
                  <a:txBody>
                    <a:bodyPr/>
                    <a:lstStyle/>
                    <a:p>
                      <a:pPr algn="ctr"/>
                      <a:r>
                        <a:rPr sz="1200" b="0" i="0">
                          <a:solidFill>
                            <a:srgbClr val="1A1A1A"/>
                          </a:solidFill>
                          <a:latin typeface="Times New Roman"/>
                        </a:rPr>
                        <a:t>0.001</a:t>
                      </a:r>
                    </a:p>
                  </a:txBody>
                  <a:tcPr marL="80000" marR="80000" marT="30000" marB="30000" anchor="ctr">
                    <a:solidFill>
                      <a:srgbClr val="FFFFFF"/>
                    </a:solidFill>
                  </a:tcPr>
                </a:tc>
                <a:extLst>
                  <a:ext uri="{0D108BD9-81ED-4DB2-BD59-A6C34878D82A}">
                    <a16:rowId xmlns:a16="http://schemas.microsoft.com/office/drawing/2014/main" val="10003"/>
                  </a:ext>
                </a:extLst>
              </a:tr>
            </a:tbl>
          </a:graphicData>
        </a:graphic>
      </p:graphicFrame>
      <p:sp>
        <p:nvSpPr>
          <p:cNvPr id="14" name="Stat card"/>
          <p:cNvSpPr/>
          <p:nvPr/>
        </p:nvSpPr>
        <p:spPr>
          <a:xfrm>
            <a:off x="6025896" y="4434840"/>
            <a:ext cx="2057400" cy="146304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tat value"/>
          <p:cNvSpPr txBox="1"/>
          <p:nvPr/>
        </p:nvSpPr>
        <p:spPr>
          <a:xfrm>
            <a:off x="6135624" y="4526279"/>
            <a:ext cx="1837943" cy="548640"/>
          </a:xfrm>
          <a:prstGeom prst="rect">
            <a:avLst/>
          </a:prstGeom>
          <a:noFill/>
        </p:spPr>
        <p:txBody>
          <a:bodyPr wrap="square" lIns="0" tIns="0" rIns="0" bIns="0" anchor="t">
            <a:spAutoFit/>
          </a:bodyPr>
          <a:lstStyle/>
          <a:p>
            <a:pPr algn="l">
              <a:spcAft>
                <a:spcPts val="400"/>
              </a:spcAft>
            </a:pPr>
            <a:r>
              <a:rPr sz="3200" b="1" i="0">
                <a:solidFill>
                  <a:srgbClr val="2E7D32"/>
                </a:solidFill>
                <a:latin typeface="Times New Roman"/>
              </a:rPr>
              <a:t>10/10</a:t>
            </a:r>
          </a:p>
        </p:txBody>
      </p:sp>
      <p:sp>
        <p:nvSpPr>
          <p:cNvPr id="16" name="Stat label"/>
          <p:cNvSpPr txBox="1"/>
          <p:nvPr/>
        </p:nvSpPr>
        <p:spPr>
          <a:xfrm>
            <a:off x="6135624" y="5148072"/>
            <a:ext cx="1837943" cy="685800"/>
          </a:xfrm>
          <a:prstGeom prst="rect">
            <a:avLst/>
          </a:prstGeom>
          <a:noFill/>
        </p:spPr>
        <p:txBody>
          <a:bodyPr wrap="square" lIns="0" tIns="0" rIns="0" bIns="0" anchor="t">
            <a:spAutoFit/>
          </a:bodyPr>
          <a:lstStyle/>
          <a:p>
            <a:pPr algn="l">
              <a:spcAft>
                <a:spcPts val="400"/>
              </a:spcAft>
            </a:pPr>
            <a:r>
              <a:rPr sz="1300" b="0" i="0">
                <a:solidFill>
                  <a:srgbClr val="1A1A1A"/>
                </a:solidFill>
                <a:latin typeface="Times New Roman"/>
              </a:rPr>
              <a:t>runs where weather helped (W = 0 for MAE and RMSE)</a:t>
            </a:r>
          </a:p>
        </p:txBody>
      </p:sp>
      <p:sp>
        <p:nvSpPr>
          <p:cNvPr id="17" name="Stat card"/>
          <p:cNvSpPr/>
          <p:nvPr/>
        </p:nvSpPr>
        <p:spPr>
          <a:xfrm>
            <a:off x="8275320" y="4434840"/>
            <a:ext cx="2057400" cy="146304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Stat value"/>
          <p:cNvSpPr txBox="1"/>
          <p:nvPr/>
        </p:nvSpPr>
        <p:spPr>
          <a:xfrm>
            <a:off x="8385048" y="4526279"/>
            <a:ext cx="1837943" cy="548640"/>
          </a:xfrm>
          <a:prstGeom prst="rect">
            <a:avLst/>
          </a:prstGeom>
          <a:noFill/>
        </p:spPr>
        <p:txBody>
          <a:bodyPr wrap="square" lIns="0" tIns="0" rIns="0" bIns="0" anchor="t">
            <a:spAutoFit/>
          </a:bodyPr>
          <a:lstStyle/>
          <a:p>
            <a:pPr algn="l">
              <a:spcAft>
                <a:spcPts val="400"/>
              </a:spcAft>
            </a:pPr>
            <a:r>
              <a:rPr sz="3200" b="1" i="0">
                <a:solidFill>
                  <a:srgbClr val="2E7D32"/>
                </a:solidFill>
                <a:latin typeface="Times New Roman"/>
              </a:rPr>
              <a:t>−1.0%</a:t>
            </a:r>
          </a:p>
        </p:txBody>
      </p:sp>
      <p:sp>
        <p:nvSpPr>
          <p:cNvPr id="19" name="Stat label"/>
          <p:cNvSpPr txBox="1"/>
          <p:nvPr/>
        </p:nvSpPr>
        <p:spPr>
          <a:xfrm>
            <a:off x="8385048" y="5148072"/>
            <a:ext cx="1837943" cy="685800"/>
          </a:xfrm>
          <a:prstGeom prst="rect">
            <a:avLst/>
          </a:prstGeom>
          <a:noFill/>
        </p:spPr>
        <p:txBody>
          <a:bodyPr wrap="square" lIns="0" tIns="0" rIns="0" bIns="0" anchor="t">
            <a:spAutoFit/>
          </a:bodyPr>
          <a:lstStyle/>
          <a:p>
            <a:pPr algn="l">
              <a:spcAft>
                <a:spcPts val="400"/>
              </a:spcAft>
            </a:pPr>
            <a:r>
              <a:rPr sz="1300" b="0" i="0">
                <a:solidFill>
                  <a:srgbClr val="1A1A1A"/>
                </a:solidFill>
                <a:latin typeface="Times New Roman"/>
              </a:rPr>
              <a:t>MAE in the tuned run (6.00 to 5.94); 95% ranges overlap</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1500000" y="540000"/>
            <a:ext cx="8800000" cy="900000"/>
          </a:xfrm>
          <a:prstGeom prst="rect">
            <a:avLst/>
          </a:prstGeom>
          <a:noFill/>
        </p:spPr>
        <p:txBody>
          <a:bodyPr wrap="square" lIns="0" tIns="0" rIns="0" bIns="0" anchor="b">
            <a:spAutoFit/>
          </a:bodyPr>
          <a:lstStyle/>
          <a:p>
            <a:pPr algn="l">
              <a:spcAft>
                <a:spcPts val="0"/>
              </a:spcAft>
            </a:pPr>
            <a:r>
              <a:rPr sz="2800" b="1" i="0">
                <a:solidFill>
                  <a:srgbClr val="1A1A1A"/>
                </a:solidFill>
                <a:latin typeface="Times New Roman"/>
              </a:rPr>
              <a:t>Results and Discussion</a:t>
            </a:r>
          </a:p>
        </p:txBody>
      </p:sp>
      <p:sp>
        <p:nvSpPr>
          <p:cNvPr id="7"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RQ2 · Discussion and related literature</a:t>
            </a:r>
          </a:p>
        </p:txBody>
      </p:sp>
      <p:sp>
        <p:nvSpPr>
          <p:cNvPr id="8" name="RQ banner"/>
          <p:cNvSpPr/>
          <p:nvPr/>
        </p:nvSpPr>
        <p:spPr>
          <a:xfrm>
            <a:off x="1499616" y="1920240"/>
            <a:ext cx="8796528" cy="73152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Q label"/>
          <p:cNvSpPr/>
          <p:nvPr/>
        </p:nvSpPr>
        <p:spPr>
          <a:xfrm>
            <a:off x="1627631" y="2103120"/>
            <a:ext cx="731520" cy="365760"/>
          </a:xfrm>
          <a:prstGeom prst="roundRect">
            <a:avLst>
              <a:gd name="adj" fmla="val 50000"/>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500" b="1" i="0">
                <a:solidFill>
                  <a:srgbClr val="FFFFFF"/>
                </a:solidFill>
                <a:latin typeface="Times New Roman"/>
              </a:rPr>
              <a:t>RQ2</a:t>
            </a:r>
          </a:p>
        </p:txBody>
      </p:sp>
      <p:sp>
        <p:nvSpPr>
          <p:cNvPr id="10" name="RQ text"/>
          <p:cNvSpPr txBox="1"/>
          <p:nvPr/>
        </p:nvSpPr>
        <p:spPr>
          <a:xfrm>
            <a:off x="2505456" y="2011680"/>
            <a:ext cx="7653527" cy="566928"/>
          </a:xfrm>
          <a:prstGeom prst="rect">
            <a:avLst/>
          </a:prstGeom>
          <a:noFill/>
        </p:spPr>
        <p:txBody>
          <a:bodyPr wrap="square" lIns="0" tIns="0" rIns="0" bIns="0" anchor="ctr">
            <a:spAutoFit/>
          </a:bodyPr>
          <a:lstStyle/>
          <a:p>
            <a:pPr algn="l">
              <a:spcAft>
                <a:spcPts val="0"/>
              </a:spcAft>
            </a:pPr>
            <a:r>
              <a:rPr sz="1400" b="0" i="0">
                <a:solidFill>
                  <a:srgbClr val="1A1A1A"/>
                </a:solidFill>
                <a:latin typeface="Times New Roman"/>
              </a:rPr>
              <a:t>Do lagged meteorological features improve forecast accuracy beyond what recent dengue case history alone provides, by more than sampling variation would explain?</a:t>
            </a:r>
          </a:p>
        </p:txBody>
      </p:sp>
      <p:sp>
        <p:nvSpPr>
          <p:cNvPr id="11" name="Discussion card"/>
          <p:cNvSpPr/>
          <p:nvPr/>
        </p:nvSpPr>
        <p:spPr>
          <a:xfrm>
            <a:off x="1499616" y="2788920"/>
            <a:ext cx="5212080" cy="333756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ill"/>
          <p:cNvSpPr/>
          <p:nvPr/>
        </p:nvSpPr>
        <p:spPr>
          <a:xfrm>
            <a:off x="1636775" y="2898648"/>
            <a:ext cx="1463040" cy="329184"/>
          </a:xfrm>
          <a:prstGeom prst="roundRect">
            <a:avLst>
              <a:gd name="adj" fmla="val 50000"/>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400" b="1" i="0">
                <a:solidFill>
                  <a:srgbClr val="FFFFFF"/>
                </a:solidFill>
                <a:latin typeface="Times New Roman"/>
              </a:rPr>
              <a:t>Discussion</a:t>
            </a:r>
          </a:p>
        </p:txBody>
      </p:sp>
      <p:sp>
        <p:nvSpPr>
          <p:cNvPr id="13" name="Discussion text"/>
          <p:cNvSpPr txBox="1"/>
          <p:nvPr/>
        </p:nvSpPr>
        <p:spPr>
          <a:xfrm>
            <a:off x="1664207" y="3355848"/>
            <a:ext cx="4882896" cy="2539157"/>
          </a:xfrm>
          <a:prstGeom prst="rect">
            <a:avLst/>
          </a:prstGeom>
          <a:noFill/>
        </p:spPr>
        <p:txBody>
          <a:bodyPr wrap="square" lIns="0" tIns="0" rIns="0" bIns="0" anchor="t">
            <a:spAutoFit/>
          </a:bodyPr>
          <a:lstStyle/>
          <a:p>
            <a:pPr algn="l">
              <a:spcAft>
                <a:spcPts val="600"/>
              </a:spcAft>
            </a:pPr>
            <a:r>
              <a:rPr sz="1500" b="0" i="0" dirty="0">
                <a:solidFill>
                  <a:srgbClr val="1A1A1A"/>
                </a:solidFill>
                <a:latin typeface="Times New Roman"/>
              </a:rPr>
              <a:t>• </a:t>
            </a:r>
            <a:r>
              <a:rPr lang="en-US" sz="1500" b="1" dirty="0">
                <a:solidFill>
                  <a:srgbClr val="1A1A1A"/>
                </a:solidFill>
                <a:latin typeface="Times New Roman"/>
              </a:rPr>
              <a:t>Finding</a:t>
            </a:r>
            <a:r>
              <a:rPr sz="1500" b="1" i="0" dirty="0">
                <a:solidFill>
                  <a:srgbClr val="1A1A1A"/>
                </a:solidFill>
                <a:latin typeface="Times New Roman"/>
              </a:rPr>
              <a:t>: </a:t>
            </a:r>
            <a:r>
              <a:rPr lang="en-US" sz="1500" b="0" i="0" dirty="0">
                <a:solidFill>
                  <a:srgbClr val="1A1A1A"/>
                </a:solidFill>
                <a:latin typeface="Times New Roman"/>
              </a:rPr>
              <a:t>Controlled ablation confirms a statistically significant marginal gain from weather covariates (MAE 5.94 vs 6.00, p = 0.0010 across 10/10 runs; +0.95% error reduction).</a:t>
            </a:r>
            <a:endParaRPr sz="1500" b="0" i="0" dirty="0">
              <a:solidFill>
                <a:srgbClr val="1A1A1A"/>
              </a:solidFill>
              <a:latin typeface="Times New Roman"/>
            </a:endParaRPr>
          </a:p>
          <a:p>
            <a:pPr algn="l">
              <a:spcAft>
                <a:spcPts val="600"/>
              </a:spcAft>
            </a:pPr>
            <a:r>
              <a:rPr sz="1500" b="0" i="0" dirty="0">
                <a:solidFill>
                  <a:srgbClr val="1A1A1A"/>
                </a:solidFill>
                <a:latin typeface="Times New Roman"/>
              </a:rPr>
              <a:t>• </a:t>
            </a:r>
            <a:r>
              <a:rPr sz="1500" b="1" i="0" dirty="0">
                <a:solidFill>
                  <a:srgbClr val="1A1A1A"/>
                </a:solidFill>
                <a:latin typeface="Times New Roman"/>
              </a:rPr>
              <a:t>Size: </a:t>
            </a:r>
            <a:r>
              <a:rPr sz="1500" b="0" i="0" dirty="0">
                <a:solidFill>
                  <a:srgbClr val="1A1A1A"/>
                </a:solidFill>
                <a:latin typeface="Times New Roman"/>
              </a:rPr>
              <a:t>About 0.06 cases per week, far below the roughly ±1.3 range around the MAE.</a:t>
            </a:r>
          </a:p>
          <a:p>
            <a:pPr algn="l">
              <a:spcAft>
                <a:spcPts val="600"/>
              </a:spcAft>
            </a:pPr>
            <a:r>
              <a:rPr sz="1500" b="0" i="0" dirty="0">
                <a:solidFill>
                  <a:srgbClr val="1A1A1A"/>
                </a:solidFill>
                <a:latin typeface="Times New Roman"/>
              </a:rPr>
              <a:t>• </a:t>
            </a:r>
            <a:r>
              <a:rPr sz="1500" b="1" i="0" dirty="0">
                <a:solidFill>
                  <a:srgbClr val="1A1A1A"/>
                </a:solidFill>
                <a:latin typeface="Times New Roman"/>
              </a:rPr>
              <a:t>Where the gain comes from: </a:t>
            </a:r>
            <a:r>
              <a:rPr sz="1500" b="0" i="0" dirty="0">
                <a:solidFill>
                  <a:srgbClr val="1A1A1A"/>
                </a:solidFill>
                <a:latin typeface="Times New Roman"/>
              </a:rPr>
              <a:t>In the tuned run, 0.068 of the 0.083 R² gained over persistence is already in the case-only model; weather adds 0.015.</a:t>
            </a:r>
          </a:p>
          <a:p>
            <a:pPr algn="l">
              <a:spcAft>
                <a:spcPts val="600"/>
              </a:spcAft>
            </a:pPr>
            <a:r>
              <a:rPr sz="1500" b="0" i="0" dirty="0">
                <a:solidFill>
                  <a:srgbClr val="1A1A1A"/>
                </a:solidFill>
                <a:latin typeface="Times New Roman"/>
              </a:rPr>
              <a:t>• </a:t>
            </a:r>
            <a:r>
              <a:rPr sz="1500" b="1" i="0" dirty="0">
                <a:solidFill>
                  <a:srgbClr val="1A1A1A"/>
                </a:solidFill>
                <a:latin typeface="Times New Roman"/>
              </a:rPr>
              <a:t>So: </a:t>
            </a:r>
            <a:r>
              <a:rPr sz="1500" b="0" i="0" dirty="0">
                <a:solidFill>
                  <a:srgbClr val="1A1A1A"/>
                </a:solidFill>
                <a:latin typeface="Times New Roman"/>
              </a:rPr>
              <a:t>Weather is informative here, but secondary to recent cases.</a:t>
            </a:r>
          </a:p>
        </p:txBody>
      </p:sp>
      <p:sp>
        <p:nvSpPr>
          <p:cNvPr id="14" name="Literature card"/>
          <p:cNvSpPr/>
          <p:nvPr/>
        </p:nvSpPr>
        <p:spPr>
          <a:xfrm>
            <a:off x="6894576" y="2788920"/>
            <a:ext cx="3401567" cy="333756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Literature label"/>
          <p:cNvSpPr/>
          <p:nvPr/>
        </p:nvSpPr>
        <p:spPr>
          <a:xfrm>
            <a:off x="7031736" y="2898648"/>
            <a:ext cx="1920240" cy="32918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400" b="1" i="0">
                <a:solidFill>
                  <a:srgbClr val="FFFFFF"/>
                </a:solidFill>
                <a:latin typeface="Times New Roman"/>
              </a:rPr>
              <a:t>Related literature</a:t>
            </a:r>
          </a:p>
        </p:txBody>
      </p:sp>
      <p:sp>
        <p:nvSpPr>
          <p:cNvPr id="16" name="Literature text"/>
          <p:cNvSpPr txBox="1"/>
          <p:nvPr/>
        </p:nvSpPr>
        <p:spPr>
          <a:xfrm>
            <a:off x="7059168" y="3355848"/>
            <a:ext cx="3072383" cy="2679191"/>
          </a:xfrm>
          <a:prstGeom prst="rect">
            <a:avLst/>
          </a:prstGeom>
          <a:noFill/>
        </p:spPr>
        <p:txBody>
          <a:bodyPr wrap="square" lIns="0" tIns="0" rIns="0" bIns="0" anchor="t">
            <a:spAutoFit/>
          </a:bodyPr>
          <a:lstStyle/>
          <a:p>
            <a:pPr algn="l">
              <a:spcAft>
                <a:spcPts val="600"/>
              </a:spcAft>
            </a:pPr>
            <a:r>
              <a:rPr sz="1400" b="1" i="0">
                <a:solidFill>
                  <a:srgbClr val="2F5597"/>
                </a:solidFill>
                <a:latin typeface="Times New Roman"/>
              </a:rPr>
              <a:t>Johansson et al. (2016): </a:t>
            </a:r>
            <a:r>
              <a:rPr sz="1400" b="0" i="0">
                <a:solidFill>
                  <a:srgbClr val="1A1A1A"/>
                </a:solidFill>
                <a:latin typeface="Times New Roman"/>
              </a:rPr>
              <a:t>climate data did not significantly improve seasonal autoregressive dengue forecasts for Mexico, consistent with a small increment.</a:t>
            </a:r>
          </a:p>
          <a:p>
            <a:pPr algn="l">
              <a:spcAft>
                <a:spcPts val="600"/>
              </a:spcAft>
            </a:pPr>
            <a:r>
              <a:rPr sz="1400" b="1" i="0">
                <a:solidFill>
                  <a:srgbClr val="2F5597"/>
                </a:solidFill>
                <a:latin typeface="Times New Roman"/>
              </a:rPr>
              <a:t>Carvajal et al. (2018): </a:t>
            </a:r>
            <a:r>
              <a:rPr sz="1400" b="0" i="0">
                <a:solidFill>
                  <a:srgbClr val="1A1A1A"/>
                </a:solidFill>
                <a:latin typeface="Times New Roman"/>
              </a:rPr>
              <a:t>relative humidity, rainfall and temperature, with delayed effects, were important for Metro Manila dengue.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1500000" y="540000"/>
            <a:ext cx="8800000" cy="900000"/>
          </a:xfrm>
          <a:prstGeom prst="rect">
            <a:avLst/>
          </a:prstGeom>
          <a:noFill/>
        </p:spPr>
        <p:txBody>
          <a:bodyPr wrap="square" lIns="0" tIns="0" rIns="0" bIns="0" anchor="b">
            <a:spAutoFit/>
          </a:bodyPr>
          <a:lstStyle/>
          <a:p>
            <a:pPr algn="l">
              <a:spcAft>
                <a:spcPts val="0"/>
              </a:spcAft>
            </a:pPr>
            <a:r>
              <a:rPr sz="2800" b="1" i="0">
                <a:solidFill>
                  <a:srgbClr val="1A1A1A"/>
                </a:solidFill>
                <a:latin typeface="Times New Roman"/>
              </a:rPr>
              <a:t>Results and Discussion</a:t>
            </a:r>
          </a:p>
        </p:txBody>
      </p:sp>
      <p:sp>
        <p:nvSpPr>
          <p:cNvPr id="7"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RQ3 · Results: MAE by city</a:t>
            </a:r>
          </a:p>
        </p:txBody>
      </p:sp>
      <p:sp>
        <p:nvSpPr>
          <p:cNvPr id="8" name="RQ banner"/>
          <p:cNvSpPr/>
          <p:nvPr/>
        </p:nvSpPr>
        <p:spPr>
          <a:xfrm>
            <a:off x="1499616" y="1920240"/>
            <a:ext cx="8796528" cy="73152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Q label"/>
          <p:cNvSpPr/>
          <p:nvPr/>
        </p:nvSpPr>
        <p:spPr>
          <a:xfrm>
            <a:off x="1627631" y="2103120"/>
            <a:ext cx="731520" cy="36576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500" b="1" i="0">
                <a:solidFill>
                  <a:srgbClr val="FFFFFF"/>
                </a:solidFill>
                <a:latin typeface="Times New Roman"/>
              </a:rPr>
              <a:t>RQ3</a:t>
            </a:r>
          </a:p>
        </p:txBody>
      </p:sp>
      <p:sp>
        <p:nvSpPr>
          <p:cNvPr id="10" name="RQ text"/>
          <p:cNvSpPr txBox="1"/>
          <p:nvPr/>
        </p:nvSpPr>
        <p:spPr>
          <a:xfrm>
            <a:off x="2505456" y="2011680"/>
            <a:ext cx="7653527" cy="566928"/>
          </a:xfrm>
          <a:prstGeom prst="rect">
            <a:avLst/>
          </a:prstGeom>
          <a:noFill/>
        </p:spPr>
        <p:txBody>
          <a:bodyPr wrap="square" lIns="0" tIns="0" rIns="0" bIns="0" anchor="ctr">
            <a:spAutoFit/>
          </a:bodyPr>
          <a:lstStyle/>
          <a:p>
            <a:pPr algn="l">
              <a:spcAft>
                <a:spcPts val="0"/>
              </a:spcAft>
            </a:pPr>
            <a:r>
              <a:rPr sz="1400" b="0" i="0">
                <a:solidFill>
                  <a:srgbClr val="1A1A1A"/>
                </a:solidFill>
                <a:latin typeface="Times New Roman"/>
              </a:rPr>
              <a:t>How consistent are forecast accuracy and the contribution of meteorological features across individual cities?</a:t>
            </a:r>
          </a:p>
        </p:txBody>
      </p:sp>
      <p:graphicFrame>
        <p:nvGraphicFramePr>
          <p:cNvPr id="11" name="Per-city MAE chart"/>
          <p:cNvGraphicFramePr>
            <a:graphicFrameLocks noGrp="1"/>
          </p:cNvGraphicFramePr>
          <p:nvPr/>
        </p:nvGraphicFramePr>
        <p:xfrm>
          <a:off x="1499616" y="2743200"/>
          <a:ext cx="484632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2" name="Chart note"/>
          <p:cNvSpPr txBox="1"/>
          <p:nvPr/>
        </p:nvSpPr>
        <p:spPr>
          <a:xfrm>
            <a:off x="1499616" y="5852160"/>
            <a:ext cx="4846320" cy="274320"/>
          </a:xfrm>
          <a:prstGeom prst="rect">
            <a:avLst/>
          </a:prstGeom>
          <a:noFill/>
        </p:spPr>
        <p:txBody>
          <a:bodyPr wrap="square" lIns="0" tIns="0" rIns="0" bIns="0" anchor="t">
            <a:spAutoFit/>
          </a:bodyPr>
          <a:lstStyle/>
          <a:p>
            <a:pPr algn="l">
              <a:spcAft>
                <a:spcPts val="400"/>
              </a:spcAft>
            </a:pPr>
            <a:r>
              <a:rPr sz="1200" b="0" i="0">
                <a:solidFill>
                  <a:srgbClr val="4A4A4A"/>
                </a:solidFill>
                <a:latin typeface="Times New Roman"/>
              </a:rPr>
              <a:t>10-run mean, fixed settings; persistence is deterministic.</a:t>
            </a:r>
          </a:p>
        </p:txBody>
      </p:sp>
      <p:sp>
        <p:nvSpPr>
          <p:cNvPr id="13" name="City card"/>
          <p:cNvSpPr/>
          <p:nvPr/>
        </p:nvSpPr>
        <p:spPr>
          <a:xfrm>
            <a:off x="6528816" y="2788920"/>
            <a:ext cx="3767327" cy="987552"/>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65976" y="2880360"/>
            <a:ext cx="3493007" cy="274320"/>
          </a:xfrm>
          <a:prstGeom prst="rect">
            <a:avLst/>
          </a:prstGeom>
          <a:noFill/>
        </p:spPr>
        <p:txBody>
          <a:bodyPr wrap="square" lIns="0" tIns="0" rIns="0" bIns="0" anchor="t">
            <a:spAutoFit/>
          </a:bodyPr>
          <a:lstStyle/>
          <a:p>
            <a:pPr algn="l">
              <a:spcAft>
                <a:spcPts val="0"/>
              </a:spcAft>
            </a:pPr>
            <a:r>
              <a:rPr sz="1500" b="1" i="0">
                <a:solidFill>
                  <a:srgbClr val="2E7D32"/>
                </a:solidFill>
                <a:latin typeface="Times New Roman"/>
              </a:rPr>
              <a:t>Cagayan de Oro</a:t>
            </a:r>
          </a:p>
        </p:txBody>
      </p:sp>
      <p:sp>
        <p:nvSpPr>
          <p:cNvPr id="15" name="TextBox 14"/>
          <p:cNvSpPr txBox="1"/>
          <p:nvPr/>
        </p:nvSpPr>
        <p:spPr>
          <a:xfrm>
            <a:off x="6665976" y="3182112"/>
            <a:ext cx="3493007" cy="548640"/>
          </a:xfrm>
          <a:prstGeom prst="rect">
            <a:avLst/>
          </a:prstGeom>
          <a:noFill/>
        </p:spPr>
        <p:txBody>
          <a:bodyPr wrap="square" lIns="0" tIns="0" rIns="0" bIns="0" anchor="t">
            <a:spAutoFit/>
          </a:bodyPr>
          <a:lstStyle/>
          <a:p>
            <a:pPr algn="l">
              <a:spcAft>
                <a:spcPts val="100"/>
              </a:spcAft>
            </a:pPr>
            <a:r>
              <a:rPr sz="1300" b="0" i="0">
                <a:solidFill>
                  <a:srgbClr val="1A1A1A"/>
                </a:solidFill>
                <a:latin typeface="Times New Roman"/>
              </a:rPr>
              <a:t>Full 6.29 vs persistence 6.52 (−3.5%)</a:t>
            </a:r>
          </a:p>
          <a:p>
            <a:pPr algn="l">
              <a:spcAft>
                <a:spcPts val="100"/>
              </a:spcAft>
            </a:pPr>
            <a:r>
              <a:rPr sz="1300" b="0" i="0">
                <a:solidFill>
                  <a:srgbClr val="4A4A4A"/>
                </a:solidFill>
                <a:latin typeface="Times New Roman"/>
              </a:rPr>
              <a:t>Weather: 6.42 to 6.29</a:t>
            </a:r>
          </a:p>
        </p:txBody>
      </p:sp>
      <p:sp>
        <p:nvSpPr>
          <p:cNvPr id="16" name="City card"/>
          <p:cNvSpPr/>
          <p:nvPr/>
        </p:nvSpPr>
        <p:spPr>
          <a:xfrm>
            <a:off x="6528816" y="3886200"/>
            <a:ext cx="3767327" cy="987552"/>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65976" y="3977639"/>
            <a:ext cx="3493007" cy="274320"/>
          </a:xfrm>
          <a:prstGeom prst="rect">
            <a:avLst/>
          </a:prstGeom>
          <a:noFill/>
        </p:spPr>
        <p:txBody>
          <a:bodyPr wrap="square" lIns="0" tIns="0" rIns="0" bIns="0" anchor="t">
            <a:spAutoFit/>
          </a:bodyPr>
          <a:lstStyle/>
          <a:p>
            <a:pPr algn="l">
              <a:spcAft>
                <a:spcPts val="0"/>
              </a:spcAft>
            </a:pPr>
            <a:r>
              <a:rPr sz="1500" b="1" i="0">
                <a:solidFill>
                  <a:srgbClr val="2E7D32"/>
                </a:solidFill>
                <a:latin typeface="Times New Roman"/>
              </a:rPr>
              <a:t>Davao</a:t>
            </a:r>
          </a:p>
        </p:txBody>
      </p:sp>
      <p:sp>
        <p:nvSpPr>
          <p:cNvPr id="18" name="TextBox 17"/>
          <p:cNvSpPr txBox="1"/>
          <p:nvPr/>
        </p:nvSpPr>
        <p:spPr>
          <a:xfrm>
            <a:off x="6665976" y="4279392"/>
            <a:ext cx="3493007" cy="548640"/>
          </a:xfrm>
          <a:prstGeom prst="rect">
            <a:avLst/>
          </a:prstGeom>
          <a:noFill/>
        </p:spPr>
        <p:txBody>
          <a:bodyPr wrap="square" lIns="0" tIns="0" rIns="0" bIns="0" anchor="t">
            <a:spAutoFit/>
          </a:bodyPr>
          <a:lstStyle/>
          <a:p>
            <a:pPr algn="l">
              <a:spcAft>
                <a:spcPts val="100"/>
              </a:spcAft>
            </a:pPr>
            <a:r>
              <a:rPr sz="1300" b="0" i="0">
                <a:solidFill>
                  <a:srgbClr val="1A1A1A"/>
                </a:solidFill>
                <a:latin typeface="Times New Roman"/>
              </a:rPr>
              <a:t>Full 7.39 vs persistence 7.85 (−5.9%)</a:t>
            </a:r>
          </a:p>
          <a:p>
            <a:pPr algn="l">
              <a:spcAft>
                <a:spcPts val="100"/>
              </a:spcAft>
            </a:pPr>
            <a:r>
              <a:rPr sz="1300" b="0" i="0">
                <a:solidFill>
                  <a:srgbClr val="4A4A4A"/>
                </a:solidFill>
                <a:latin typeface="Times New Roman"/>
              </a:rPr>
              <a:t>Weather: 7.51 to 7.39</a:t>
            </a:r>
          </a:p>
        </p:txBody>
      </p:sp>
      <p:sp>
        <p:nvSpPr>
          <p:cNvPr id="19" name="City card"/>
          <p:cNvSpPr/>
          <p:nvPr/>
        </p:nvSpPr>
        <p:spPr>
          <a:xfrm>
            <a:off x="6528816" y="4983479"/>
            <a:ext cx="3767327" cy="987552"/>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65976" y="5074919"/>
            <a:ext cx="3493007" cy="274320"/>
          </a:xfrm>
          <a:prstGeom prst="rect">
            <a:avLst/>
          </a:prstGeom>
          <a:noFill/>
        </p:spPr>
        <p:txBody>
          <a:bodyPr wrap="square" lIns="0" tIns="0" rIns="0" bIns="0" anchor="t">
            <a:spAutoFit/>
          </a:bodyPr>
          <a:lstStyle/>
          <a:p>
            <a:pPr algn="l">
              <a:spcAft>
                <a:spcPts val="0"/>
              </a:spcAft>
            </a:pPr>
            <a:r>
              <a:rPr sz="1500" b="1" i="0">
                <a:solidFill>
                  <a:srgbClr val="C62828"/>
                </a:solidFill>
                <a:latin typeface="Times New Roman"/>
              </a:rPr>
              <a:t>Zamboanga</a:t>
            </a:r>
          </a:p>
        </p:txBody>
      </p:sp>
      <p:sp>
        <p:nvSpPr>
          <p:cNvPr id="21" name="TextBox 20"/>
          <p:cNvSpPr txBox="1"/>
          <p:nvPr/>
        </p:nvSpPr>
        <p:spPr>
          <a:xfrm>
            <a:off x="6665976" y="5376671"/>
            <a:ext cx="3493007" cy="548640"/>
          </a:xfrm>
          <a:prstGeom prst="rect">
            <a:avLst/>
          </a:prstGeom>
          <a:noFill/>
        </p:spPr>
        <p:txBody>
          <a:bodyPr wrap="square" lIns="0" tIns="0" rIns="0" bIns="0" anchor="t">
            <a:spAutoFit/>
          </a:bodyPr>
          <a:lstStyle/>
          <a:p>
            <a:pPr algn="l">
              <a:spcAft>
                <a:spcPts val="100"/>
              </a:spcAft>
            </a:pPr>
            <a:r>
              <a:rPr sz="1300" b="0" i="0">
                <a:solidFill>
                  <a:srgbClr val="1A1A1A"/>
                </a:solidFill>
                <a:latin typeface="Times New Roman"/>
              </a:rPr>
              <a:t>Full 3.76 vs persistence 3.65 (+3.1%, worse)</a:t>
            </a:r>
          </a:p>
          <a:p>
            <a:pPr algn="l">
              <a:spcAft>
                <a:spcPts val="100"/>
              </a:spcAft>
            </a:pPr>
            <a:r>
              <a:rPr sz="1300" b="0" i="0">
                <a:solidFill>
                  <a:srgbClr val="4A4A4A"/>
                </a:solidFill>
                <a:latin typeface="Times New Roman"/>
              </a:rPr>
              <a:t>Weather: 3.68 to 3.76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1500000" y="540000"/>
            <a:ext cx="8800000" cy="900000"/>
          </a:xfrm>
          <a:prstGeom prst="rect">
            <a:avLst/>
          </a:prstGeom>
          <a:noFill/>
        </p:spPr>
        <p:txBody>
          <a:bodyPr wrap="square" lIns="0" tIns="0" rIns="0" bIns="0" anchor="b">
            <a:spAutoFit/>
          </a:bodyPr>
          <a:lstStyle/>
          <a:p>
            <a:pPr algn="l">
              <a:spcAft>
                <a:spcPts val="0"/>
              </a:spcAft>
            </a:pPr>
            <a:r>
              <a:rPr sz="2800" b="1" i="0">
                <a:solidFill>
                  <a:srgbClr val="1A1A1A"/>
                </a:solidFill>
                <a:latin typeface="Times New Roman"/>
              </a:rPr>
              <a:t>Results and Discussion</a:t>
            </a:r>
          </a:p>
        </p:txBody>
      </p:sp>
      <p:sp>
        <p:nvSpPr>
          <p:cNvPr id="7"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RQ3 · Results: 10-run test by city, full vs case-only XGBoost</a:t>
            </a:r>
          </a:p>
        </p:txBody>
      </p:sp>
      <p:sp>
        <p:nvSpPr>
          <p:cNvPr id="8" name="RQ banner"/>
          <p:cNvSpPr/>
          <p:nvPr/>
        </p:nvSpPr>
        <p:spPr>
          <a:xfrm>
            <a:off x="1499616" y="1920240"/>
            <a:ext cx="8796528" cy="73152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Q label"/>
          <p:cNvSpPr/>
          <p:nvPr/>
        </p:nvSpPr>
        <p:spPr>
          <a:xfrm>
            <a:off x="1627631" y="2103120"/>
            <a:ext cx="731520" cy="36576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500" b="1" i="0">
                <a:solidFill>
                  <a:srgbClr val="FFFFFF"/>
                </a:solidFill>
                <a:latin typeface="Times New Roman"/>
              </a:rPr>
              <a:t>RQ3</a:t>
            </a:r>
          </a:p>
        </p:txBody>
      </p:sp>
      <p:sp>
        <p:nvSpPr>
          <p:cNvPr id="10" name="RQ text"/>
          <p:cNvSpPr txBox="1"/>
          <p:nvPr/>
        </p:nvSpPr>
        <p:spPr>
          <a:xfrm>
            <a:off x="2505456" y="2011680"/>
            <a:ext cx="7653527" cy="566928"/>
          </a:xfrm>
          <a:prstGeom prst="rect">
            <a:avLst/>
          </a:prstGeom>
          <a:noFill/>
        </p:spPr>
        <p:txBody>
          <a:bodyPr wrap="square" lIns="0" tIns="0" rIns="0" bIns="0" anchor="ctr">
            <a:spAutoFit/>
          </a:bodyPr>
          <a:lstStyle/>
          <a:p>
            <a:pPr algn="l">
              <a:spcAft>
                <a:spcPts val="0"/>
              </a:spcAft>
            </a:pPr>
            <a:r>
              <a:rPr sz="1400" b="0" i="0">
                <a:solidFill>
                  <a:srgbClr val="1A1A1A"/>
                </a:solidFill>
                <a:latin typeface="Times New Roman"/>
              </a:rPr>
              <a:t>How consistent are forecast accuracy and the contribution of meteorological features across individual cities?</a:t>
            </a:r>
          </a:p>
        </p:txBody>
      </p:sp>
      <p:graphicFrame>
        <p:nvGraphicFramePr>
          <p:cNvPr id="11" name="Per-city Wilcoxon"/>
          <p:cNvGraphicFramePr>
            <a:graphicFrameLocks noGrp="1"/>
          </p:cNvGraphicFramePr>
          <p:nvPr/>
        </p:nvGraphicFramePr>
        <p:xfrm>
          <a:off x="1499616" y="2788920"/>
          <a:ext cx="8796528" cy="1463040"/>
        </p:xfrm>
        <a:graphic>
          <a:graphicData uri="http://schemas.openxmlformats.org/drawingml/2006/table">
            <a:tbl>
              <a:tblPr firstRow="1"/>
              <a:tblGrid>
                <a:gridCol w="17373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1938528">
                  <a:extLst>
                    <a:ext uri="{9D8B030D-6E8A-4147-A177-3AD203B41FA5}">
                      <a16:colId xmlns:a16="http://schemas.microsoft.com/office/drawing/2014/main" val="20006"/>
                    </a:ext>
                  </a:extLst>
                </a:gridCol>
              </a:tblGrid>
              <a:tr h="365760">
                <a:tc>
                  <a:txBody>
                    <a:bodyPr/>
                    <a:lstStyle/>
                    <a:p>
                      <a:pPr algn="l"/>
                      <a:r>
                        <a:rPr sz="1400" b="1" i="0">
                          <a:solidFill>
                            <a:srgbClr val="FFFFFF"/>
                          </a:solidFill>
                          <a:latin typeface="Times New Roman"/>
                        </a:rPr>
                        <a:t>City</a:t>
                      </a:r>
                    </a:p>
                  </a:txBody>
                  <a:tcPr marL="80000" marR="80000" marT="30000" marB="30000" anchor="ctr">
                    <a:solidFill>
                      <a:srgbClr val="2F5597"/>
                    </a:solidFill>
                  </a:tcPr>
                </a:tc>
                <a:tc>
                  <a:txBody>
                    <a:bodyPr/>
                    <a:lstStyle/>
                    <a:p>
                      <a:pPr algn="ctr"/>
                      <a:r>
                        <a:rPr sz="1400" b="1" i="0">
                          <a:solidFill>
                            <a:srgbClr val="FFFFFF"/>
                          </a:solidFill>
                          <a:latin typeface="Times New Roman"/>
                        </a:rPr>
                        <a:t>Persistence</a:t>
                      </a:r>
                    </a:p>
                  </a:txBody>
                  <a:tcPr marL="80000" marR="80000" marT="30000" marB="30000" anchor="ctr">
                    <a:solidFill>
                      <a:srgbClr val="2F5597"/>
                    </a:solidFill>
                  </a:tcPr>
                </a:tc>
                <a:tc>
                  <a:txBody>
                    <a:bodyPr/>
                    <a:lstStyle/>
                    <a:p>
                      <a:pPr algn="ctr"/>
                      <a:r>
                        <a:rPr sz="1400" b="1" i="0">
                          <a:solidFill>
                            <a:srgbClr val="FFFFFF"/>
                          </a:solidFill>
                          <a:latin typeface="Times New Roman"/>
                        </a:rPr>
                        <a:t>Case-only XGB</a:t>
                      </a:r>
                    </a:p>
                  </a:txBody>
                  <a:tcPr marL="80000" marR="80000" marT="30000" marB="30000" anchor="ctr">
                    <a:solidFill>
                      <a:srgbClr val="2F5597"/>
                    </a:solidFill>
                  </a:tcPr>
                </a:tc>
                <a:tc>
                  <a:txBody>
                    <a:bodyPr/>
                    <a:lstStyle/>
                    <a:p>
                      <a:pPr algn="ctr"/>
                      <a:r>
                        <a:rPr sz="1400" b="1" i="0">
                          <a:solidFill>
                            <a:srgbClr val="FFFFFF"/>
                          </a:solidFill>
                          <a:latin typeface="Times New Roman"/>
                        </a:rPr>
                        <a:t>Full XGB</a:t>
                      </a:r>
                    </a:p>
                  </a:txBody>
                  <a:tcPr marL="80000" marR="80000" marT="30000" marB="30000" anchor="ctr">
                    <a:solidFill>
                      <a:srgbClr val="2F5597"/>
                    </a:solidFill>
                  </a:tcPr>
                </a:tc>
                <a:tc>
                  <a:txBody>
                    <a:bodyPr/>
                    <a:lstStyle/>
                    <a:p>
                      <a:pPr algn="ctr"/>
                      <a:r>
                        <a:rPr sz="1400" b="1" i="0">
                          <a:solidFill>
                            <a:srgbClr val="FFFFFF"/>
                          </a:solidFill>
                          <a:latin typeface="Times New Roman"/>
                        </a:rPr>
                        <a:t>W</a:t>
                      </a:r>
                    </a:p>
                  </a:txBody>
                  <a:tcPr marL="80000" marR="80000" marT="30000" marB="30000" anchor="ctr">
                    <a:solidFill>
                      <a:srgbClr val="2F5597"/>
                    </a:solidFill>
                  </a:tcPr>
                </a:tc>
                <a:tc>
                  <a:txBody>
                    <a:bodyPr/>
                    <a:lstStyle/>
                    <a:p>
                      <a:pPr algn="ctr"/>
                      <a:r>
                        <a:rPr sz="1400" b="1" i="0">
                          <a:solidFill>
                            <a:srgbClr val="FFFFFF"/>
                          </a:solidFill>
                          <a:latin typeface="Times New Roman"/>
                        </a:rPr>
                        <a:t>p</a:t>
                      </a:r>
                    </a:p>
                  </a:txBody>
                  <a:tcPr marL="80000" marR="80000" marT="30000" marB="30000" anchor="ctr">
                    <a:solidFill>
                      <a:srgbClr val="2F5597"/>
                    </a:solidFill>
                  </a:tcPr>
                </a:tc>
                <a:tc>
                  <a:txBody>
                    <a:bodyPr/>
                    <a:lstStyle/>
                    <a:p>
                      <a:pPr algn="ctr"/>
                      <a:r>
                        <a:rPr sz="1400" b="1" i="0">
                          <a:solidFill>
                            <a:srgbClr val="FFFFFF"/>
                          </a:solidFill>
                          <a:latin typeface="Times New Roman"/>
                        </a:rPr>
                        <a:t>Weather result</a:t>
                      </a:r>
                    </a:p>
                  </a:txBody>
                  <a:tcPr marL="80000" marR="80000" marT="30000" marB="30000" anchor="ctr">
                    <a:solidFill>
                      <a:srgbClr val="2F5597"/>
                    </a:solidFill>
                  </a:tcPr>
                </a:tc>
                <a:extLst>
                  <a:ext uri="{0D108BD9-81ED-4DB2-BD59-A6C34878D82A}">
                    <a16:rowId xmlns:a16="http://schemas.microsoft.com/office/drawing/2014/main" val="10000"/>
                  </a:ext>
                </a:extLst>
              </a:tr>
              <a:tr h="365760">
                <a:tc>
                  <a:txBody>
                    <a:bodyPr/>
                    <a:lstStyle/>
                    <a:p>
                      <a:pPr algn="l"/>
                      <a:r>
                        <a:rPr sz="1400" b="1" i="0">
                          <a:solidFill>
                            <a:srgbClr val="1A1A1A"/>
                          </a:solidFill>
                          <a:latin typeface="Times New Roman"/>
                        </a:rPr>
                        <a:t>Cagayan de Oro</a:t>
                      </a:r>
                    </a:p>
                  </a:txBody>
                  <a:tcPr marL="80000" marR="80000" marT="30000" marB="30000" anchor="ctr">
                    <a:solidFill>
                      <a:srgbClr val="FFFFFF"/>
                    </a:solidFill>
                  </a:tcPr>
                </a:tc>
                <a:tc>
                  <a:txBody>
                    <a:bodyPr/>
                    <a:lstStyle/>
                    <a:p>
                      <a:pPr algn="ctr"/>
                      <a:r>
                        <a:rPr sz="1400" b="0" i="0">
                          <a:solidFill>
                            <a:srgbClr val="1A1A1A"/>
                          </a:solidFill>
                          <a:latin typeface="Times New Roman"/>
                        </a:rPr>
                        <a:t>6.52</a:t>
                      </a:r>
                    </a:p>
                  </a:txBody>
                  <a:tcPr marL="80000" marR="80000" marT="30000" marB="30000" anchor="ctr">
                    <a:solidFill>
                      <a:srgbClr val="FFFFFF"/>
                    </a:solidFill>
                  </a:tcPr>
                </a:tc>
                <a:tc>
                  <a:txBody>
                    <a:bodyPr/>
                    <a:lstStyle/>
                    <a:p>
                      <a:pPr algn="ctr"/>
                      <a:r>
                        <a:rPr sz="1400" b="0" i="0">
                          <a:solidFill>
                            <a:srgbClr val="1A1A1A"/>
                          </a:solidFill>
                          <a:latin typeface="Times New Roman"/>
                        </a:rPr>
                        <a:t>6.42 ± 0.03</a:t>
                      </a:r>
                    </a:p>
                  </a:txBody>
                  <a:tcPr marL="80000" marR="80000" marT="30000" marB="30000" anchor="ctr">
                    <a:solidFill>
                      <a:srgbClr val="FFFFFF"/>
                    </a:solidFill>
                  </a:tcPr>
                </a:tc>
                <a:tc>
                  <a:txBody>
                    <a:bodyPr/>
                    <a:lstStyle/>
                    <a:p>
                      <a:pPr algn="ctr"/>
                      <a:r>
                        <a:rPr sz="1400" b="0" i="0">
                          <a:solidFill>
                            <a:srgbClr val="1A1A1A"/>
                          </a:solidFill>
                          <a:latin typeface="Times New Roman"/>
                        </a:rPr>
                        <a:t>6.29 ± 0.03</a:t>
                      </a:r>
                    </a:p>
                  </a:txBody>
                  <a:tcPr marL="80000" marR="80000" marT="30000" marB="30000" anchor="ctr">
                    <a:solidFill>
                      <a:srgbClr val="FFFFFF"/>
                    </a:solidFill>
                  </a:tcPr>
                </a:tc>
                <a:tc>
                  <a:txBody>
                    <a:bodyPr/>
                    <a:lstStyle/>
                    <a:p>
                      <a:pPr algn="ctr"/>
                      <a:r>
                        <a:rPr sz="1400" b="0" i="0">
                          <a:solidFill>
                            <a:srgbClr val="1A1A1A"/>
                          </a:solidFill>
                          <a:latin typeface="Times New Roman"/>
                        </a:rPr>
                        <a:t>0</a:t>
                      </a:r>
                    </a:p>
                  </a:txBody>
                  <a:tcPr marL="80000" marR="80000" marT="30000" marB="30000" anchor="ctr">
                    <a:solidFill>
                      <a:srgbClr val="FFFFFF"/>
                    </a:solidFill>
                  </a:tcPr>
                </a:tc>
                <a:tc>
                  <a:txBody>
                    <a:bodyPr/>
                    <a:lstStyle/>
                    <a:p>
                      <a:pPr algn="ctr"/>
                      <a:r>
                        <a:rPr sz="1400" b="0" i="0">
                          <a:solidFill>
                            <a:srgbClr val="1A1A1A"/>
                          </a:solidFill>
                          <a:latin typeface="Times New Roman"/>
                        </a:rPr>
                        <a:t>0.001</a:t>
                      </a:r>
                    </a:p>
                  </a:txBody>
                  <a:tcPr marL="80000" marR="80000" marT="30000" marB="30000" anchor="ctr">
                    <a:solidFill>
                      <a:srgbClr val="FFFFFF"/>
                    </a:solidFill>
                  </a:tcPr>
                </a:tc>
                <a:tc>
                  <a:txBody>
                    <a:bodyPr/>
                    <a:lstStyle/>
                    <a:p>
                      <a:pPr algn="ctr"/>
                      <a:r>
                        <a:rPr sz="1400" b="1" i="0">
                          <a:solidFill>
                            <a:srgbClr val="1A1A1A"/>
                          </a:solidFill>
                          <a:latin typeface="Times New Roman"/>
                        </a:rPr>
                        <a:t>Better, 10/10</a:t>
                      </a:r>
                    </a:p>
                  </a:txBody>
                  <a:tcPr marL="80000" marR="80000" marT="30000" marB="30000" anchor="ctr">
                    <a:solidFill>
                      <a:srgbClr val="FFFFFF"/>
                    </a:solidFill>
                  </a:tcPr>
                </a:tc>
                <a:extLst>
                  <a:ext uri="{0D108BD9-81ED-4DB2-BD59-A6C34878D82A}">
                    <a16:rowId xmlns:a16="http://schemas.microsoft.com/office/drawing/2014/main" val="10001"/>
                  </a:ext>
                </a:extLst>
              </a:tr>
              <a:tr h="365760">
                <a:tc>
                  <a:txBody>
                    <a:bodyPr/>
                    <a:lstStyle/>
                    <a:p>
                      <a:pPr algn="l"/>
                      <a:r>
                        <a:rPr sz="1400" b="1" i="0">
                          <a:solidFill>
                            <a:srgbClr val="1A1A1A"/>
                          </a:solidFill>
                          <a:latin typeface="Times New Roman"/>
                        </a:rPr>
                        <a:t>Davao</a:t>
                      </a:r>
                    </a:p>
                  </a:txBody>
                  <a:tcPr marL="80000" marR="80000" marT="30000" marB="30000" anchor="ctr">
                    <a:solidFill>
                      <a:srgbClr val="F8F1E0"/>
                    </a:solidFill>
                  </a:tcPr>
                </a:tc>
                <a:tc>
                  <a:txBody>
                    <a:bodyPr/>
                    <a:lstStyle/>
                    <a:p>
                      <a:pPr algn="ctr"/>
                      <a:r>
                        <a:rPr sz="1400" b="0" i="0">
                          <a:solidFill>
                            <a:srgbClr val="1A1A1A"/>
                          </a:solidFill>
                          <a:latin typeface="Times New Roman"/>
                        </a:rPr>
                        <a:t>7.85</a:t>
                      </a:r>
                    </a:p>
                  </a:txBody>
                  <a:tcPr marL="80000" marR="80000" marT="30000" marB="30000" anchor="ctr">
                    <a:solidFill>
                      <a:srgbClr val="F8F1E0"/>
                    </a:solidFill>
                  </a:tcPr>
                </a:tc>
                <a:tc>
                  <a:txBody>
                    <a:bodyPr/>
                    <a:lstStyle/>
                    <a:p>
                      <a:pPr algn="ctr"/>
                      <a:r>
                        <a:rPr sz="1400" b="0" i="0">
                          <a:solidFill>
                            <a:srgbClr val="1A1A1A"/>
                          </a:solidFill>
                          <a:latin typeface="Times New Roman"/>
                        </a:rPr>
                        <a:t>7.51 ± 0.03</a:t>
                      </a:r>
                    </a:p>
                  </a:txBody>
                  <a:tcPr marL="80000" marR="80000" marT="30000" marB="30000" anchor="ctr">
                    <a:solidFill>
                      <a:srgbClr val="F8F1E0"/>
                    </a:solidFill>
                  </a:tcPr>
                </a:tc>
                <a:tc>
                  <a:txBody>
                    <a:bodyPr/>
                    <a:lstStyle/>
                    <a:p>
                      <a:pPr algn="ctr"/>
                      <a:r>
                        <a:rPr sz="1400" b="0" i="0">
                          <a:solidFill>
                            <a:srgbClr val="1A1A1A"/>
                          </a:solidFill>
                          <a:latin typeface="Times New Roman"/>
                        </a:rPr>
                        <a:t>7.39 ± 0.05</a:t>
                      </a:r>
                    </a:p>
                  </a:txBody>
                  <a:tcPr marL="80000" marR="80000" marT="30000" marB="30000" anchor="ctr">
                    <a:solidFill>
                      <a:srgbClr val="F8F1E0"/>
                    </a:solidFill>
                  </a:tcPr>
                </a:tc>
                <a:tc>
                  <a:txBody>
                    <a:bodyPr/>
                    <a:lstStyle/>
                    <a:p>
                      <a:pPr algn="ctr"/>
                      <a:r>
                        <a:rPr sz="1400" b="0" i="0">
                          <a:solidFill>
                            <a:srgbClr val="1A1A1A"/>
                          </a:solidFill>
                          <a:latin typeface="Times New Roman"/>
                        </a:rPr>
                        <a:t>0</a:t>
                      </a:r>
                    </a:p>
                  </a:txBody>
                  <a:tcPr marL="80000" marR="80000" marT="30000" marB="30000" anchor="ctr">
                    <a:solidFill>
                      <a:srgbClr val="F8F1E0"/>
                    </a:solidFill>
                  </a:tcPr>
                </a:tc>
                <a:tc>
                  <a:txBody>
                    <a:bodyPr/>
                    <a:lstStyle/>
                    <a:p>
                      <a:pPr algn="ctr"/>
                      <a:r>
                        <a:rPr sz="1400" b="0" i="0">
                          <a:solidFill>
                            <a:srgbClr val="1A1A1A"/>
                          </a:solidFill>
                          <a:latin typeface="Times New Roman"/>
                        </a:rPr>
                        <a:t>0.001</a:t>
                      </a:r>
                    </a:p>
                  </a:txBody>
                  <a:tcPr marL="80000" marR="80000" marT="30000" marB="30000" anchor="ctr">
                    <a:solidFill>
                      <a:srgbClr val="F8F1E0"/>
                    </a:solidFill>
                  </a:tcPr>
                </a:tc>
                <a:tc>
                  <a:txBody>
                    <a:bodyPr/>
                    <a:lstStyle/>
                    <a:p>
                      <a:pPr algn="ctr"/>
                      <a:r>
                        <a:rPr sz="1400" b="1" i="0">
                          <a:solidFill>
                            <a:srgbClr val="1A1A1A"/>
                          </a:solidFill>
                          <a:latin typeface="Times New Roman"/>
                        </a:rPr>
                        <a:t>Better, 10/10</a:t>
                      </a:r>
                    </a:p>
                  </a:txBody>
                  <a:tcPr marL="80000" marR="80000" marT="30000" marB="30000" anchor="ctr">
                    <a:solidFill>
                      <a:srgbClr val="F8F1E0"/>
                    </a:solidFill>
                  </a:tcPr>
                </a:tc>
                <a:extLst>
                  <a:ext uri="{0D108BD9-81ED-4DB2-BD59-A6C34878D82A}">
                    <a16:rowId xmlns:a16="http://schemas.microsoft.com/office/drawing/2014/main" val="10002"/>
                  </a:ext>
                </a:extLst>
              </a:tr>
              <a:tr h="365760">
                <a:tc>
                  <a:txBody>
                    <a:bodyPr/>
                    <a:lstStyle/>
                    <a:p>
                      <a:pPr algn="l"/>
                      <a:r>
                        <a:rPr sz="1400" b="1" i="0">
                          <a:solidFill>
                            <a:srgbClr val="1A1A1A"/>
                          </a:solidFill>
                          <a:latin typeface="Times New Roman"/>
                        </a:rPr>
                        <a:t>Zamboanga</a:t>
                      </a:r>
                    </a:p>
                  </a:txBody>
                  <a:tcPr marL="80000" marR="80000" marT="30000" marB="30000" anchor="ctr">
                    <a:solidFill>
                      <a:srgbClr val="FFFFFF"/>
                    </a:solidFill>
                  </a:tcPr>
                </a:tc>
                <a:tc>
                  <a:txBody>
                    <a:bodyPr/>
                    <a:lstStyle/>
                    <a:p>
                      <a:pPr algn="ctr"/>
                      <a:r>
                        <a:rPr sz="1400" b="0" i="0">
                          <a:solidFill>
                            <a:srgbClr val="1A1A1A"/>
                          </a:solidFill>
                          <a:latin typeface="Times New Roman"/>
                        </a:rPr>
                        <a:t>3.65</a:t>
                      </a:r>
                    </a:p>
                  </a:txBody>
                  <a:tcPr marL="80000" marR="80000" marT="30000" marB="30000" anchor="ctr">
                    <a:solidFill>
                      <a:srgbClr val="FFFFFF"/>
                    </a:solidFill>
                  </a:tcPr>
                </a:tc>
                <a:tc>
                  <a:txBody>
                    <a:bodyPr/>
                    <a:lstStyle/>
                    <a:p>
                      <a:pPr algn="ctr"/>
                      <a:r>
                        <a:rPr sz="1400" b="0" i="0">
                          <a:solidFill>
                            <a:srgbClr val="1A1A1A"/>
                          </a:solidFill>
                          <a:latin typeface="Times New Roman"/>
                        </a:rPr>
                        <a:t>3.68 ± 0.04</a:t>
                      </a:r>
                    </a:p>
                  </a:txBody>
                  <a:tcPr marL="80000" marR="80000" marT="30000" marB="30000" anchor="ctr">
                    <a:solidFill>
                      <a:srgbClr val="FFFFFF"/>
                    </a:solidFill>
                  </a:tcPr>
                </a:tc>
                <a:tc>
                  <a:txBody>
                    <a:bodyPr/>
                    <a:lstStyle/>
                    <a:p>
                      <a:pPr algn="ctr"/>
                      <a:r>
                        <a:rPr sz="1400" b="0" i="0">
                          <a:solidFill>
                            <a:srgbClr val="1A1A1A"/>
                          </a:solidFill>
                          <a:latin typeface="Times New Roman"/>
                        </a:rPr>
                        <a:t>3.76 ± 0.04</a:t>
                      </a:r>
                    </a:p>
                  </a:txBody>
                  <a:tcPr marL="80000" marR="80000" marT="30000" marB="30000" anchor="ctr">
                    <a:solidFill>
                      <a:srgbClr val="FFFFFF"/>
                    </a:solidFill>
                  </a:tcPr>
                </a:tc>
                <a:tc>
                  <a:txBody>
                    <a:bodyPr/>
                    <a:lstStyle/>
                    <a:p>
                      <a:pPr algn="ctr"/>
                      <a:r>
                        <a:rPr sz="1400" b="0" i="0">
                          <a:solidFill>
                            <a:srgbClr val="1A1A1A"/>
                          </a:solidFill>
                          <a:latin typeface="Times New Roman"/>
                        </a:rPr>
                        <a:t>54</a:t>
                      </a:r>
                    </a:p>
                  </a:txBody>
                  <a:tcPr marL="80000" marR="80000" marT="30000" marB="30000" anchor="ctr">
                    <a:solidFill>
                      <a:srgbClr val="FFFFFF"/>
                    </a:solidFill>
                  </a:tcPr>
                </a:tc>
                <a:tc>
                  <a:txBody>
                    <a:bodyPr/>
                    <a:lstStyle/>
                    <a:p>
                      <a:pPr algn="ctr"/>
                      <a:r>
                        <a:rPr sz="1400" b="0" i="0">
                          <a:solidFill>
                            <a:srgbClr val="1A1A1A"/>
                          </a:solidFill>
                          <a:latin typeface="Times New Roman"/>
                        </a:rPr>
                        <a:t>0.999</a:t>
                      </a:r>
                    </a:p>
                  </a:txBody>
                  <a:tcPr marL="80000" marR="80000" marT="30000" marB="30000" anchor="ctr">
                    <a:solidFill>
                      <a:srgbClr val="FFFFFF"/>
                    </a:solidFill>
                  </a:tcPr>
                </a:tc>
                <a:tc>
                  <a:txBody>
                    <a:bodyPr/>
                    <a:lstStyle/>
                    <a:p>
                      <a:pPr algn="ctr"/>
                      <a:r>
                        <a:rPr sz="1400" b="1" i="0">
                          <a:solidFill>
                            <a:srgbClr val="1A1A1A"/>
                          </a:solidFill>
                          <a:latin typeface="Times New Roman"/>
                        </a:rPr>
                        <a:t>Not better</a:t>
                      </a:r>
                    </a:p>
                  </a:txBody>
                  <a:tcPr marL="80000" marR="80000" marT="30000" marB="30000" anchor="ctr">
                    <a:solidFill>
                      <a:srgbClr val="FFFFFF"/>
                    </a:solidFill>
                  </a:tcPr>
                </a:tc>
                <a:extLst>
                  <a:ext uri="{0D108BD9-81ED-4DB2-BD59-A6C34878D82A}">
                    <a16:rowId xmlns:a16="http://schemas.microsoft.com/office/drawing/2014/main" val="10003"/>
                  </a:ext>
                </a:extLst>
              </a:tr>
            </a:tbl>
          </a:graphicData>
        </a:graphic>
      </p:graphicFrame>
      <p:sp>
        <p:nvSpPr>
          <p:cNvPr id="12" name="Reading card"/>
          <p:cNvSpPr/>
          <p:nvPr/>
        </p:nvSpPr>
        <p:spPr>
          <a:xfrm>
            <a:off x="1499616" y="4434840"/>
            <a:ext cx="8796528" cy="169164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ading text"/>
          <p:cNvSpPr txBox="1"/>
          <p:nvPr/>
        </p:nvSpPr>
        <p:spPr>
          <a:xfrm>
            <a:off x="1682495" y="4544568"/>
            <a:ext cx="8430767" cy="1508760"/>
          </a:xfrm>
          <a:prstGeom prst="rect">
            <a:avLst/>
          </a:prstGeom>
          <a:noFill/>
        </p:spPr>
        <p:txBody>
          <a:bodyPr wrap="square" lIns="0" tIns="0" rIns="0" bIns="0" anchor="t">
            <a:spAutoFit/>
          </a:bodyPr>
          <a:lstStyle/>
          <a:p>
            <a:pPr algn="l">
              <a:spcAft>
                <a:spcPts val="500"/>
              </a:spcAft>
            </a:pPr>
            <a:r>
              <a:rPr sz="1400" b="0" i="0">
                <a:solidFill>
                  <a:srgbClr val="1A1A1A"/>
                </a:solidFill>
                <a:latin typeface="Times New Roman"/>
              </a:rPr>
              <a:t>• </a:t>
            </a:r>
            <a:r>
              <a:rPr sz="1400" b="1" i="0">
                <a:solidFill>
                  <a:srgbClr val="1A1A1A"/>
                </a:solidFill>
                <a:latin typeface="Times New Roman"/>
              </a:rPr>
              <a:t>Table: </a:t>
            </a:r>
            <a:r>
              <a:rPr sz="1400" b="0" i="0">
                <a:solidFill>
                  <a:srgbClr val="1A1A1A"/>
                </a:solidFill>
                <a:latin typeface="Times New Roman"/>
              </a:rPr>
              <a:t>MAE in cases per week; one-tailed Wilcoxon, full vs case-only, 10 runs per city, α = 0.05; 48 test weeks per city.</a:t>
            </a:r>
          </a:p>
          <a:p>
            <a:pPr algn="l">
              <a:spcAft>
                <a:spcPts val="500"/>
              </a:spcAft>
            </a:pPr>
            <a:r>
              <a:rPr sz="1400" b="0" i="0">
                <a:solidFill>
                  <a:srgbClr val="1A1A1A"/>
                </a:solidFill>
                <a:latin typeface="Times New Roman"/>
              </a:rPr>
              <a:t>• </a:t>
            </a:r>
            <a:r>
              <a:rPr sz="1400" b="1" i="0">
                <a:solidFill>
                  <a:srgbClr val="1A1A1A"/>
                </a:solidFill>
                <a:latin typeface="Times New Roman"/>
              </a:rPr>
              <a:t>Result: </a:t>
            </a:r>
            <a:r>
              <a:rPr sz="1400" b="0" i="0">
                <a:solidFill>
                  <a:srgbClr val="1A1A1A"/>
                </a:solidFill>
                <a:latin typeface="Times New Roman"/>
              </a:rPr>
              <a:t>Weather lowered MAE in all 10 runs in Davao and Cagayan de Oro (p = 0.001). In Zamboanga it did not (p = 0.999) and persistence had the lowest MAE.</a:t>
            </a:r>
          </a:p>
          <a:p>
            <a:pPr algn="l">
              <a:spcAft>
                <a:spcPts val="500"/>
              </a:spcAft>
            </a:pPr>
            <a:r>
              <a:rPr sz="1400" b="0" i="0">
                <a:solidFill>
                  <a:srgbClr val="1A1A1A"/>
                </a:solidFill>
                <a:latin typeface="Times New Roman"/>
              </a:rPr>
              <a:t>• </a:t>
            </a:r>
            <a:r>
              <a:rPr sz="1400" b="1" i="0">
                <a:solidFill>
                  <a:srgbClr val="1A1A1A"/>
                </a:solidFill>
                <a:latin typeface="Times New Roman"/>
              </a:rPr>
              <a:t>Context: </a:t>
            </a:r>
            <a:r>
              <a:rPr sz="1400" b="0" i="0">
                <a:solidFill>
                  <a:srgbClr val="1A1A1A"/>
                </a:solidFill>
                <a:latin typeface="Times New Roman"/>
              </a:rPr>
              <a:t>Median weekly cases in the test year: Davao 19.0, Cagayan de Oro 12.0, Zamboanga 4.5.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1500000" y="540000"/>
            <a:ext cx="8800000" cy="900000"/>
          </a:xfrm>
          <a:prstGeom prst="rect">
            <a:avLst/>
          </a:prstGeom>
          <a:noFill/>
        </p:spPr>
        <p:txBody>
          <a:bodyPr wrap="square" lIns="0" tIns="0" rIns="0" bIns="0" anchor="b">
            <a:spAutoFit/>
          </a:bodyPr>
          <a:lstStyle/>
          <a:p>
            <a:pPr algn="l">
              <a:spcAft>
                <a:spcPts val="0"/>
              </a:spcAft>
            </a:pPr>
            <a:r>
              <a:rPr sz="2800" b="1" i="0">
                <a:solidFill>
                  <a:srgbClr val="1A1A1A"/>
                </a:solidFill>
                <a:latin typeface="Times New Roman"/>
              </a:rPr>
              <a:t>Results and Discussion</a:t>
            </a:r>
          </a:p>
        </p:txBody>
      </p:sp>
      <p:sp>
        <p:nvSpPr>
          <p:cNvPr id="7" name="Slide Subtitle"/>
          <p:cNvSpPr txBox="1"/>
          <p:nvPr/>
        </p:nvSpPr>
        <p:spPr>
          <a:xfrm>
            <a:off x="1500000" y="1500000"/>
            <a:ext cx="8800000" cy="340000"/>
          </a:xfrm>
          <a:prstGeom prst="rect">
            <a:avLst/>
          </a:prstGeom>
          <a:noFill/>
        </p:spPr>
        <p:txBody>
          <a:bodyPr wrap="square" lIns="0" tIns="0" rIns="0" bIns="0" anchor="t">
            <a:spAutoFit/>
          </a:bodyPr>
          <a:lstStyle/>
          <a:p>
            <a:pPr algn="l">
              <a:spcAft>
                <a:spcPts val="0"/>
              </a:spcAft>
            </a:pPr>
            <a:r>
              <a:rPr sz="1800" b="1" i="0">
                <a:solidFill>
                  <a:srgbClr val="2F5597"/>
                </a:solidFill>
                <a:latin typeface="Times New Roman"/>
              </a:rPr>
              <a:t>RQ3 · Discussion and related literature</a:t>
            </a:r>
          </a:p>
        </p:txBody>
      </p:sp>
      <p:sp>
        <p:nvSpPr>
          <p:cNvPr id="8" name="RQ banner"/>
          <p:cNvSpPr/>
          <p:nvPr/>
        </p:nvSpPr>
        <p:spPr>
          <a:xfrm>
            <a:off x="1499616" y="1920240"/>
            <a:ext cx="8796528" cy="73152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Q label"/>
          <p:cNvSpPr/>
          <p:nvPr/>
        </p:nvSpPr>
        <p:spPr>
          <a:xfrm>
            <a:off x="1627631" y="2103120"/>
            <a:ext cx="731520" cy="36576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500" b="1" i="0">
                <a:solidFill>
                  <a:srgbClr val="FFFFFF"/>
                </a:solidFill>
                <a:latin typeface="Times New Roman"/>
              </a:rPr>
              <a:t>RQ3</a:t>
            </a:r>
          </a:p>
        </p:txBody>
      </p:sp>
      <p:sp>
        <p:nvSpPr>
          <p:cNvPr id="10" name="RQ text"/>
          <p:cNvSpPr txBox="1"/>
          <p:nvPr/>
        </p:nvSpPr>
        <p:spPr>
          <a:xfrm>
            <a:off x="2505456" y="2011680"/>
            <a:ext cx="7653527" cy="566928"/>
          </a:xfrm>
          <a:prstGeom prst="rect">
            <a:avLst/>
          </a:prstGeom>
          <a:noFill/>
        </p:spPr>
        <p:txBody>
          <a:bodyPr wrap="square" lIns="0" tIns="0" rIns="0" bIns="0" anchor="ctr">
            <a:spAutoFit/>
          </a:bodyPr>
          <a:lstStyle/>
          <a:p>
            <a:pPr algn="l">
              <a:spcAft>
                <a:spcPts val="0"/>
              </a:spcAft>
            </a:pPr>
            <a:r>
              <a:rPr sz="1400" b="0" i="0">
                <a:solidFill>
                  <a:srgbClr val="1A1A1A"/>
                </a:solidFill>
                <a:latin typeface="Times New Roman"/>
              </a:rPr>
              <a:t>How consistent are forecast accuracy and the contribution of meteorological features across individual cities?</a:t>
            </a:r>
          </a:p>
        </p:txBody>
      </p:sp>
      <p:sp>
        <p:nvSpPr>
          <p:cNvPr id="11" name="Discussion card"/>
          <p:cNvSpPr/>
          <p:nvPr/>
        </p:nvSpPr>
        <p:spPr>
          <a:xfrm>
            <a:off x="1499616" y="2788920"/>
            <a:ext cx="5029200" cy="333756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ill"/>
          <p:cNvSpPr/>
          <p:nvPr/>
        </p:nvSpPr>
        <p:spPr>
          <a:xfrm>
            <a:off x="1636775" y="2898648"/>
            <a:ext cx="1463040" cy="32918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400" b="1" i="0">
                <a:solidFill>
                  <a:srgbClr val="FFFFFF"/>
                </a:solidFill>
                <a:latin typeface="Times New Roman"/>
              </a:rPr>
              <a:t>Discussion</a:t>
            </a:r>
          </a:p>
        </p:txBody>
      </p:sp>
      <p:sp>
        <p:nvSpPr>
          <p:cNvPr id="13" name="Discussion text"/>
          <p:cNvSpPr txBox="1"/>
          <p:nvPr/>
        </p:nvSpPr>
        <p:spPr>
          <a:xfrm>
            <a:off x="1664207" y="3355848"/>
            <a:ext cx="4700016" cy="2679191"/>
          </a:xfrm>
          <a:prstGeom prst="rect">
            <a:avLst/>
          </a:prstGeom>
          <a:noFill/>
        </p:spPr>
        <p:txBody>
          <a:bodyPr wrap="square" lIns="0" tIns="0" rIns="0" bIns="0" anchor="t">
            <a:spAutoFit/>
          </a:bodyPr>
          <a:lstStyle/>
          <a:p>
            <a:pPr algn="l">
              <a:spcAft>
                <a:spcPts val="600"/>
              </a:spcAft>
            </a:pPr>
            <a:r>
              <a:rPr sz="1400" b="0" i="0">
                <a:solidFill>
                  <a:srgbClr val="1A1A1A"/>
                </a:solidFill>
                <a:latin typeface="Times New Roman"/>
              </a:rPr>
              <a:t>• </a:t>
            </a:r>
            <a:r>
              <a:rPr sz="1400" b="1" i="0">
                <a:solidFill>
                  <a:srgbClr val="1A1A1A"/>
                </a:solidFill>
                <a:latin typeface="Times New Roman"/>
              </a:rPr>
              <a:t>Answer: </a:t>
            </a:r>
            <a:r>
              <a:rPr sz="1400" b="0" i="0">
                <a:solidFill>
                  <a:srgbClr val="1A1A1A"/>
                </a:solidFill>
                <a:latin typeface="Times New Roman"/>
              </a:rPr>
              <a:t>Partly. Accuracy and the weather contribution differ by city, so one pooled number hides this.</a:t>
            </a:r>
          </a:p>
          <a:p>
            <a:pPr algn="l">
              <a:spcAft>
                <a:spcPts val="600"/>
              </a:spcAft>
            </a:pPr>
            <a:r>
              <a:rPr sz="1400" b="0" i="0">
                <a:solidFill>
                  <a:srgbClr val="1A1A1A"/>
                </a:solidFill>
                <a:latin typeface="Times New Roman"/>
              </a:rPr>
              <a:t>• </a:t>
            </a:r>
            <a:r>
              <a:rPr sz="1400" b="1" i="0">
                <a:solidFill>
                  <a:srgbClr val="1A1A1A"/>
                </a:solidFill>
                <a:latin typeface="Times New Roman"/>
              </a:rPr>
              <a:t>Davao, Cagayan de Oro: </a:t>
            </a:r>
            <a:r>
              <a:rPr sz="1400" b="0" i="0">
                <a:solidFill>
                  <a:srgbClr val="1A1A1A"/>
                </a:solidFill>
                <a:latin typeface="Times New Roman"/>
              </a:rPr>
              <a:t>Both XGBoost models beat persistence, and weather lowered MAE a further 0.12 to 0.13.</a:t>
            </a:r>
          </a:p>
          <a:p>
            <a:pPr algn="l">
              <a:spcAft>
                <a:spcPts val="600"/>
              </a:spcAft>
            </a:pPr>
            <a:r>
              <a:rPr sz="1400" b="0" i="0">
                <a:solidFill>
                  <a:srgbClr val="1A1A1A"/>
                </a:solidFill>
                <a:latin typeface="Times New Roman"/>
              </a:rPr>
              <a:t>• </a:t>
            </a:r>
            <a:r>
              <a:rPr sz="1400" b="1" i="0">
                <a:solidFill>
                  <a:srgbClr val="1A1A1A"/>
                </a:solidFill>
                <a:latin typeface="Times New Roman"/>
              </a:rPr>
              <a:t>Zamboanga: </a:t>
            </a:r>
            <a:r>
              <a:rPr sz="1400" b="0" i="0">
                <a:solidFill>
                  <a:srgbClr val="1A1A1A"/>
                </a:solidFill>
                <a:latin typeface="Times New Roman"/>
              </a:rPr>
              <a:t>Persistence was best (3.65 vs 3.76). Counts were lowest here, so there was little change for weather to explain (our interpretation).</a:t>
            </a:r>
          </a:p>
          <a:p>
            <a:pPr algn="l">
              <a:spcAft>
                <a:spcPts val="600"/>
              </a:spcAft>
            </a:pPr>
            <a:r>
              <a:rPr sz="1400" b="0" i="0">
                <a:solidFill>
                  <a:srgbClr val="1A1A1A"/>
                </a:solidFill>
                <a:latin typeface="Times New Roman"/>
              </a:rPr>
              <a:t>• </a:t>
            </a:r>
            <a:r>
              <a:rPr sz="1400" b="1" i="0">
                <a:solidFill>
                  <a:srgbClr val="1A1A1A"/>
                </a:solidFill>
                <a:latin typeface="Times New Roman"/>
              </a:rPr>
              <a:t>Caveat: </a:t>
            </a:r>
            <a:r>
              <a:rPr sz="1400" b="0" i="0">
                <a:solidFill>
                  <a:srgbClr val="1A1A1A"/>
                </a:solidFill>
                <a:latin typeface="Times New Roman"/>
              </a:rPr>
              <a:t>One test year, and a low-incidence one nationally; each city test uses 48 weeks.</a:t>
            </a:r>
          </a:p>
        </p:txBody>
      </p:sp>
      <p:sp>
        <p:nvSpPr>
          <p:cNvPr id="14" name="Literature card"/>
          <p:cNvSpPr/>
          <p:nvPr/>
        </p:nvSpPr>
        <p:spPr>
          <a:xfrm>
            <a:off x="6711696" y="2788920"/>
            <a:ext cx="3584447" cy="333756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Literature label"/>
          <p:cNvSpPr/>
          <p:nvPr/>
        </p:nvSpPr>
        <p:spPr>
          <a:xfrm>
            <a:off x="6848856" y="2898648"/>
            <a:ext cx="1920240" cy="32918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60000" tIns="0" rIns="60000" bIns="0" rtlCol="0" anchor="ctr"/>
          <a:lstStyle/>
          <a:p>
            <a:pPr algn="ctr">
              <a:spcAft>
                <a:spcPts val="0"/>
              </a:spcAft>
            </a:pPr>
            <a:r>
              <a:rPr sz="1400" b="1" i="0">
                <a:solidFill>
                  <a:srgbClr val="FFFFFF"/>
                </a:solidFill>
                <a:latin typeface="Times New Roman"/>
              </a:rPr>
              <a:t>Related literature</a:t>
            </a:r>
          </a:p>
        </p:txBody>
      </p:sp>
      <p:sp>
        <p:nvSpPr>
          <p:cNvPr id="16" name="Literature text"/>
          <p:cNvSpPr txBox="1"/>
          <p:nvPr/>
        </p:nvSpPr>
        <p:spPr>
          <a:xfrm>
            <a:off x="6876288" y="3355848"/>
            <a:ext cx="3255263" cy="2679191"/>
          </a:xfrm>
          <a:prstGeom prst="rect">
            <a:avLst/>
          </a:prstGeom>
          <a:noFill/>
        </p:spPr>
        <p:txBody>
          <a:bodyPr wrap="square" lIns="0" tIns="0" rIns="0" bIns="0" anchor="t">
            <a:spAutoFit/>
          </a:bodyPr>
          <a:lstStyle/>
          <a:p>
            <a:pPr algn="l">
              <a:spcAft>
                <a:spcPts val="600"/>
              </a:spcAft>
            </a:pPr>
            <a:r>
              <a:rPr sz="1300" b="1" i="0">
                <a:solidFill>
                  <a:srgbClr val="2F5597"/>
                </a:solidFill>
                <a:latin typeface="Times New Roman"/>
              </a:rPr>
              <a:t>DOH (2020): </a:t>
            </a:r>
            <a:r>
              <a:rPr sz="1300" b="0" i="0">
                <a:solidFill>
                  <a:srgbClr val="1A1A1A"/>
                </a:solidFill>
                <a:latin typeface="Times New Roman"/>
              </a:rPr>
              <a:t>national dengue cases fell 76% from January to mid-August 2020 against 2019.</a:t>
            </a:r>
          </a:p>
          <a:p>
            <a:pPr algn="l">
              <a:spcAft>
                <a:spcPts val="600"/>
              </a:spcAft>
            </a:pPr>
            <a:r>
              <a:rPr sz="1300" b="1" i="0">
                <a:solidFill>
                  <a:srgbClr val="2F5597"/>
                </a:solidFill>
                <a:latin typeface="Times New Roman"/>
              </a:rPr>
              <a:t>WPSAR (2021): </a:t>
            </a:r>
            <a:r>
              <a:rPr sz="1300" b="0" i="0">
                <a:solidFill>
                  <a:srgbClr val="1A1A1A"/>
                </a:solidFill>
                <a:latin typeface="Times New Roman"/>
              </a:rPr>
              <a:t>notified cases in the Philippines fell about 70 to 90% in weeks 28 to 40 of 2020.</a:t>
            </a:r>
          </a:p>
          <a:p>
            <a:pPr algn="l">
              <a:spcAft>
                <a:spcPts val="600"/>
              </a:spcAft>
            </a:pPr>
            <a:r>
              <a:rPr sz="1300" b="1" i="0">
                <a:solidFill>
                  <a:srgbClr val="2F5597"/>
                </a:solidFill>
                <a:latin typeface="Times New Roman"/>
              </a:rPr>
              <a:t>Delena (2026); Ligue &amp; Ligue (2022): </a:t>
            </a:r>
            <a:r>
              <a:rPr sz="1300" b="0" i="0">
                <a:solidFill>
                  <a:srgbClr val="1A1A1A"/>
                </a:solidFill>
                <a:latin typeface="Times New Roman"/>
              </a:rPr>
              <a:t>single-locality studies (Zamboanga Sibugay; Davao City, monthly); a three-city view exposes city differences.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2D02E7-7440-A81D-B220-981C12E9DD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lide Title"/>
          <p:cNvSpPr txBox="1"/>
          <p:nvPr/>
        </p:nvSpPr>
        <p:spPr>
          <a:xfrm>
            <a:off x="1500000" y="1009113"/>
            <a:ext cx="8800000" cy="430887"/>
          </a:xfrm>
          <a:prstGeom prst="rect">
            <a:avLst/>
          </a:prstGeom>
          <a:noFill/>
        </p:spPr>
        <p:txBody>
          <a:bodyPr wrap="square" lIns="0" tIns="0" rIns="0" bIns="0" anchor="b">
            <a:spAutoFit/>
          </a:bodyPr>
          <a:lstStyle/>
          <a:p>
            <a:pPr algn="l">
              <a:spcAft>
                <a:spcPts val="0"/>
              </a:spcAft>
            </a:pPr>
            <a:r>
              <a:rPr lang="en-SG" sz="2800" b="1" i="0" dirty="0">
                <a:solidFill>
                  <a:srgbClr val="1A1A1A"/>
                </a:solidFill>
                <a:latin typeface="Times New Roman"/>
              </a:rPr>
              <a:t>Key Takeaways &amp; Synthesis</a:t>
            </a:r>
            <a:endParaRPr sz="2800" b="1" i="0" dirty="0">
              <a:solidFill>
                <a:srgbClr val="1A1A1A"/>
              </a:solidFill>
              <a:latin typeface="Times New Roman"/>
            </a:endParaRPr>
          </a:p>
        </p:txBody>
      </p:sp>
      <p:sp>
        <p:nvSpPr>
          <p:cNvPr id="5" name="Conclusion box"/>
          <p:cNvSpPr/>
          <p:nvPr/>
        </p:nvSpPr>
        <p:spPr>
          <a:xfrm>
            <a:off x="1500000" y="1900000"/>
            <a:ext cx="8800000" cy="370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00000" y="2100000"/>
            <a:ext cx="8200000" cy="3300000"/>
          </a:xfrm>
          <a:prstGeom prst="rect">
            <a:avLst/>
          </a:prstGeom>
          <a:noFill/>
        </p:spPr>
        <p:txBody>
          <a:bodyPr wrap="square" lIns="0" tIns="0" rIns="0" bIns="0" anchor="ctr">
            <a:spAutoFit/>
          </a:bodyPr>
          <a:lstStyle/>
          <a:p>
            <a:pPr algn="l">
              <a:spcAft>
                <a:spcPts val="0"/>
              </a:spcAft>
            </a:pPr>
            <a:r>
              <a:rPr sz="2800" b="0" i="0">
                <a:solidFill>
                  <a:srgbClr val="1A1A1A"/>
                </a:solidFill>
                <a:latin typeface="Times New Roman"/>
              </a:rPr>
              <a:t>On the 2020 hold-out, full XGBoost narrowly beat persistence </a:t>
            </a:r>
            <a:r>
              <a:rPr sz="2800" b="1" i="0">
                <a:solidFill>
                  <a:srgbClr val="2F5597"/>
                </a:solidFill>
                <a:latin typeface="Times New Roman"/>
              </a:rPr>
              <a:t>(MAE 5.94 vs 6.01)</a:t>
            </a:r>
            <a:r>
              <a:rPr sz="2800" b="0" i="0">
                <a:solidFill>
                  <a:srgbClr val="1A1A1A"/>
                </a:solidFill>
                <a:latin typeface="Times New Roman"/>
              </a:rPr>
              <a:t> and case-only XGBoost (6.00) in </a:t>
            </a:r>
            <a:r>
              <a:rPr sz="2800" b="1" i="0">
                <a:solidFill>
                  <a:srgbClr val="2F5597"/>
                </a:solidFill>
                <a:latin typeface="Times New Roman"/>
              </a:rPr>
              <a:t>10 of 10 runs</a:t>
            </a:r>
            <a:r>
              <a:rPr sz="2800" b="0" i="0">
                <a:solidFill>
                  <a:srgbClr val="1A1A1A"/>
                </a:solidFill>
                <a:latin typeface="Times New Roman"/>
              </a:rPr>
              <a:t>, so lagged weather added a small but consistent gain; it helped in Davao and Cagayan de Oro but not in </a:t>
            </a:r>
            <a:r>
              <a:rPr sz="2800" b="1" i="0">
                <a:solidFill>
                  <a:srgbClr val="2F5597"/>
                </a:solidFill>
                <a:latin typeface="Times New Roman"/>
              </a:rPr>
              <a:t>Zamboanga</a:t>
            </a:r>
            <a:r>
              <a:rPr sz="2800" b="0" i="0">
                <a:solidFill>
                  <a:srgbClr val="1A1A1A"/>
                </a:solidFill>
                <a:latin typeface="Times New Roman"/>
              </a:rPr>
              <a:t>.</a:t>
            </a:r>
          </a:p>
        </p:txBody>
      </p:sp>
    </p:spTree>
    <p:extLst>
      <p:ext uri="{BB962C8B-B14F-4D97-AF65-F5344CB8AC3E}">
        <p14:creationId xmlns:p14="http://schemas.microsoft.com/office/powerpoint/2010/main" val="21219539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0E0DDF-2197-39E7-8941-48EF72EBAA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Slide Title">
            <a:extLst>
              <a:ext uri="{FF2B5EF4-FFF2-40B4-BE49-F238E27FC236}">
                <a16:creationId xmlns:a16="http://schemas.microsoft.com/office/drawing/2014/main" id="{D0DCCFFA-22EC-BE65-4494-86656804C4B5}"/>
              </a:ext>
            </a:extLst>
          </p:cNvPr>
          <p:cNvSpPr txBox="1"/>
          <p:nvPr/>
        </p:nvSpPr>
        <p:spPr>
          <a:xfrm>
            <a:off x="1500000" y="540000"/>
            <a:ext cx="8800000" cy="900000"/>
          </a:xfrm>
          <a:prstGeom prst="rect">
            <a:avLst/>
          </a:prstGeom>
          <a:noFill/>
        </p:spPr>
        <p:txBody>
          <a:bodyPr wrap="square" lIns="0" tIns="0" rIns="0" bIns="0" anchor="b">
            <a:noAutofit/>
          </a:bodyPr>
          <a:lstStyle/>
          <a:p>
            <a:pPr algn="l">
              <a:spcAft>
                <a:spcPts val="0"/>
              </a:spcAft>
              <a:buNone/>
            </a:pPr>
            <a:r>
              <a:rPr lang="en-US" sz="2800" b="1" i="0" dirty="0">
                <a:solidFill>
                  <a:srgbClr val="1A1A1A"/>
                </a:solidFill>
                <a:latin typeface="Times New Roman"/>
                <a:cs typeface="Times New Roman"/>
              </a:rPr>
              <a:t>Key Takeaways &amp; Synthesis</a:t>
            </a:r>
          </a:p>
        </p:txBody>
      </p:sp>
      <p:sp>
        <p:nvSpPr>
          <p:cNvPr id="7" name="Slide Subtitle">
            <a:extLst>
              <a:ext uri="{FF2B5EF4-FFF2-40B4-BE49-F238E27FC236}">
                <a16:creationId xmlns:a16="http://schemas.microsoft.com/office/drawing/2014/main" id="{E0CF4CF0-E24F-2F80-AE97-7A357EA180DD}"/>
              </a:ext>
            </a:extLst>
          </p:cNvPr>
          <p:cNvSpPr txBox="1"/>
          <p:nvPr/>
        </p:nvSpPr>
        <p:spPr>
          <a:xfrm>
            <a:off x="1500000" y="1500000"/>
            <a:ext cx="8800000" cy="340000"/>
          </a:xfrm>
          <a:prstGeom prst="rect">
            <a:avLst/>
          </a:prstGeom>
          <a:noFill/>
        </p:spPr>
        <p:txBody>
          <a:bodyPr wrap="square" lIns="0" tIns="0" rIns="0" bIns="0" anchor="t">
            <a:noAutofit/>
          </a:bodyPr>
          <a:lstStyle/>
          <a:p>
            <a:pPr algn="l">
              <a:spcAft>
                <a:spcPts val="0"/>
              </a:spcAft>
              <a:buNone/>
            </a:pPr>
            <a:r>
              <a:rPr lang="en-US" sz="1800" b="1" i="0" dirty="0">
                <a:solidFill>
                  <a:srgbClr val="2F5597"/>
                </a:solidFill>
                <a:latin typeface="Times New Roman"/>
                <a:cs typeface="Times New Roman"/>
              </a:rPr>
              <a:t>What it means, and what it does not</a:t>
            </a:r>
          </a:p>
        </p:txBody>
      </p:sp>
      <p:sp>
        <p:nvSpPr>
          <p:cNvPr id="9" name="Meaning card 1">
            <a:extLst>
              <a:ext uri="{FF2B5EF4-FFF2-40B4-BE49-F238E27FC236}">
                <a16:creationId xmlns:a16="http://schemas.microsoft.com/office/drawing/2014/main" id="{FF2180B7-3AC6-E673-3C72-7E5AB8EA670D}"/>
              </a:ext>
            </a:extLst>
          </p:cNvPr>
          <p:cNvSpPr/>
          <p:nvPr/>
        </p:nvSpPr>
        <p:spPr>
          <a:xfrm>
            <a:off x="1500000" y="1980000"/>
            <a:ext cx="8800000" cy="123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11" name="Meaning number 1">
            <a:extLst>
              <a:ext uri="{FF2B5EF4-FFF2-40B4-BE49-F238E27FC236}">
                <a16:creationId xmlns:a16="http://schemas.microsoft.com/office/drawing/2014/main" id="{4174C57F-3303-A5E5-B667-F76EF61C30FC}"/>
              </a:ext>
            </a:extLst>
          </p:cNvPr>
          <p:cNvSpPr/>
          <p:nvPr/>
        </p:nvSpPr>
        <p:spPr>
          <a:xfrm>
            <a:off x="1720000" y="2315000"/>
            <a:ext cx="560000" cy="560000"/>
          </a:xfrm>
          <a:prstGeom prst="ellipse">
            <a:avLst/>
          </a:prstGeom>
          <a:solidFill>
            <a:srgbClr val="2F5597"/>
          </a:solidFill>
          <a:ln>
            <a:noFill/>
          </a:ln>
          <a:effectLst/>
        </p:spPr>
        <p:txBody>
          <a:bodyPr wrap="square" lIns="0" tIns="0" rIns="0" bIns="0" rtlCol="0" anchor="ctr">
            <a:noAutofit/>
          </a:bodyPr>
          <a:lstStyle/>
          <a:p>
            <a:pPr algn="ctr">
              <a:spcAft>
                <a:spcPts val="0"/>
              </a:spcAft>
              <a:buNone/>
            </a:pPr>
            <a:r>
              <a:rPr lang="en-US" sz="2200" b="1" i="0" dirty="0">
                <a:solidFill>
                  <a:srgbClr val="FFFFFF"/>
                </a:solidFill>
                <a:latin typeface="Times New Roman"/>
                <a:cs typeface="Times New Roman"/>
              </a:rPr>
              <a:t>1</a:t>
            </a:r>
          </a:p>
        </p:txBody>
      </p:sp>
      <p:sp>
        <p:nvSpPr>
          <p:cNvPr id="13" name="Meaning headline 1">
            <a:extLst>
              <a:ext uri="{FF2B5EF4-FFF2-40B4-BE49-F238E27FC236}">
                <a16:creationId xmlns:a16="http://schemas.microsoft.com/office/drawing/2014/main" id="{933C998E-BAC0-893E-B209-1C7E2263D656}"/>
              </a:ext>
            </a:extLst>
          </p:cNvPr>
          <p:cNvSpPr txBox="1"/>
          <p:nvPr/>
        </p:nvSpPr>
        <p:spPr>
          <a:xfrm>
            <a:off x="2550000" y="2100000"/>
            <a:ext cx="7550000" cy="400000"/>
          </a:xfrm>
          <a:prstGeom prst="rect">
            <a:avLst/>
          </a:prstGeom>
          <a:noFill/>
        </p:spPr>
        <p:txBody>
          <a:bodyPr wrap="square" lIns="0" tIns="0" rIns="0" bIns="0" anchor="ctr">
            <a:noAutofit/>
          </a:bodyPr>
          <a:lstStyle/>
          <a:p>
            <a:pPr algn="l">
              <a:spcAft>
                <a:spcPts val="0"/>
              </a:spcAft>
              <a:buNone/>
            </a:pPr>
            <a:r>
              <a:rPr lang="en-US" sz="2000" b="1" i="0" dirty="0">
                <a:solidFill>
                  <a:srgbClr val="1A1A1A"/>
                </a:solidFill>
                <a:latin typeface="Times New Roman"/>
                <a:cs typeface="Times New Roman"/>
              </a:rPr>
              <a:t>Recent case history carries most of the signal</a:t>
            </a:r>
          </a:p>
        </p:txBody>
      </p:sp>
      <p:sp>
        <p:nvSpPr>
          <p:cNvPr id="15" name="Meaning text 1">
            <a:extLst>
              <a:ext uri="{FF2B5EF4-FFF2-40B4-BE49-F238E27FC236}">
                <a16:creationId xmlns:a16="http://schemas.microsoft.com/office/drawing/2014/main" id="{473BF257-4BB1-27E6-422D-4B023C40E2F3}"/>
              </a:ext>
            </a:extLst>
          </p:cNvPr>
          <p:cNvSpPr txBox="1"/>
          <p:nvPr/>
        </p:nvSpPr>
        <p:spPr>
          <a:xfrm>
            <a:off x="2550000" y="2550000"/>
            <a:ext cx="7550000" cy="600000"/>
          </a:xfrm>
          <a:prstGeom prst="rect">
            <a:avLst/>
          </a:prstGeom>
          <a:noFill/>
        </p:spPr>
        <p:txBody>
          <a:bodyPr wrap="square" lIns="0" tIns="0" rIns="0" bIns="0" anchor="t">
            <a:noAutofit/>
          </a:bodyPr>
          <a:lstStyle/>
          <a:p>
            <a:pPr algn="l">
              <a:spcAft>
                <a:spcPts val="0"/>
              </a:spcAft>
              <a:buNone/>
            </a:pPr>
            <a:r>
              <a:rPr lang="en-US" sz="1600" b="0" i="0" dirty="0">
                <a:solidFill>
                  <a:srgbClr val="4A4A4A"/>
                </a:solidFill>
                <a:latin typeface="Times New Roman"/>
                <a:cs typeface="Times New Roman"/>
              </a:rPr>
              <a:t>Persistence is hard to beat; in the tuned run, 0.068 of the 0.083 R² gain over it is already in the case-only model.</a:t>
            </a:r>
          </a:p>
        </p:txBody>
      </p:sp>
      <p:sp>
        <p:nvSpPr>
          <p:cNvPr id="17" name="Meaning card 2">
            <a:extLst>
              <a:ext uri="{FF2B5EF4-FFF2-40B4-BE49-F238E27FC236}">
                <a16:creationId xmlns:a16="http://schemas.microsoft.com/office/drawing/2014/main" id="{15070B8E-7D81-34CE-4FDC-705547FE7727}"/>
              </a:ext>
            </a:extLst>
          </p:cNvPr>
          <p:cNvSpPr/>
          <p:nvPr/>
        </p:nvSpPr>
        <p:spPr>
          <a:xfrm>
            <a:off x="1500000" y="3310000"/>
            <a:ext cx="8800000" cy="123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19" name="Meaning number 2">
            <a:extLst>
              <a:ext uri="{FF2B5EF4-FFF2-40B4-BE49-F238E27FC236}">
                <a16:creationId xmlns:a16="http://schemas.microsoft.com/office/drawing/2014/main" id="{67A9B458-711E-71E9-0171-E6AC61E982DB}"/>
              </a:ext>
            </a:extLst>
          </p:cNvPr>
          <p:cNvSpPr/>
          <p:nvPr/>
        </p:nvSpPr>
        <p:spPr>
          <a:xfrm>
            <a:off x="1720000" y="3645000"/>
            <a:ext cx="560000" cy="560000"/>
          </a:xfrm>
          <a:prstGeom prst="ellipse">
            <a:avLst/>
          </a:prstGeom>
          <a:solidFill>
            <a:srgbClr val="2E7D32"/>
          </a:solidFill>
          <a:ln>
            <a:noFill/>
          </a:ln>
          <a:effectLst/>
        </p:spPr>
        <p:txBody>
          <a:bodyPr wrap="square" lIns="0" tIns="0" rIns="0" bIns="0" rtlCol="0" anchor="ctr">
            <a:noAutofit/>
          </a:bodyPr>
          <a:lstStyle/>
          <a:p>
            <a:pPr algn="ctr">
              <a:spcAft>
                <a:spcPts val="0"/>
              </a:spcAft>
              <a:buNone/>
            </a:pPr>
            <a:r>
              <a:rPr lang="en-US" sz="2200" b="1" i="0" dirty="0">
                <a:solidFill>
                  <a:srgbClr val="FFFFFF"/>
                </a:solidFill>
                <a:latin typeface="Times New Roman"/>
                <a:cs typeface="Times New Roman"/>
              </a:rPr>
              <a:t>2</a:t>
            </a:r>
          </a:p>
        </p:txBody>
      </p:sp>
      <p:sp>
        <p:nvSpPr>
          <p:cNvPr id="21" name="Meaning headline 2">
            <a:extLst>
              <a:ext uri="{FF2B5EF4-FFF2-40B4-BE49-F238E27FC236}">
                <a16:creationId xmlns:a16="http://schemas.microsoft.com/office/drawing/2014/main" id="{8AB3CFE2-0807-4F40-6CE9-376669A855E9}"/>
              </a:ext>
            </a:extLst>
          </p:cNvPr>
          <p:cNvSpPr txBox="1"/>
          <p:nvPr/>
        </p:nvSpPr>
        <p:spPr>
          <a:xfrm>
            <a:off x="2550000" y="3430000"/>
            <a:ext cx="7550000" cy="400000"/>
          </a:xfrm>
          <a:prstGeom prst="rect">
            <a:avLst/>
          </a:prstGeom>
          <a:noFill/>
        </p:spPr>
        <p:txBody>
          <a:bodyPr wrap="square" lIns="0" tIns="0" rIns="0" bIns="0" anchor="ctr">
            <a:noAutofit/>
          </a:bodyPr>
          <a:lstStyle/>
          <a:p>
            <a:pPr algn="l">
              <a:spcAft>
                <a:spcPts val="0"/>
              </a:spcAft>
              <a:buNone/>
            </a:pPr>
            <a:r>
              <a:rPr lang="en-US" sz="2000" b="1" i="0" dirty="0">
                <a:solidFill>
                  <a:srgbClr val="1A1A1A"/>
                </a:solidFill>
                <a:latin typeface="Times New Roman"/>
                <a:cs typeface="Times New Roman"/>
              </a:rPr>
              <a:t>Weather adds a small, consistent gain</a:t>
            </a:r>
          </a:p>
        </p:txBody>
      </p:sp>
      <p:sp>
        <p:nvSpPr>
          <p:cNvPr id="23" name="Meaning text 2">
            <a:extLst>
              <a:ext uri="{FF2B5EF4-FFF2-40B4-BE49-F238E27FC236}">
                <a16:creationId xmlns:a16="http://schemas.microsoft.com/office/drawing/2014/main" id="{E039F6F6-016F-FE0B-0D19-4E8E36227D92}"/>
              </a:ext>
            </a:extLst>
          </p:cNvPr>
          <p:cNvSpPr txBox="1"/>
          <p:nvPr/>
        </p:nvSpPr>
        <p:spPr>
          <a:xfrm>
            <a:off x="2550000" y="3880000"/>
            <a:ext cx="7550000" cy="600000"/>
          </a:xfrm>
          <a:prstGeom prst="rect">
            <a:avLst/>
          </a:prstGeom>
          <a:noFill/>
        </p:spPr>
        <p:txBody>
          <a:bodyPr wrap="square" lIns="0" tIns="0" rIns="0" bIns="0" anchor="t">
            <a:noAutofit/>
          </a:bodyPr>
          <a:lstStyle/>
          <a:p>
            <a:pPr algn="l">
              <a:spcAft>
                <a:spcPts val="0"/>
              </a:spcAft>
              <a:buNone/>
            </a:pPr>
            <a:r>
              <a:rPr lang="en-US" sz="1600" b="0" i="0" dirty="0">
                <a:solidFill>
                  <a:srgbClr val="4A4A4A"/>
                </a:solidFill>
                <a:latin typeface="Times New Roman"/>
                <a:cs typeface="Times New Roman"/>
              </a:rPr>
              <a:t>The 22 weather features cut MAE by about 1% and raised R² from 0.256 to 0.271, in all 10 runs, but the 95% ranges overlap.</a:t>
            </a:r>
          </a:p>
        </p:txBody>
      </p:sp>
      <p:sp>
        <p:nvSpPr>
          <p:cNvPr id="25" name="Meaning card 3">
            <a:extLst>
              <a:ext uri="{FF2B5EF4-FFF2-40B4-BE49-F238E27FC236}">
                <a16:creationId xmlns:a16="http://schemas.microsoft.com/office/drawing/2014/main" id="{7A360F55-3B31-73D3-774B-615F8F34CD32}"/>
              </a:ext>
            </a:extLst>
          </p:cNvPr>
          <p:cNvSpPr/>
          <p:nvPr/>
        </p:nvSpPr>
        <p:spPr>
          <a:xfrm>
            <a:off x="1500000" y="4640000"/>
            <a:ext cx="8800000" cy="1230000"/>
          </a:xfrm>
          <a:prstGeom prst="roundRect">
            <a:avLst>
              <a:gd name="adj" fmla="val 6000"/>
            </a:avLst>
          </a:prstGeom>
          <a:solidFill>
            <a:srgbClr val="FFFFFF"/>
          </a:solidFill>
          <a:ln w="12700">
            <a:solidFill>
              <a:srgbClr val="E6D8BC"/>
            </a:solidFill>
          </a:ln>
          <a:effectLst/>
        </p:spPr>
        <p:txBody>
          <a:bodyPr wrap="square" lIns="60000" tIns="0" rIns="60000" bIns="0" rtlCol="0" anchor="ctr">
            <a:noAutofit/>
          </a:bodyPr>
          <a:lstStyle/>
          <a:p>
            <a:endParaRPr lang="en-US"/>
          </a:p>
        </p:txBody>
      </p:sp>
      <p:sp>
        <p:nvSpPr>
          <p:cNvPr id="27" name="Meaning number 3">
            <a:extLst>
              <a:ext uri="{FF2B5EF4-FFF2-40B4-BE49-F238E27FC236}">
                <a16:creationId xmlns:a16="http://schemas.microsoft.com/office/drawing/2014/main" id="{E7B556D6-A420-292D-28C3-35BE2C16C5BE}"/>
              </a:ext>
            </a:extLst>
          </p:cNvPr>
          <p:cNvSpPr/>
          <p:nvPr/>
        </p:nvSpPr>
        <p:spPr>
          <a:xfrm>
            <a:off x="1720000" y="4975000"/>
            <a:ext cx="560000" cy="560000"/>
          </a:xfrm>
          <a:prstGeom prst="ellipse">
            <a:avLst/>
          </a:prstGeom>
          <a:solidFill>
            <a:srgbClr val="C62828"/>
          </a:solidFill>
          <a:ln>
            <a:noFill/>
          </a:ln>
          <a:effectLst/>
        </p:spPr>
        <p:txBody>
          <a:bodyPr wrap="square" lIns="0" tIns="0" rIns="0" bIns="0" rtlCol="0" anchor="ctr">
            <a:noAutofit/>
          </a:bodyPr>
          <a:lstStyle/>
          <a:p>
            <a:pPr algn="ctr">
              <a:spcAft>
                <a:spcPts val="0"/>
              </a:spcAft>
              <a:buNone/>
            </a:pPr>
            <a:r>
              <a:rPr lang="en-US" sz="2200" b="1" i="0" dirty="0">
                <a:solidFill>
                  <a:srgbClr val="FFFFFF"/>
                </a:solidFill>
                <a:latin typeface="Times New Roman"/>
                <a:cs typeface="Times New Roman"/>
              </a:rPr>
              <a:t>3</a:t>
            </a:r>
          </a:p>
        </p:txBody>
      </p:sp>
      <p:sp>
        <p:nvSpPr>
          <p:cNvPr id="29" name="Meaning headline 3">
            <a:extLst>
              <a:ext uri="{FF2B5EF4-FFF2-40B4-BE49-F238E27FC236}">
                <a16:creationId xmlns:a16="http://schemas.microsoft.com/office/drawing/2014/main" id="{E3FC332D-CBB3-1339-52AD-A0566EBA7E8A}"/>
              </a:ext>
            </a:extLst>
          </p:cNvPr>
          <p:cNvSpPr txBox="1"/>
          <p:nvPr/>
        </p:nvSpPr>
        <p:spPr>
          <a:xfrm>
            <a:off x="2550000" y="4760000"/>
            <a:ext cx="7550000" cy="400000"/>
          </a:xfrm>
          <a:prstGeom prst="rect">
            <a:avLst/>
          </a:prstGeom>
          <a:noFill/>
        </p:spPr>
        <p:txBody>
          <a:bodyPr wrap="square" lIns="0" tIns="0" rIns="0" bIns="0" anchor="ctr">
            <a:noAutofit/>
          </a:bodyPr>
          <a:lstStyle/>
          <a:p>
            <a:pPr algn="l">
              <a:spcAft>
                <a:spcPts val="0"/>
              </a:spcAft>
              <a:buNone/>
            </a:pPr>
            <a:r>
              <a:rPr lang="en-US" sz="2000" b="1" i="0" dirty="0">
                <a:solidFill>
                  <a:srgbClr val="1A1A1A"/>
                </a:solidFill>
                <a:latin typeface="Times New Roman"/>
                <a:cs typeface="Times New Roman"/>
              </a:rPr>
              <a:t>Read it with care</a:t>
            </a:r>
          </a:p>
        </p:txBody>
      </p:sp>
      <p:sp>
        <p:nvSpPr>
          <p:cNvPr id="31" name="Meaning text 3">
            <a:extLst>
              <a:ext uri="{FF2B5EF4-FFF2-40B4-BE49-F238E27FC236}">
                <a16:creationId xmlns:a16="http://schemas.microsoft.com/office/drawing/2014/main" id="{677898BF-E58C-B23F-5278-6322451DEA09}"/>
              </a:ext>
            </a:extLst>
          </p:cNvPr>
          <p:cNvSpPr txBox="1"/>
          <p:nvPr/>
        </p:nvSpPr>
        <p:spPr>
          <a:xfrm>
            <a:off x="2550000" y="5210000"/>
            <a:ext cx="7550000" cy="600000"/>
          </a:xfrm>
          <a:prstGeom prst="rect">
            <a:avLst/>
          </a:prstGeom>
          <a:noFill/>
        </p:spPr>
        <p:txBody>
          <a:bodyPr wrap="square" lIns="0" tIns="0" rIns="0" bIns="0" anchor="t">
            <a:noAutofit/>
          </a:bodyPr>
          <a:lstStyle/>
          <a:p>
            <a:pPr algn="l">
              <a:spcAft>
                <a:spcPts val="0"/>
              </a:spcAft>
              <a:buNone/>
            </a:pPr>
            <a:r>
              <a:rPr lang="en-US" sz="1600" b="0" i="0" dirty="0">
                <a:solidFill>
                  <a:srgbClr val="4A4A4A"/>
                </a:solidFill>
                <a:latin typeface="Times New Roman"/>
                <a:cs typeface="Times New Roman"/>
              </a:rPr>
              <a:t>One test year (2020, weeks 3 to 50), a low-incidence one; no gain in Zamboanga. It shows predictive contribution, not causality.</a:t>
            </a:r>
          </a:p>
        </p:txBody>
      </p:sp>
    </p:spTree>
    <p:extLst>
      <p:ext uri="{BB962C8B-B14F-4D97-AF65-F5344CB8AC3E}">
        <p14:creationId xmlns:p14="http://schemas.microsoft.com/office/powerpoint/2010/main" val="7950503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Title"/>
          <p:cNvSpPr txBox="1"/>
          <p:nvPr/>
        </p:nvSpPr>
        <p:spPr>
          <a:xfrm>
            <a:off x="1500000" y="540000"/>
            <a:ext cx="8800000" cy="900000"/>
          </a:xfrm>
          <a:prstGeom prst="rect">
            <a:avLst/>
          </a:prstGeom>
          <a:noFill/>
        </p:spPr>
        <p:txBody>
          <a:bodyPr wrap="square" lIns="0" tIns="0" rIns="0" bIns="0" anchor="b">
            <a:spAutoFit/>
          </a:bodyPr>
          <a:lstStyle/>
          <a:p>
            <a:pPr algn="l">
              <a:spcAft>
                <a:spcPts val="0"/>
              </a:spcAft>
            </a:pPr>
            <a:r>
              <a:rPr sz="2800" b="1" i="0">
                <a:solidFill>
                  <a:srgbClr val="1A1A1A"/>
                </a:solidFill>
                <a:latin typeface="Times New Roman"/>
              </a:rPr>
              <a:t>Recommendations</a:t>
            </a:r>
          </a:p>
        </p:txBody>
      </p:sp>
      <p:sp>
        <p:nvSpPr>
          <p:cNvPr id="7" name="Recommendation box"/>
          <p:cNvSpPr/>
          <p:nvPr/>
        </p:nvSpPr>
        <p:spPr>
          <a:xfrm>
            <a:off x="1500000" y="1900000"/>
            <a:ext cx="8800000" cy="370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00000" y="2100000"/>
            <a:ext cx="8200000" cy="3300000"/>
          </a:xfrm>
          <a:prstGeom prst="rect">
            <a:avLst/>
          </a:prstGeom>
          <a:noFill/>
        </p:spPr>
        <p:txBody>
          <a:bodyPr wrap="square" lIns="0" tIns="0" rIns="0" bIns="0" anchor="ctr">
            <a:spAutoFit/>
          </a:bodyPr>
          <a:lstStyle/>
          <a:p>
            <a:pPr algn="l">
              <a:spcAft>
                <a:spcPts val="0"/>
              </a:spcAft>
            </a:pPr>
            <a:r>
              <a:rPr sz="2800" b="1" i="0">
                <a:solidFill>
                  <a:srgbClr val="2F5597"/>
                </a:solidFill>
                <a:latin typeface="Times New Roman"/>
              </a:rPr>
              <a:t>Keep persistence as the benchmark every forecast must beat, </a:t>
            </a:r>
            <a:r>
              <a:rPr sz="2800" b="0" i="0">
                <a:solidFill>
                  <a:srgbClr val="1A1A1A"/>
                </a:solidFill>
                <a:latin typeface="Times New Roman"/>
              </a:rPr>
              <a:t>use the persistence-anchored XGBoost with weather as a modest upgrade where cases are active, and re-test on more years, including outbreak years.</a:t>
            </a:r>
          </a:p>
        </p:txBody>
      </p:sp>
    </p:spTree>
    <p:extLst>
      <p:ext uri="{BB962C8B-B14F-4D97-AF65-F5344CB8AC3E}">
        <p14:creationId xmlns:p14="http://schemas.microsoft.com/office/powerpoint/2010/main" val="7717427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EA01A-C30D-4D8A-B620-C9997C40D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7463CE2-3F74-4839-91DB-47F0858E8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Slide Title"/>
          <p:cNvSpPr txBox="1"/>
          <p:nvPr/>
        </p:nvSpPr>
        <p:spPr>
          <a:xfrm>
            <a:off x="1500000" y="1009113"/>
            <a:ext cx="8800000" cy="430887"/>
          </a:xfrm>
          <a:prstGeom prst="rect">
            <a:avLst/>
          </a:prstGeom>
          <a:noFill/>
        </p:spPr>
        <p:txBody>
          <a:bodyPr wrap="square" lIns="0" tIns="0" rIns="0" bIns="0" anchor="b">
            <a:spAutoFit/>
          </a:bodyPr>
          <a:lstStyle/>
          <a:p>
            <a:pPr algn="l">
              <a:spcAft>
                <a:spcPts val="0"/>
              </a:spcAft>
            </a:pPr>
            <a:r>
              <a:rPr sz="2800" b="1" i="0">
                <a:solidFill>
                  <a:srgbClr val="1A1A1A"/>
                </a:solidFill>
                <a:latin typeface="Times New Roman" panose="02020603050405020304" pitchFamily="18" charset="0"/>
                <a:cs typeface="Times New Roman" panose="02020603050405020304" pitchFamily="18" charset="0"/>
              </a:rPr>
              <a:t>Author/s Contact Details</a:t>
            </a:r>
          </a:p>
        </p:txBody>
      </p:sp>
      <p:sp>
        <p:nvSpPr>
          <p:cNvPr id="7" name="Rounded Rectangle 6"/>
          <p:cNvSpPr/>
          <p:nvPr/>
        </p:nvSpPr>
        <p:spPr>
          <a:xfrm>
            <a:off x="1500000" y="1950000"/>
            <a:ext cx="4350000" cy="22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Rounded Rectangle 7"/>
          <p:cNvSpPr/>
          <p:nvPr/>
        </p:nvSpPr>
        <p:spPr>
          <a:xfrm>
            <a:off x="1630000" y="2080000"/>
            <a:ext cx="1500000" cy="340000"/>
          </a:xfrm>
          <a:prstGeom prst="roundRect">
            <a:avLst>
              <a:gd name="adj" fmla="val 50000"/>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panose="02020603050405020304" pitchFamily="18" charset="0"/>
                <a:cs typeface="Times New Roman" panose="02020603050405020304" pitchFamily="18" charset="0"/>
              </a:rPr>
              <a:t>Author 1</a:t>
            </a:r>
          </a:p>
        </p:txBody>
      </p:sp>
      <p:sp>
        <p:nvSpPr>
          <p:cNvPr id="9" name="TextBox 8"/>
          <p:cNvSpPr txBox="1"/>
          <p:nvPr/>
        </p:nvSpPr>
        <p:spPr>
          <a:xfrm>
            <a:off x="1630000" y="2650000"/>
            <a:ext cx="4090000" cy="307777"/>
          </a:xfrm>
          <a:prstGeom prst="rect">
            <a:avLst/>
          </a:prstGeom>
          <a:noFill/>
        </p:spPr>
        <p:txBody>
          <a:bodyPr wrap="square" lIns="0" tIns="0" rIns="0" bIns="0" anchor="t">
            <a:spAutoFit/>
          </a:bodyPr>
          <a:lstStyle/>
          <a:p>
            <a:pPr algn="l">
              <a:spcAft>
                <a:spcPts val="0"/>
              </a:spcAft>
            </a:pPr>
            <a:r>
              <a:rPr sz="2000" b="1" i="0" dirty="0">
                <a:solidFill>
                  <a:srgbClr val="1A1A1A"/>
                </a:solidFill>
                <a:latin typeface="Times New Roman" panose="02020603050405020304" pitchFamily="18" charset="0"/>
                <a:cs typeface="Times New Roman" panose="02020603050405020304" pitchFamily="18" charset="0"/>
              </a:rPr>
              <a:t>Kris Ian B. Bandiola</a:t>
            </a:r>
          </a:p>
        </p:txBody>
      </p:sp>
      <p:sp>
        <p:nvSpPr>
          <p:cNvPr id="10" name="TextBox 9"/>
          <p:cNvSpPr txBox="1"/>
          <p:nvPr/>
        </p:nvSpPr>
        <p:spPr>
          <a:xfrm>
            <a:off x="1630000" y="3150000"/>
            <a:ext cx="4090000" cy="738664"/>
          </a:xfrm>
          <a:prstGeom prst="rect">
            <a:avLst/>
          </a:prstGeom>
          <a:noFill/>
        </p:spPr>
        <p:txBody>
          <a:bodyPr wrap="square" lIns="0" tIns="0" rIns="0" bIns="0" anchor="t">
            <a:spAutoFit/>
          </a:bodyPr>
          <a:lstStyle/>
          <a:p>
            <a:pPr algn="l">
              <a:spcAft>
                <a:spcPts val="0"/>
              </a:spcAft>
            </a:pPr>
            <a:r>
              <a:rPr sz="1600" b="0" i="0" dirty="0">
                <a:solidFill>
                  <a:srgbClr val="4A4A4A"/>
                </a:solidFill>
                <a:latin typeface="Times New Roman" panose="02020603050405020304" pitchFamily="18" charset="0"/>
                <a:cs typeface="Times New Roman" panose="02020603050405020304" pitchFamily="18" charset="0"/>
              </a:rPr>
              <a:t>BS Computer Science</a:t>
            </a:r>
          </a:p>
          <a:p>
            <a:pPr algn="l">
              <a:spcAft>
                <a:spcPts val="0"/>
              </a:spcAft>
            </a:pPr>
            <a:r>
              <a:rPr sz="1600" b="0" i="0" dirty="0">
                <a:solidFill>
                  <a:srgbClr val="4A4A4A"/>
                </a:solidFill>
                <a:latin typeface="Times New Roman" panose="02020603050405020304" pitchFamily="18" charset="0"/>
                <a:cs typeface="Times New Roman" panose="02020603050405020304" pitchFamily="18" charset="0"/>
              </a:rPr>
              <a:t>Department of Computer Science,</a:t>
            </a:r>
          </a:p>
          <a:p>
            <a:pPr algn="l">
              <a:spcAft>
                <a:spcPts val="0"/>
              </a:spcAft>
            </a:pPr>
            <a:r>
              <a:rPr sz="1600" b="0" i="0" dirty="0">
                <a:solidFill>
                  <a:srgbClr val="4A4A4A"/>
                </a:solidFill>
                <a:latin typeface="Times New Roman" panose="02020603050405020304" pitchFamily="18" charset="0"/>
                <a:cs typeface="Times New Roman" panose="02020603050405020304" pitchFamily="18" charset="0"/>
              </a:rPr>
              <a:t>South Philippines Adventist College</a:t>
            </a:r>
          </a:p>
        </p:txBody>
      </p:sp>
      <p:sp>
        <p:nvSpPr>
          <p:cNvPr id="11" name="Rounded Rectangle 10"/>
          <p:cNvSpPr/>
          <p:nvPr/>
        </p:nvSpPr>
        <p:spPr>
          <a:xfrm>
            <a:off x="5950000" y="1950000"/>
            <a:ext cx="4350000" cy="2250000"/>
          </a:xfrm>
          <a:prstGeom prst="roundRect">
            <a:avLst>
              <a:gd name="adj" fmla="val 6000"/>
            </a:avLst>
          </a:prstGeom>
          <a:solidFill>
            <a:srgbClr val="FFFFFF"/>
          </a:solidFill>
          <a:ln w="12700">
            <a:solidFill>
              <a:srgbClr val="E6D8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Rounded Rectangle 11"/>
          <p:cNvSpPr/>
          <p:nvPr/>
        </p:nvSpPr>
        <p:spPr>
          <a:xfrm>
            <a:off x="6080000" y="2080000"/>
            <a:ext cx="1500000" cy="3400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0" rIns="60000" bIns="0" rtlCol="0" anchor="ctr"/>
          <a:lstStyle/>
          <a:p>
            <a:pPr algn="ctr"/>
            <a:r>
              <a:rPr sz="1400" b="1">
                <a:solidFill>
                  <a:srgbClr val="FFFFFF"/>
                </a:solidFill>
                <a:latin typeface="Times New Roman" panose="02020603050405020304" pitchFamily="18" charset="0"/>
                <a:cs typeface="Times New Roman" panose="02020603050405020304" pitchFamily="18" charset="0"/>
              </a:rPr>
              <a:t>Author 2</a:t>
            </a:r>
          </a:p>
        </p:txBody>
      </p:sp>
      <p:sp>
        <p:nvSpPr>
          <p:cNvPr id="13" name="TextBox 12"/>
          <p:cNvSpPr txBox="1"/>
          <p:nvPr/>
        </p:nvSpPr>
        <p:spPr>
          <a:xfrm>
            <a:off x="6080000" y="2650000"/>
            <a:ext cx="4090000" cy="307777"/>
          </a:xfrm>
          <a:prstGeom prst="rect">
            <a:avLst/>
          </a:prstGeom>
          <a:noFill/>
        </p:spPr>
        <p:txBody>
          <a:bodyPr wrap="square" lIns="0" tIns="0" rIns="0" bIns="0" anchor="t">
            <a:spAutoFit/>
          </a:bodyPr>
          <a:lstStyle/>
          <a:p>
            <a:pPr algn="l">
              <a:spcAft>
                <a:spcPts val="0"/>
              </a:spcAft>
            </a:pPr>
            <a:r>
              <a:rPr sz="2000" b="1" i="0">
                <a:solidFill>
                  <a:srgbClr val="1A1A1A"/>
                </a:solidFill>
                <a:latin typeface="Times New Roman" panose="02020603050405020304" pitchFamily="18" charset="0"/>
                <a:cs typeface="Times New Roman" panose="02020603050405020304" pitchFamily="18" charset="0"/>
              </a:rPr>
              <a:t>Axel A. Balani</a:t>
            </a:r>
          </a:p>
        </p:txBody>
      </p:sp>
      <p:sp>
        <p:nvSpPr>
          <p:cNvPr id="14" name="TextBox 13"/>
          <p:cNvSpPr txBox="1"/>
          <p:nvPr/>
        </p:nvSpPr>
        <p:spPr>
          <a:xfrm>
            <a:off x="6080000" y="3150000"/>
            <a:ext cx="4090000" cy="738664"/>
          </a:xfrm>
          <a:prstGeom prst="rect">
            <a:avLst/>
          </a:prstGeom>
          <a:noFill/>
        </p:spPr>
        <p:txBody>
          <a:bodyPr wrap="square" lIns="0" tIns="0" rIns="0" bIns="0" anchor="t">
            <a:spAutoFit/>
          </a:bodyPr>
          <a:lstStyle/>
          <a:p>
            <a:pPr algn="l">
              <a:spcAft>
                <a:spcPts val="0"/>
              </a:spcAft>
            </a:pPr>
            <a:r>
              <a:rPr sz="1600" b="0" i="0">
                <a:solidFill>
                  <a:srgbClr val="4A4A4A"/>
                </a:solidFill>
                <a:latin typeface="Times New Roman" panose="02020603050405020304" pitchFamily="18" charset="0"/>
                <a:cs typeface="Times New Roman" panose="02020603050405020304" pitchFamily="18" charset="0"/>
              </a:rPr>
              <a:t>BS Computer Science</a:t>
            </a:r>
          </a:p>
          <a:p>
            <a:pPr algn="l">
              <a:spcAft>
                <a:spcPts val="0"/>
              </a:spcAft>
            </a:pPr>
            <a:r>
              <a:rPr sz="1600" b="0" i="0">
                <a:solidFill>
                  <a:srgbClr val="4A4A4A"/>
                </a:solidFill>
                <a:latin typeface="Times New Roman" panose="02020603050405020304" pitchFamily="18" charset="0"/>
                <a:cs typeface="Times New Roman" panose="02020603050405020304" pitchFamily="18" charset="0"/>
              </a:rPr>
              <a:t>Department of Computer Science,</a:t>
            </a:r>
          </a:p>
          <a:p>
            <a:pPr algn="l">
              <a:spcAft>
                <a:spcPts val="0"/>
              </a:spcAft>
            </a:pPr>
            <a:r>
              <a:rPr sz="1600" b="0" i="0">
                <a:solidFill>
                  <a:srgbClr val="4A4A4A"/>
                </a:solidFill>
                <a:latin typeface="Times New Roman" panose="02020603050405020304" pitchFamily="18" charset="0"/>
                <a:cs typeface="Times New Roman" panose="02020603050405020304" pitchFamily="18" charset="0"/>
              </a:rPr>
              <a:t>South Philippines Adventist College</a:t>
            </a:r>
          </a:p>
        </p:txBody>
      </p:sp>
    </p:spTree>
    <p:extLst>
      <p:ext uri="{BB962C8B-B14F-4D97-AF65-F5344CB8AC3E}">
        <p14:creationId xmlns:p14="http://schemas.microsoft.com/office/powerpoint/2010/main" val="5127919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1867</TotalTime>
  <Words>3923</Words>
  <Application>Microsoft Office PowerPoint</Application>
  <PresentationFormat>Widescreen</PresentationFormat>
  <Paragraphs>491</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Calibri Light</vt:lpstr>
      <vt:lpstr>Times New Roman</vt:lpstr>
      <vt:lpstr>Office Theme</vt:lpstr>
      <vt:lpstr>Forecasting Weekly Dengue Cases in Mindanao Cities Using Machine Learning and Lagged Meteorological Features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Gen Sulite</dc:creator>
  <cp:lastModifiedBy>Kris Ian Bandiola</cp:lastModifiedBy>
  <cp:revision>35</cp:revision>
  <dcterms:created xsi:type="dcterms:W3CDTF">2026-10-06T03:10:15Z</dcterms:created>
  <dcterms:modified xsi:type="dcterms:W3CDTF">2026-10-12T19:05:35Z</dcterms:modified>
</cp:coreProperties>
</file>